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C3A2"/>
                </a:solidFill>
                <a:latin typeface="Calibri"/>
              </a:rPr>
              <a:t>AMERICAN EXPRESS CODESTREET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9BC"/>
                </a:solidFill>
                <a:latin typeface="Calibri"/>
              </a:rPr>
              <a:t>Governance Layer for Financial Agents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F7FA"/>
                </a:solidFill>
                <a:latin typeface="Georgia"/>
              </a:rPr>
              <a:t>AegisAgent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7C3A2"/>
                </a:solidFill>
                <a:latin typeface="Calibri"/>
              </a:rPr>
              <a:t>Real-Time Governance &amp; Kill-Switch Infrastructure</a:t>
            </a:r>
          </a:p>
          <a:p>
            <a:pPr algn="l"/>
            <a:r>
              <a:rPr sz="1700" b="0" i="1">
                <a:solidFill>
                  <a:srgbClr val="17C3A2"/>
                </a:solidFill>
                <a:latin typeface="Calibri"/>
              </a:rPr>
              <a:t>for Autonomous Financial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7C3A2"/>
                </a:solidFill>
                <a:latin typeface="Georgia"/>
              </a:rPr>
              <a:t>&lt; 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Policy + budget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7C3A2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Actions mediated — no side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7C3A2"/>
                </a:solidFill>
                <a:latin typeface="Georgia"/>
              </a:rPr>
              <a:t>1 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Fleet-wide emergency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Team [Team Name] • 3 Developers • Round 1 — Idea &amp; Architecture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Autonomous Agents Are Coming to Banking.</a:t>
            </a:r>
          </a:p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Governance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9BC"/>
                </a:solidFill>
                <a:latin typeface="Calibri"/>
              </a:rPr>
              <a:t>Every agent challenge in this hackathon — dispute resolution, servicing, travel rebooking, benefit activation — shares one dependency nobody is building: a layer that scopes what an agent can do, enforces what it can spend, and can shut it off the instant something goes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F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No Kill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A misbehaving agent keeps running until someone finds and manually stops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2004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3474720"/>
            <a:ext cx="502920" cy="502920"/>
          </a:xfrm>
          <a:prstGeom prst="ellipse">
            <a:avLst/>
          </a:prstGeom>
          <a:solidFill>
            <a:srgbClr val="F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No Spend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617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Nothing stops an agent from executing a transaction outside its intended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004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F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No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17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Decisions aren't logged in a way that survives regulatory or forensic scrutiny.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2004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98280" y="3474720"/>
            <a:ext cx="502920" cy="502920"/>
          </a:xfrm>
          <a:prstGeom prst="ellipse">
            <a:avLst/>
          </a:prstGeom>
          <a:solidFill>
            <a:srgbClr val="F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No Identity Scoping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617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Agents inherit broad access instead of a minimal, purpose-built permission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Calibri"/>
              </a:rPr>
              <a:t>AegisAgent: The Mandatory Gateway Every</a:t>
            </a:r>
          </a:p>
          <a:p>
            <a:pPr algn="l"/>
            <a:r>
              <a:rPr sz="2700" b="1" i="0">
                <a:solidFill>
                  <a:srgbClr val="F5F7FA"/>
                </a:solidFill>
                <a:latin typeface="Calibri"/>
              </a:rPr>
              <a:t>Agent Action Must Pass 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2606040"/>
            <a:ext cx="548640" cy="5486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7FA"/>
                </a:solidFill>
                <a:latin typeface="Calibri"/>
              </a:rPr>
              <a:t>Enforce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Every action is checked against explicit permissions (RBAC) and a live spend budget before it can execute — nothing is allowed by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2606040"/>
            <a:ext cx="548640" cy="5486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7FA"/>
                </a:solidFill>
                <a:latin typeface="Calibri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A single operator control can revoke one agent or halt the entire fleet instantly, mid-action, with no polling delay.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2860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606040"/>
            <a:ext cx="548640" cy="5486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37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F7FA"/>
                </a:solidFill>
                <a:latin typeface="Calibri"/>
              </a:rPr>
              <a:t>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9BC"/>
                </a:solidFill>
                <a:latin typeface="Calibri"/>
              </a:rPr>
              <a:t>Every allow/deny decision is written to a hash-chained, tamper-evident ledger and streamed live to an operator console.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7C3A2"/>
                </a:solidFill>
                <a:latin typeface="Calibri"/>
              </a:rPr>
              <a:t>Agents never call a banking API directly — every request is physically routed through Aegis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No Side Door to a Banking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128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NEAR AI Agent 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Attested LLM inference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Aegis Gateway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Mandatory interceptor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OPA +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Policy &amp; budget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423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0312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22128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Banking Execution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Allowed actions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C3A2"/>
                </a:solidFill>
                <a:latin typeface="Calibri"/>
              </a:rPr>
              <a:t>EVERY OUTCOME, HANDLED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Audit Ledger + Console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Every allow/deny decision, streamed live and hash-chained for compliance.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8620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Blocked +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Denied requests return a policy reason to the agent and are logged all the same.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88620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Emergency 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An operator can halt a single agent or the whole fleet at any node, any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7C3A2"/>
                </a:solidFill>
                <a:latin typeface="Calibri"/>
              </a:rPr>
              <a:t>Every enforcement decision is dual-checked — a role-based policy evaluation (OPA) and an atomic budget check (Redis) — before an action ever reaches the bank.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Permissions &amp; Dynamic Budgeting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5F7FA"/>
                </a:solidFill>
                <a:latin typeface="Calibri"/>
              </a:rPr>
              <a:t>Granular Role-Based Permissioning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Each agent is issued a scoped identity — role plus, in production, attributes such as risk tier and jurisdiction. Rego policies in OPA evaluate every action request in real time. Nothing is permitted by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package aegis.authz</a:t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default allow := false</a:t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allow if {</a:t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    input.action in</a:t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      data.permissions[input.agent.role]</a:t>
            </a:r>
          </a:p>
          <a:p>
            <a:pPr algn="l"/>
            <a:r>
              <a:rPr sz="1000" b="0" i="0">
                <a:solidFill>
                  <a:srgbClr val="17C3A2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0312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5F7FA"/>
                </a:solidFill>
                <a:latin typeface="Calibri"/>
              </a:rPr>
              <a:t>Dynamic Spend Cap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Redis maintains live counters per agent using atomic INCRBYFLOAT and Lua scripting — concurrent requests can never race past a limit. Caps are hot-reloadable: an operator tightens a budget mid-session with no agent restart.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913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7FA"/>
                </a:solidFill>
                <a:latin typeface="Calibri"/>
              </a:rPr>
              <a:t>Wealth Advisory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13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7C3A2"/>
                </a:solidFill>
                <a:latin typeface="Calibri"/>
              </a:rPr>
              <a:t>$4,200 / $10,000 daily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60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5994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7FA"/>
                </a:solidFill>
                <a:latin typeface="Calibri"/>
              </a:rPr>
              <a:t>High-Frequency Trader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599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7C3A2"/>
                </a:solidFill>
                <a:latin typeface="Calibri"/>
              </a:rPr>
              <a:t>$18,900 / $25,000 daily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166360"/>
            <a:ext cx="484632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285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7FA"/>
                </a:solidFill>
                <a:latin typeface="Calibri"/>
              </a:rPr>
              <a:t>Rogue / Anomaly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46A6A"/>
                </a:solidFill>
                <a:latin typeface="Calibri"/>
              </a:rPr>
              <a:t>BLOCKED — cap exceeded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Permissions &amp; Budgeting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One Click. Every Agent. Zero Delay.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2926080" cy="2926080"/>
          </a:xfrm>
          <a:prstGeom prst="ellipse">
            <a:avLst/>
          </a:prstGeom>
          <a:solidFill>
            <a:srgbClr val="3A141C"/>
          </a:solidFill>
          <a:ln w="25400">
            <a:solidFill>
              <a:srgbClr val="F4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2011680" cy="2011680"/>
          </a:xfrm>
          <a:prstGeom prst="ellipse">
            <a:avLst/>
          </a:prstGeom>
          <a:solidFill>
            <a:srgbClr val="F4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1220"/>
                </a:solidFill>
              </a:rPr>
              <a:t>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6A6A"/>
                </a:solidFill>
                <a:latin typeface="Calibri"/>
              </a:rPr>
              <a:t>EMERGENCY STOP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240279"/>
            <a:ext cx="320040" cy="3200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19456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9BC"/>
                </a:solidFill>
                <a:latin typeface="Calibri"/>
              </a:rPr>
              <a:t>Single-agent revocation or fleet-wide halt from one control — no per-agent shutdown script.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3200400"/>
            <a:ext cx="320040" cy="3200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15468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9BC"/>
                </a:solidFill>
                <a:latin typeface="Calibri"/>
              </a:rPr>
              <a:t>WebSocket control channel backed by Redis Pub/Sub broadcasts the signal to every open connection simultaneously.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0" y="4160520"/>
            <a:ext cx="320040" cy="3200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11480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9BC"/>
                </a:solidFill>
                <a:latin typeface="Calibri"/>
              </a:rPr>
              <a:t>Enforced at the Aegis Gateway itself — a revoked agent's next request is denied before it reaches any banking API.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0" y="5120640"/>
            <a:ext cx="320040" cy="32004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507492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9BC"/>
                </a:solidFill>
                <a:latin typeface="Calibri"/>
              </a:rPr>
              <a:t>No polling delay: agents don't need to “check in” to learn they've been stopped.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Kill Switch &amp; Revocation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Calibri"/>
              </a:rPr>
              <a:t>Verifiable Execution: Agents That Cannot</a:t>
            </a:r>
          </a:p>
          <a:p>
            <a:pPr algn="l"/>
            <a:r>
              <a:rPr sz="2700" b="1" i="0">
                <a:solidFill>
                  <a:srgbClr val="F5F7FA"/>
                </a:solidFill>
                <a:latin typeface="Calibri"/>
              </a:rPr>
              <a:t>Lie About What They Did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NEAR AI Cloud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•  Agents' LLM reasoning calls run through NEAR AI Cloud, hosted inside Intel TDX confidential VMs + NVIDIA GPU TEE — hardware-secured, encrypted enclaves.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•  Every inference call returns a hardware-signed attestation report, independently verifiable against NVIDIA and Intel's own attestation services — no vendor claim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•  Model weights and inference data stay hidden from host operators inside the enclave — confirmed directly in NEAR AI's own technical docs.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Why This Matters for Aegis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The Aegis Gateway is the only path to a banking API — but that claim is only as strong as the proof behind it. Our agents' reasoning calls carry a real, checkable TEE attestation; the orchestration layer is secured by Aegis's own credentialing instead, since agent-runtime TEE hosting isn't a documented NEAR AI product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3484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4480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C3A2"/>
                </a:solidFill>
                <a:latin typeface="Calibri"/>
              </a:rPr>
              <a:t>Result: the reasoning layer is independently verifiable and the orchestration layer is enforced by Aegis's own credentialing — we can show a judge exactly which is which, instead of blurring the two like most “runs in a TEE” claims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NEAR 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Calibri"/>
              </a:rPr>
              <a:t>Every Decision, Streamed Live and Chained Forever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577840" cy="37947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Calibri"/>
              </a:rPr>
              <a:t>Live Decision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0779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C3A2"/>
                </a:solidFill>
                <a:latin typeface="Calibri"/>
              </a:rPr>
              <a:t>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077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7FA"/>
                </a:solidFill>
                <a:latin typeface="Calibri"/>
              </a:rPr>
              <a:t>wealth-advisory-01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90779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9BC"/>
                </a:solidFill>
                <a:latin typeface="Calibri"/>
              </a:rPr>
              <a:t>rebalance_portfolio $1,240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47287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C3A2"/>
                </a:solidFill>
                <a:latin typeface="Calibri"/>
              </a:rPr>
              <a:t>ALLOW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566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7FA"/>
                </a:solidFill>
                <a:latin typeface="Calibri"/>
              </a:rPr>
              <a:t>hft-agent-04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661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9BC"/>
                </a:solidFill>
                <a:latin typeface="Calibri"/>
              </a:rPr>
              <a:t>execute_trade $860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05655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2452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6A6A"/>
                </a:solidFill>
                <a:latin typeface="Calibri"/>
              </a:rPr>
              <a:t>DENY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245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7FA"/>
                </a:solidFill>
                <a:latin typeface="Calibri"/>
              </a:rPr>
              <a:t>rogue-agent-99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2452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9BC"/>
                </a:solidFill>
                <a:latin typeface="Calibri"/>
              </a:rPr>
              <a:t>transfer_funds — exceeds daily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64023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82895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6A6A"/>
                </a:solidFill>
                <a:latin typeface="Calibri"/>
              </a:rPr>
              <a:t>DENY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8828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7FA"/>
                </a:solidFill>
                <a:latin typeface="Calibri"/>
              </a:rPr>
              <a:t>rogue-agent-99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88289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9BC"/>
                </a:solidFill>
                <a:latin typeface="Calibri"/>
              </a:rPr>
              <a:t>fetch_account_data — scope violation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22391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41263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C3A2"/>
                </a:solidFill>
                <a:latin typeface="Calibri"/>
              </a:rPr>
              <a:t>ALLOW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5412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7FA"/>
                </a:solidFill>
                <a:latin typeface="Calibri"/>
              </a:rPr>
              <a:t>wealth-advisory-01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54126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9BC"/>
                </a:solidFill>
                <a:latin typeface="Calibri"/>
              </a:rPr>
              <a:t>rebalance_portfolio $2,015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4884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Calibri"/>
              </a:rPr>
              <a:t>Hash-Chained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9BC"/>
                </a:solidFill>
                <a:latin typeface="Calibri"/>
              </a:rPr>
              <a:t>Each PostgreSQL entry stores the hash of the prior entry. Any retroactive edit breaks the chain and is instantly detectable.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3657600"/>
            <a:ext cx="96012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7947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C3A2"/>
                </a:solidFill>
                <a:latin typeface="Calibri"/>
              </a:rPr>
              <a:t>#1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794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657600"/>
            <a:ext cx="96012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37947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C3A2"/>
                </a:solidFill>
                <a:latin typeface="Calibri"/>
              </a:rPr>
              <a:t>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794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657600"/>
            <a:ext cx="96012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7947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C3A2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794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7C3A2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3657600"/>
            <a:ext cx="96012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37947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C3A2"/>
                </a:solidFill>
                <a:latin typeface="Calibri"/>
              </a:rPr>
              <a:t>#4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9BC"/>
                </a:solidFill>
                <a:latin typeface="Calibri"/>
              </a:rPr>
              <a:t>Client-measured round-trip latency ships today; a Prometheus + Grafana / Splunk-compatible telemetry stream streaming server-side latency, throughput, and policy-violation metrics is planned for Round 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Telemetry &amp;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Calibri"/>
              </a:rPr>
              <a:t>Three Builders, Two Rounds, One Working Kill Switch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C3A2"/>
                </a:solidFill>
                <a:latin typeface="Calibri"/>
              </a:rPr>
              <a:t>Member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Backend, Safety Middleware &amp; Policy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Aegis Gateway proxy, OPA/Rego policies, Redis spend-cap engine, WebSocket kill-switch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C3A2"/>
                </a:solidFill>
                <a:latin typeface="Calibri"/>
              </a:rPr>
              <a:t>Member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42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Decentralized AI Integration &amp; Fleet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1546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3 agents' reasoning calls wired to NEAR AI Cloud's attested inference API; orchestration layer clearly labeled where mocked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0312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C3A2"/>
                </a:solidFill>
                <a:latin typeface="Calibri"/>
              </a:rPr>
              <a:t>Member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542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Calibri"/>
              </a:rPr>
              <a:t>Frontend, Telemetry &amp; Audit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1546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9BC"/>
                </a:solidFill>
                <a:latin typeface="Calibri"/>
              </a:rPr>
              <a:t>Operator console, live decision feed, policy editor, kill-switch UI, latency dashboards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937760"/>
            <a:ext cx="10332720" cy="0"/>
          </a:xfrm>
          <a:prstGeom prst="line">
            <a:avLst/>
          </a:prstGeom>
          <a:ln w="1905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77240" y="4846320"/>
            <a:ext cx="182880" cy="18288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Jul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286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Kickoff &amp; 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4206240" y="4846320"/>
            <a:ext cx="182880" cy="18288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9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Jul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399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Round 1 Submission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4846320"/>
            <a:ext cx="182880" cy="18288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Aug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Prototype Sprint Begins</a:t>
            </a:r>
          </a:p>
        </p:txBody>
      </p:sp>
      <p:sp>
        <p:nvSpPr>
          <p:cNvPr id="27" name="Oval 26"/>
          <p:cNvSpPr/>
          <p:nvPr/>
        </p:nvSpPr>
        <p:spPr>
          <a:xfrm>
            <a:off x="11064240" y="4846320"/>
            <a:ext cx="182880" cy="18288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Calibri"/>
              </a:rPr>
              <a:t>Aug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Round 2 — Live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Team &amp;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ROUND 1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Calibri"/>
              </a:rPr>
              <a:t>Not Just a Slide Idea — Already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9BC"/>
                </a:solidFill>
                <a:latin typeface="Calibri"/>
              </a:rPr>
              <a:t>Round 1 doesn't require a working prototype. We built one anyway, and ran this exact five-step sequence twice from a clean boot — real screens below, not mockups.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3429000" cy="214884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normal-operation-wealth-hft-allow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13432"/>
            <a:ext cx="3282696" cy="1618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00507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C3A2"/>
                </a:solidFill>
                <a:latin typeface="Calibri"/>
              </a:rPr>
              <a:t>1 · Wealth Advisory + HFT executing allowed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240280"/>
            <a:ext cx="3429000" cy="214884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ogue-agent-den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313432"/>
            <a:ext cx="3282696" cy="1618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400507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C3A2"/>
                </a:solidFill>
                <a:latin typeface="Calibri"/>
              </a:rPr>
              <a:t>2 · Rogue agent DENY, live, with its policy 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240280"/>
            <a:ext cx="3429000" cy="214884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cap-tightened-next-request-deni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1" y="2313432"/>
            <a:ext cx="3282696" cy="1618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400507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C3A2"/>
                </a:solidFill>
                <a:latin typeface="Calibri"/>
              </a:rPr>
              <a:t>3 · Cap tightened mid-session — next request denied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709160"/>
            <a:ext cx="3429000" cy="214884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emergency-stop-all-agents-hal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4782312"/>
            <a:ext cx="3282696" cy="1618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23160" y="647395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C3A2"/>
                </a:solidFill>
                <a:latin typeface="Calibri"/>
              </a:rPr>
              <a:t>4 · Fleet-wide emergency stop — every agent halted at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709160"/>
            <a:ext cx="3429000" cy="214884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-audit-tamper-det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4782312"/>
            <a:ext cx="3282696" cy="1618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647395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7C3A2"/>
                </a:solidFill>
                <a:latin typeface="Calibri"/>
              </a:rPr>
              <a:t>5 · Audit tamper attempt caught by hash-chain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Round 1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C3A2"/>
                </a:solidFill>
                <a:latin typeface="Calibri"/>
              </a:rPr>
              <a:t>WHY AMEX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Calibri"/>
              </a:rPr>
              <a:t>The Layer That Makes Every Other Agent Safe to 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331720"/>
            <a:ext cx="502920" cy="50292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Systemic Risk Containment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One provable emergency stop across every deployed agent — closes the “who turns it off”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331720"/>
            <a:ext cx="502920" cy="50292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Audit-Ready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A cryptographically verifiable log of every autonomous financial decision, regulator-ready by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0" y="2331720"/>
            <a:ext cx="502920" cy="50292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Faster Agent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New agents (servicing, disputes, benefits) inherit permissioning, budgeting, and kill-switch for free.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031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19" y="2331720"/>
            <a:ext cx="502920" cy="502920"/>
          </a:xfrm>
          <a:prstGeom prst="ellipse">
            <a:avLst/>
          </a:prstGeom>
          <a:solidFill>
            <a:srgbClr val="17C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220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Calibri"/>
              </a:rPr>
              <a:t>Quantifiable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9BC"/>
                </a:solidFill>
                <a:latin typeface="Calibri"/>
              </a:rPr>
              <a:t>Dynamic spend caps turn “trust the model” into an enforced financial control Amex risk teams already speak.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12700">
            <a:solidFill>
              <a:srgbClr val="17C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7C3A2"/>
                </a:solidFill>
                <a:latin typeface="Calibri"/>
              </a:rPr>
              <a:t>AegisAgent doesn't compete with the other challenge tracks — it's the infrastructure every one of them needs before it can go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9BC"/>
                </a:solidFill>
                <a:latin typeface="Calibri"/>
              </a:rPr>
              <a:t>Business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9BC"/>
                </a:solidFill>
                <a:latin typeface="Calibri"/>
              </a:rPr>
              <a:t>AegisAgent — CodeStreet 2026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
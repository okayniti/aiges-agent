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2879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9265615" y="0"/>
            <a:ext cx="2926080" cy="109728"/>
          </a:xfrm>
          <a:prstGeom prst="rect">
            <a:avLst/>
          </a:prstGeom>
          <a:solidFill>
            <a:srgbClr val="2E6BF2"/>
          </a:solidFill>
          <a:ln/>
        </p:spPr>
      </p:sp>
      <p:sp>
        <p:nvSpPr>
          <p:cNvPr id="3" name="Text 1"/>
          <p:cNvSpPr/>
          <p:nvPr/>
        </p:nvSpPr>
        <p:spPr>
          <a:xfrm>
            <a:off x="548640" y="548640"/>
            <a:ext cx="8229600" cy="365760"/>
          </a:xfrm>
          <a:prstGeom prst="rect">
            <a:avLst/>
          </a:prstGeom>
          <a:noFill/>
          <a:ln/>
        </p:spPr>
        <p:txBody>
          <a:bodyPr wrap="square" lIns="0" tIns="0" rIns="0" bIns="0" rtlCol="0" anchor="ctr"/>
          <a:lstStyle/>
          <a:p>
            <a:pPr marL="0" indent="0">
              <a:buNone/>
            </a:pPr>
            <a:r>
              <a:rPr lang="en-US" sz="1300" b="1" kern="0" spc="250" dirty="0">
                <a:solidFill>
                  <a:srgbClr val="5B8DFF"/>
                </a:solidFill>
                <a:latin typeface="Calibri" pitchFamily="34" charset="0"/>
                <a:ea typeface="Calibri" pitchFamily="34" charset="-122"/>
                <a:cs typeface="Calibri" pitchFamily="34" charset="-120"/>
              </a:rPr>
              <a:t>AMERICAN EXPRESS CODESTREET 2026</a:t>
            </a:r>
            <a:endParaRPr lang="en-US" sz="1300" dirty="0"/>
          </a:p>
        </p:txBody>
      </p:sp>
      <p:sp>
        <p:nvSpPr>
          <p:cNvPr id="4" name="Text 2"/>
          <p:cNvSpPr/>
          <p:nvPr/>
        </p:nvSpPr>
        <p:spPr>
          <a:xfrm>
            <a:off x="548640" y="914400"/>
            <a:ext cx="8229600" cy="365760"/>
          </a:xfrm>
          <a:prstGeom prst="rect">
            <a:avLst/>
          </a:prstGeom>
          <a:noFill/>
          <a:ln/>
        </p:spPr>
        <p:txBody>
          <a:bodyPr wrap="square" lIns="0" tIns="0" rIns="0" bIns="0" rtlCol="0" anchor="ctr"/>
          <a:lstStyle/>
          <a:p>
            <a:pPr marL="0" indent="0">
              <a:buNone/>
            </a:pPr>
            <a:r>
              <a:rPr lang="en-US" sz="1300" i="1" dirty="0">
                <a:solidFill>
                  <a:srgbClr val="9AA6C9"/>
                </a:solidFill>
                <a:latin typeface="Calibri" pitchFamily="34" charset="0"/>
                <a:ea typeface="Calibri" pitchFamily="34" charset="-122"/>
                <a:cs typeface="Calibri" pitchFamily="34" charset="-120"/>
              </a:rPr>
              <a:t>Governance Layer for Financial Agents</a:t>
            </a:r>
            <a:endParaRPr lang="en-US" sz="1300" dirty="0"/>
          </a:p>
        </p:txBody>
      </p:sp>
      <p:sp>
        <p:nvSpPr>
          <p:cNvPr id="5" name="Text 3"/>
          <p:cNvSpPr/>
          <p:nvPr/>
        </p:nvSpPr>
        <p:spPr>
          <a:xfrm>
            <a:off x="530352" y="1874520"/>
            <a:ext cx="10058400" cy="1188720"/>
          </a:xfrm>
          <a:prstGeom prst="rect">
            <a:avLst/>
          </a:prstGeom>
          <a:noFill/>
          <a:ln/>
        </p:spPr>
        <p:txBody>
          <a:bodyPr wrap="square" lIns="0" tIns="0" rIns="0" bIns="0" rtlCol="0" anchor="ctr"/>
          <a:lstStyle/>
          <a:p>
            <a:pPr marL="0" indent="0">
              <a:buNone/>
            </a:pPr>
            <a:r>
              <a:rPr lang="en-US" sz="6800" b="1" dirty="0">
                <a:solidFill>
                  <a:srgbClr val="FFFFFF"/>
                </a:solidFill>
                <a:latin typeface="Calibri" pitchFamily="34" charset="0"/>
                <a:ea typeface="Calibri" pitchFamily="34" charset="-122"/>
                <a:cs typeface="Calibri" pitchFamily="34" charset="-120"/>
              </a:rPr>
              <a:t>Aegis Agent</a:t>
            </a:r>
            <a:endParaRPr lang="en-US" sz="6800" dirty="0"/>
          </a:p>
        </p:txBody>
      </p:sp>
      <p:sp>
        <p:nvSpPr>
          <p:cNvPr id="6" name="Text 4"/>
          <p:cNvSpPr/>
          <p:nvPr/>
        </p:nvSpPr>
        <p:spPr>
          <a:xfrm>
            <a:off x="548640" y="3063240"/>
            <a:ext cx="8778240" cy="822960"/>
          </a:xfrm>
          <a:prstGeom prst="rect">
            <a:avLst/>
          </a:prstGeom>
          <a:noFill/>
          <a:ln/>
        </p:spPr>
        <p:txBody>
          <a:bodyPr wrap="square" lIns="0" tIns="0" rIns="0" bIns="0" rtlCol="0" anchor="ctr"/>
          <a:lstStyle/>
          <a:p>
            <a:pPr marL="0" indent="0">
              <a:lnSpc>
                <a:spcPct val="115000"/>
              </a:lnSpc>
              <a:buNone/>
            </a:pPr>
            <a:r>
              <a:rPr lang="en-US" sz="1800" dirty="0">
                <a:solidFill>
                  <a:srgbClr val="CADCFC"/>
                </a:solidFill>
                <a:latin typeface="Calibri" pitchFamily="34" charset="0"/>
                <a:ea typeface="Calibri" pitchFamily="34" charset="-122"/>
                <a:cs typeface="Calibri" pitchFamily="34" charset="-120"/>
              </a:rPr>
              <a:t>Real-Time Governance &amp; Kill-Switch Infrastructure</a:t>
            </a:r>
            <a:endParaRPr lang="en-US" sz="1800" dirty="0"/>
          </a:p>
          <a:p>
            <a:pPr marL="0" indent="0">
              <a:lnSpc>
                <a:spcPct val="115000"/>
              </a:lnSpc>
              <a:buNone/>
            </a:pPr>
            <a:r>
              <a:rPr lang="en-US" sz="1800" dirty="0">
                <a:solidFill>
                  <a:srgbClr val="CADCFC"/>
                </a:solidFill>
                <a:latin typeface="Calibri" pitchFamily="34" charset="0"/>
                <a:ea typeface="Calibri" pitchFamily="34" charset="-122"/>
                <a:cs typeface="Calibri" pitchFamily="34" charset="-120"/>
              </a:rPr>
              <a:t>for Autonomous Financial Agents</a:t>
            </a:r>
            <a:endParaRPr lang="en-US" sz="1800" dirty="0"/>
          </a:p>
        </p:txBody>
      </p:sp>
      <p:sp>
        <p:nvSpPr>
          <p:cNvPr id="7" name="Text 5"/>
          <p:cNvSpPr/>
          <p:nvPr/>
        </p:nvSpPr>
        <p:spPr>
          <a:xfrm>
            <a:off x="548640" y="4160520"/>
            <a:ext cx="3429000" cy="640080"/>
          </a:xfrm>
          <a:prstGeom prst="rect">
            <a:avLst/>
          </a:prstGeom>
          <a:noFill/>
          <a:ln/>
        </p:spPr>
        <p:txBody>
          <a:bodyPr wrap="square" lIns="0" tIns="0" rIns="0" bIns="0" rtlCol="0" anchor="ctr"/>
          <a:lstStyle/>
          <a:p>
            <a:pPr marL="0" indent="0">
              <a:buNone/>
            </a:pPr>
            <a:r>
              <a:rPr lang="en-US" sz="3400" b="1" dirty="0">
                <a:solidFill>
                  <a:srgbClr val="5B8DFF"/>
                </a:solidFill>
                <a:latin typeface="Calibri" pitchFamily="34" charset="0"/>
                <a:ea typeface="Calibri" pitchFamily="34" charset="-122"/>
                <a:cs typeface="Calibri" pitchFamily="34" charset="-120"/>
              </a:rPr>
              <a:t>&lt; 10ms</a:t>
            </a:r>
            <a:endParaRPr lang="en-US" sz="3400" dirty="0"/>
          </a:p>
        </p:txBody>
      </p:sp>
      <p:sp>
        <p:nvSpPr>
          <p:cNvPr id="8" name="Text 6"/>
          <p:cNvSpPr/>
          <p:nvPr/>
        </p:nvSpPr>
        <p:spPr>
          <a:xfrm>
            <a:off x="548640" y="4773168"/>
            <a:ext cx="3429000" cy="548640"/>
          </a:xfrm>
          <a:prstGeom prst="rect">
            <a:avLst/>
          </a:prstGeom>
          <a:noFill/>
          <a:ln/>
        </p:spPr>
        <p:txBody>
          <a:bodyPr wrap="square" lIns="0" tIns="0" rIns="0" bIns="0" rtlCol="0" anchor="ctr"/>
          <a:lstStyle/>
          <a:p>
            <a:pPr marL="0" indent="0">
              <a:lnSpc>
                <a:spcPct val="110000"/>
              </a:lnSpc>
              <a:buNone/>
            </a:pPr>
            <a:r>
              <a:rPr lang="en-US" sz="1150" dirty="0">
                <a:solidFill>
                  <a:srgbClr val="9AA6C9"/>
                </a:solidFill>
                <a:latin typeface="Calibri" pitchFamily="34" charset="0"/>
                <a:ea typeface="Calibri" pitchFamily="34" charset="-122"/>
                <a:cs typeface="Calibri" pitchFamily="34" charset="-120"/>
              </a:rPr>
              <a:t>Policy + budget enforcement target</a:t>
            </a:r>
            <a:endParaRPr lang="en-US" sz="1150" dirty="0"/>
          </a:p>
        </p:txBody>
      </p:sp>
      <p:sp>
        <p:nvSpPr>
          <p:cNvPr id="9" name="Text 7"/>
          <p:cNvSpPr/>
          <p:nvPr/>
        </p:nvSpPr>
        <p:spPr>
          <a:xfrm>
            <a:off x="4251960" y="4160520"/>
            <a:ext cx="3429000" cy="640080"/>
          </a:xfrm>
          <a:prstGeom prst="rect">
            <a:avLst/>
          </a:prstGeom>
          <a:noFill/>
          <a:ln/>
        </p:spPr>
        <p:txBody>
          <a:bodyPr wrap="square" lIns="0" tIns="0" rIns="0" bIns="0" rtlCol="0" anchor="ctr"/>
          <a:lstStyle/>
          <a:p>
            <a:pPr marL="0" indent="0">
              <a:buNone/>
            </a:pPr>
            <a:r>
              <a:rPr lang="en-US" sz="3400" b="1" dirty="0">
                <a:solidFill>
                  <a:srgbClr val="5B8DFF"/>
                </a:solidFill>
                <a:latin typeface="Calibri" pitchFamily="34" charset="0"/>
                <a:ea typeface="Calibri" pitchFamily="34" charset="-122"/>
                <a:cs typeface="Calibri" pitchFamily="34" charset="-120"/>
              </a:rPr>
              <a:t>100%</a:t>
            </a:r>
            <a:endParaRPr lang="en-US" sz="3400" dirty="0"/>
          </a:p>
        </p:txBody>
      </p:sp>
      <p:sp>
        <p:nvSpPr>
          <p:cNvPr id="10" name="Text 8"/>
          <p:cNvSpPr/>
          <p:nvPr/>
        </p:nvSpPr>
        <p:spPr>
          <a:xfrm>
            <a:off x="4251960" y="4773168"/>
            <a:ext cx="3429000" cy="548640"/>
          </a:xfrm>
          <a:prstGeom prst="rect">
            <a:avLst/>
          </a:prstGeom>
          <a:noFill/>
          <a:ln/>
        </p:spPr>
        <p:txBody>
          <a:bodyPr wrap="square" lIns="0" tIns="0" rIns="0" bIns="0" rtlCol="0" anchor="ctr"/>
          <a:lstStyle/>
          <a:p>
            <a:pPr marL="0" indent="0">
              <a:lnSpc>
                <a:spcPct val="110000"/>
              </a:lnSpc>
              <a:buNone/>
            </a:pPr>
            <a:r>
              <a:rPr lang="en-US" sz="1150" dirty="0">
                <a:solidFill>
                  <a:srgbClr val="9AA6C9"/>
                </a:solidFill>
                <a:latin typeface="Calibri" pitchFamily="34" charset="0"/>
                <a:ea typeface="Calibri" pitchFamily="34" charset="-122"/>
                <a:cs typeface="Calibri" pitchFamily="34" charset="-120"/>
              </a:rPr>
              <a:t>Actions mediated — no side door</a:t>
            </a:r>
            <a:endParaRPr lang="en-US" sz="1150" dirty="0"/>
          </a:p>
        </p:txBody>
      </p:sp>
      <p:sp>
        <p:nvSpPr>
          <p:cNvPr id="11" name="Text 9"/>
          <p:cNvSpPr/>
          <p:nvPr/>
        </p:nvSpPr>
        <p:spPr>
          <a:xfrm>
            <a:off x="7955280" y="4160520"/>
            <a:ext cx="3429000" cy="640080"/>
          </a:xfrm>
          <a:prstGeom prst="rect">
            <a:avLst/>
          </a:prstGeom>
          <a:noFill/>
          <a:ln/>
        </p:spPr>
        <p:txBody>
          <a:bodyPr wrap="square" lIns="0" tIns="0" rIns="0" bIns="0" rtlCol="0" anchor="ctr"/>
          <a:lstStyle/>
          <a:p>
            <a:pPr marL="0" indent="0">
              <a:buNone/>
            </a:pPr>
            <a:r>
              <a:rPr lang="en-US" sz="3400" b="1" dirty="0">
                <a:solidFill>
                  <a:srgbClr val="5B8DFF"/>
                </a:solidFill>
                <a:latin typeface="Calibri" pitchFamily="34" charset="0"/>
                <a:ea typeface="Calibri" pitchFamily="34" charset="-122"/>
                <a:cs typeface="Calibri" pitchFamily="34" charset="-120"/>
              </a:rPr>
              <a:t>1 click</a:t>
            </a:r>
            <a:endParaRPr lang="en-US" sz="3400" dirty="0"/>
          </a:p>
        </p:txBody>
      </p:sp>
      <p:sp>
        <p:nvSpPr>
          <p:cNvPr id="12" name="Text 10"/>
          <p:cNvSpPr/>
          <p:nvPr/>
        </p:nvSpPr>
        <p:spPr>
          <a:xfrm>
            <a:off x="7955280" y="4773168"/>
            <a:ext cx="3429000" cy="548640"/>
          </a:xfrm>
          <a:prstGeom prst="rect">
            <a:avLst/>
          </a:prstGeom>
          <a:noFill/>
          <a:ln/>
        </p:spPr>
        <p:txBody>
          <a:bodyPr wrap="square" lIns="0" tIns="0" rIns="0" bIns="0" rtlCol="0" anchor="ctr"/>
          <a:lstStyle/>
          <a:p>
            <a:pPr marL="0" indent="0">
              <a:lnSpc>
                <a:spcPct val="110000"/>
              </a:lnSpc>
              <a:buNone/>
            </a:pPr>
            <a:r>
              <a:rPr lang="en-US" sz="1150" dirty="0">
                <a:solidFill>
                  <a:srgbClr val="9AA6C9"/>
                </a:solidFill>
                <a:latin typeface="Calibri" pitchFamily="34" charset="0"/>
                <a:ea typeface="Calibri" pitchFamily="34" charset="-122"/>
                <a:cs typeface="Calibri" pitchFamily="34" charset="-120"/>
              </a:rPr>
              <a:t>Fleet-wide emergency stop</a:t>
            </a:r>
            <a:endParaRPr lang="en-US" sz="1150" dirty="0"/>
          </a:p>
        </p:txBody>
      </p:sp>
      <p:sp>
        <p:nvSpPr>
          <p:cNvPr id="13" name="Shape 11"/>
          <p:cNvSpPr/>
          <p:nvPr/>
        </p:nvSpPr>
        <p:spPr>
          <a:xfrm>
            <a:off x="548640" y="4041648"/>
            <a:ext cx="11064240" cy="0"/>
          </a:xfrm>
          <a:prstGeom prst="line">
            <a:avLst/>
          </a:prstGeom>
          <a:noFill/>
          <a:ln w="12700">
            <a:solidFill>
              <a:srgbClr val="263569"/>
            </a:solidFill>
            <a:prstDash val="solid"/>
          </a:ln>
        </p:spPr>
      </p:sp>
      <p:sp>
        <p:nvSpPr>
          <p:cNvPr id="14" name="Shape 12"/>
          <p:cNvSpPr/>
          <p:nvPr/>
        </p:nvSpPr>
        <p:spPr>
          <a:xfrm>
            <a:off x="548640" y="5806440"/>
            <a:ext cx="11064240" cy="0"/>
          </a:xfrm>
          <a:prstGeom prst="line">
            <a:avLst/>
          </a:prstGeom>
          <a:noFill/>
          <a:ln w="12700">
            <a:solidFill>
              <a:srgbClr val="263569"/>
            </a:solidFill>
            <a:prstDash val="solid"/>
          </a:ln>
        </p:spPr>
      </p:sp>
      <p:sp>
        <p:nvSpPr>
          <p:cNvPr id="15" name="Text 13"/>
          <p:cNvSpPr/>
          <p:nvPr/>
        </p:nvSpPr>
        <p:spPr>
          <a:xfrm>
            <a:off x="548640" y="5943600"/>
            <a:ext cx="9780348" cy="3200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Team: The Three Stack  —  Dev Upadhyay (Team Lead) · Niti Kanoongo · Smit Shah</a:t>
            </a:r>
            <a:endParaRPr lang="en-US" sz="2000" dirty="0"/>
          </a:p>
        </p:txBody>
      </p:sp>
      <p:sp>
        <p:nvSpPr>
          <p:cNvPr id="16" name="Text 14"/>
          <p:cNvSpPr/>
          <p:nvPr/>
        </p:nvSpPr>
        <p:spPr>
          <a:xfrm>
            <a:off x="548640" y="6272784"/>
            <a:ext cx="9144000" cy="320040"/>
          </a:xfrm>
          <a:prstGeom prst="rect">
            <a:avLst/>
          </a:prstGeom>
          <a:noFill/>
          <a:ln/>
        </p:spPr>
        <p:txBody>
          <a:bodyPr wrap="square" lIns="0" tIns="0" rIns="0" bIns="0" rtlCol="0" anchor="ctr"/>
          <a:lstStyle/>
          <a:p>
            <a:pPr marL="0" indent="0">
              <a:buNone/>
            </a:pPr>
            <a:r>
              <a:rPr lang="en-US" sz="1100" dirty="0">
                <a:solidFill>
                  <a:srgbClr val="9AA6C9"/>
                </a:solidFill>
                <a:latin typeface="Calibri" pitchFamily="34" charset="0"/>
                <a:ea typeface="Calibri" pitchFamily="34" charset="-122"/>
                <a:cs typeface="Calibri" pitchFamily="34" charset="-120"/>
              </a:rPr>
              <a:t>Problem Statement: Governance Layer for Financial Agents  ·  Round 1 — Idea &amp; Architecture Submission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SOLUTION OVERVIEW  ·  PROBLEM STATEMENT SELECTED</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3000" b="1" dirty="0">
                <a:solidFill>
                  <a:srgbClr val="FFFFFF"/>
                </a:solidFill>
                <a:latin typeface="Calibri" pitchFamily="34" charset="0"/>
                <a:ea typeface="Calibri" pitchFamily="34" charset="-122"/>
                <a:cs typeface="Calibri" pitchFamily="34" charset="-120"/>
              </a:rPr>
              <a:t>Autonomy Without Control Is a Board-Level Risk</a:t>
            </a:r>
            <a:endParaRPr lang="en-US" sz="3000" dirty="0"/>
          </a:p>
        </p:txBody>
      </p:sp>
      <p:sp>
        <p:nvSpPr>
          <p:cNvPr id="5" name="Shape 3"/>
          <p:cNvSpPr/>
          <p:nvPr/>
        </p:nvSpPr>
        <p:spPr>
          <a:xfrm>
            <a:off x="548640" y="1691640"/>
            <a:ext cx="6675120" cy="4480560"/>
          </a:xfrm>
          <a:prstGeom prst="roundRect">
            <a:avLst>
              <a:gd name="adj" fmla="val 2041"/>
            </a:avLst>
          </a:prstGeom>
          <a:solidFill>
            <a:srgbClr val="121B3F"/>
          </a:solidFill>
          <a:ln w="12700">
            <a:solidFill>
              <a:srgbClr val="263569"/>
            </a:solidFill>
            <a:prstDash val="solid"/>
          </a:ln>
        </p:spPr>
      </p:sp>
      <p:sp>
        <p:nvSpPr>
          <p:cNvPr id="6" name="Text 4"/>
          <p:cNvSpPr/>
          <p:nvPr/>
        </p:nvSpPr>
        <p:spPr>
          <a:xfrm>
            <a:off x="868680" y="1920240"/>
            <a:ext cx="6035040" cy="274320"/>
          </a:xfrm>
          <a:prstGeom prst="rect">
            <a:avLst/>
          </a:prstGeom>
          <a:noFill/>
          <a:ln/>
        </p:spPr>
        <p:txBody>
          <a:bodyPr wrap="square" lIns="0" tIns="0" rIns="0" bIns="0" rtlCol="0" anchor="ctr"/>
          <a:lstStyle/>
          <a:p>
            <a:pPr marL="0" indent="0">
              <a:buNone/>
            </a:pPr>
            <a:r>
              <a:rPr lang="en-US" sz="1200" b="1" kern="0" spc="150" dirty="0">
                <a:solidFill>
                  <a:srgbClr val="5B8DFF"/>
                </a:solidFill>
                <a:latin typeface="Calibri" pitchFamily="34" charset="0"/>
                <a:ea typeface="Calibri" pitchFamily="34" charset="-122"/>
                <a:cs typeface="Calibri" pitchFamily="34" charset="-120"/>
              </a:rPr>
              <a:t>ELEVATOR PITCH</a:t>
            </a:r>
            <a:endParaRPr lang="en-US" sz="1200" dirty="0"/>
          </a:p>
        </p:txBody>
      </p:sp>
      <p:sp>
        <p:nvSpPr>
          <p:cNvPr id="7" name="Text 5"/>
          <p:cNvSpPr/>
          <p:nvPr/>
        </p:nvSpPr>
        <p:spPr>
          <a:xfrm>
            <a:off x="868680" y="2286000"/>
            <a:ext cx="6035040" cy="1371600"/>
          </a:xfrm>
          <a:prstGeom prst="rect">
            <a:avLst/>
          </a:prstGeom>
          <a:noFill/>
          <a:ln/>
        </p:spPr>
        <p:txBody>
          <a:bodyPr wrap="square" lIns="0" tIns="0" rIns="0" bIns="0" rtlCol="0" anchor="ctr"/>
          <a:lstStyle/>
          <a:p>
            <a:pPr marL="0" indent="0">
              <a:lnSpc>
                <a:spcPct val="125000"/>
              </a:lnSpc>
              <a:buNone/>
            </a:pPr>
            <a:r>
              <a:rPr lang="en-US" sz="1450" dirty="0">
                <a:solidFill>
                  <a:srgbClr val="FFFFFF"/>
                </a:solidFill>
                <a:latin typeface="Calibri" pitchFamily="34" charset="0"/>
                <a:ea typeface="Calibri" pitchFamily="34" charset="-122"/>
                <a:cs typeface="Calibri" pitchFamily="34" charset="-120"/>
              </a:rPr>
              <a:t>AegisAgent is the control plane that lets American Express deploy fleets of autonomous financial agents without betting the bank on their good behavior — enforcing who an agent is, what it can spend, and how fast it can be stopped, on every single action, in under 10 milliseconds.</a:t>
            </a:r>
            <a:endParaRPr lang="en-US" sz="1450" dirty="0"/>
          </a:p>
        </p:txBody>
      </p:sp>
      <p:sp>
        <p:nvSpPr>
          <p:cNvPr id="8" name="Text 6"/>
          <p:cNvSpPr/>
          <p:nvPr/>
        </p:nvSpPr>
        <p:spPr>
          <a:xfrm>
            <a:off x="868680" y="3794760"/>
            <a:ext cx="6035040" cy="1371600"/>
          </a:xfrm>
          <a:prstGeom prst="rect">
            <a:avLst/>
          </a:prstGeom>
          <a:noFill/>
          <a:ln/>
        </p:spPr>
        <p:txBody>
          <a:bodyPr wrap="square" lIns="0" tIns="0" rIns="0" bIns="0" rtlCol="0" anchor="ctr"/>
          <a:lstStyle/>
          <a:p>
            <a:pPr marL="0" indent="0">
              <a:lnSpc>
                <a:spcPct val="125000"/>
              </a:lnSpc>
              <a:buNone/>
            </a:pPr>
            <a:r>
              <a:rPr lang="en-US" sz="1300" dirty="0">
                <a:solidFill>
                  <a:srgbClr val="9AA6C9"/>
                </a:solidFill>
                <a:latin typeface="Calibri" pitchFamily="34" charset="0"/>
                <a:ea typeface="Calibri" pitchFamily="34" charset="-122"/>
                <a:cs typeface="Calibri" pitchFamily="34" charset="-120"/>
              </a:rPr>
              <a:t>As AI agents move from answering questions to initiating transfers, rebalancing portfolios, and filing claims, the risk shifts from “wrong answer” to “wrong action with real money.” AegisAgent sits between every autonomous agent and every banking system of record, so autonomy never means loss of control.</a:t>
            </a:r>
            <a:endParaRPr lang="en-US" sz="1300" dirty="0"/>
          </a:p>
        </p:txBody>
      </p:sp>
      <p:sp>
        <p:nvSpPr>
          <p:cNvPr id="9" name="Shape 7"/>
          <p:cNvSpPr/>
          <p:nvPr/>
        </p:nvSpPr>
        <p:spPr>
          <a:xfrm>
            <a:off x="868680" y="5440680"/>
            <a:ext cx="3931920" cy="384048"/>
          </a:xfrm>
          <a:prstGeom prst="roundRect">
            <a:avLst>
              <a:gd name="adj" fmla="val 50000"/>
            </a:avLst>
          </a:prstGeom>
          <a:solidFill>
            <a:srgbClr val="1B2B5C"/>
          </a:solidFill>
          <a:ln/>
        </p:spPr>
      </p:sp>
      <p:sp>
        <p:nvSpPr>
          <p:cNvPr id="10" name="Text 8"/>
          <p:cNvSpPr/>
          <p:nvPr/>
        </p:nvSpPr>
        <p:spPr>
          <a:xfrm>
            <a:off x="868680" y="5440680"/>
            <a:ext cx="3931920" cy="384048"/>
          </a:xfrm>
          <a:prstGeom prst="rect">
            <a:avLst/>
          </a:prstGeom>
          <a:noFill/>
          <a:ln/>
        </p:spPr>
        <p:txBody>
          <a:bodyPr wrap="square" lIns="0" tIns="0" rIns="0" bIns="0" rtlCol="0" anchor="ctr"/>
          <a:lstStyle/>
          <a:p>
            <a:pPr marL="0" indent="0" algn="ctr">
              <a:buNone/>
            </a:pPr>
            <a:r>
              <a:rPr lang="en-US" sz="1100" b="1" dirty="0">
                <a:solidFill>
                  <a:srgbClr val="5B8DFF"/>
                </a:solidFill>
                <a:latin typeface="Calibri" pitchFamily="34" charset="0"/>
                <a:ea typeface="Calibri" pitchFamily="34" charset="-122"/>
                <a:cs typeface="Calibri" pitchFamily="34" charset="-120"/>
              </a:rPr>
              <a:t>PROBLEM STATEMENT SELECTED</a:t>
            </a:r>
            <a:endParaRPr lang="en-US" sz="1100" dirty="0"/>
          </a:p>
        </p:txBody>
      </p:sp>
      <p:sp>
        <p:nvSpPr>
          <p:cNvPr id="11" name="Text 9"/>
          <p:cNvSpPr/>
          <p:nvPr/>
        </p:nvSpPr>
        <p:spPr>
          <a:xfrm>
            <a:off x="868680" y="5870448"/>
            <a:ext cx="6035040" cy="27432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“Governance Layer for Financial Agents”</a:t>
            </a:r>
            <a:endParaRPr lang="en-US" sz="1200" dirty="0"/>
          </a:p>
        </p:txBody>
      </p:sp>
      <p:sp>
        <p:nvSpPr>
          <p:cNvPr id="12" name="Shape 10"/>
          <p:cNvSpPr/>
          <p:nvPr/>
        </p:nvSpPr>
        <p:spPr>
          <a:xfrm>
            <a:off x="7452360" y="1691640"/>
            <a:ext cx="4160520" cy="4480560"/>
          </a:xfrm>
          <a:prstGeom prst="roundRect">
            <a:avLst>
              <a:gd name="adj" fmla="val 2198"/>
            </a:avLst>
          </a:prstGeom>
          <a:solidFill>
            <a:srgbClr val="17224C"/>
          </a:solidFill>
          <a:ln w="12700">
            <a:solidFill>
              <a:srgbClr val="263569"/>
            </a:solidFill>
            <a:prstDash val="solid"/>
          </a:ln>
        </p:spPr>
      </p:sp>
      <p:sp>
        <p:nvSpPr>
          <p:cNvPr id="13" name="Text 11"/>
          <p:cNvSpPr/>
          <p:nvPr/>
        </p:nvSpPr>
        <p:spPr>
          <a:xfrm>
            <a:off x="7726680" y="1874520"/>
            <a:ext cx="3657600" cy="457200"/>
          </a:xfrm>
          <a:prstGeom prst="rect">
            <a:avLst/>
          </a:prstGeom>
          <a:noFill/>
          <a:ln/>
        </p:spPr>
        <p:txBody>
          <a:bodyPr wrap="square" lIns="0" tIns="0" rIns="0" bIns="0" rtlCol="0" anchor="ctr"/>
          <a:lstStyle/>
          <a:p>
            <a:pPr marL="0" indent="0">
              <a:lnSpc>
                <a:spcPct val="110000"/>
              </a:lnSpc>
              <a:buNone/>
            </a:pPr>
            <a:r>
              <a:rPr lang="en-US" sz="1100" b="1" dirty="0">
                <a:solidFill>
                  <a:srgbClr val="5B8DFF"/>
                </a:solidFill>
                <a:latin typeface="Calibri" pitchFamily="34" charset="0"/>
                <a:ea typeface="Calibri" pitchFamily="34" charset="-122"/>
                <a:cs typeface="Calibri" pitchFamily="34" charset="-120"/>
              </a:rPr>
              <a:t>5 REQUIRED CAPABILITIES — DELIVERED AS ONE SYSTEM</a:t>
            </a:r>
            <a:endParaRPr lang="en-US" sz="1100" dirty="0"/>
          </a:p>
        </p:txBody>
      </p:sp>
      <p:sp>
        <p:nvSpPr>
          <p:cNvPr id="14" name="Shape 12"/>
          <p:cNvSpPr/>
          <p:nvPr/>
        </p:nvSpPr>
        <p:spPr>
          <a:xfrm>
            <a:off x="7726680" y="2423160"/>
            <a:ext cx="310896" cy="310896"/>
          </a:xfrm>
          <a:prstGeom prst="ellipse">
            <a:avLst/>
          </a:prstGeom>
          <a:solidFill>
            <a:srgbClr val="1B3A2C"/>
          </a:solidFill>
          <a:ln/>
        </p:spPr>
      </p:sp>
      <p:sp>
        <p:nvSpPr>
          <p:cNvPr id="15" name="Text 13"/>
          <p:cNvSpPr/>
          <p:nvPr/>
        </p:nvSpPr>
        <p:spPr>
          <a:xfrm>
            <a:off x="7726680" y="2423160"/>
            <a:ext cx="310896" cy="310896"/>
          </a:xfrm>
          <a:prstGeom prst="rect">
            <a:avLst/>
          </a:prstGeom>
          <a:noFill/>
          <a:ln/>
        </p:spPr>
        <p:txBody>
          <a:bodyPr wrap="square" lIns="0" tIns="0" rIns="0" bIns="0" rtlCol="0" anchor="ctr"/>
          <a:lstStyle/>
          <a:p>
            <a:pPr marL="0" indent="0" algn="ctr">
              <a:buNone/>
            </a:pPr>
            <a:r>
              <a:rPr lang="en-US" sz="1500" b="1" dirty="0">
                <a:solidFill>
                  <a:srgbClr val="34C77B"/>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8138160" y="2404872"/>
            <a:ext cx="32918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Granular Permissioning</a:t>
            </a:r>
            <a:endParaRPr lang="en-US" sz="1300" dirty="0"/>
          </a:p>
        </p:txBody>
      </p:sp>
      <p:sp>
        <p:nvSpPr>
          <p:cNvPr id="17" name="Shape 15"/>
          <p:cNvSpPr/>
          <p:nvPr/>
        </p:nvSpPr>
        <p:spPr>
          <a:xfrm>
            <a:off x="7726680" y="3136392"/>
            <a:ext cx="310896" cy="310896"/>
          </a:xfrm>
          <a:prstGeom prst="ellipse">
            <a:avLst/>
          </a:prstGeom>
          <a:solidFill>
            <a:srgbClr val="1B3A2C"/>
          </a:solidFill>
          <a:ln/>
        </p:spPr>
      </p:sp>
      <p:sp>
        <p:nvSpPr>
          <p:cNvPr id="18" name="Text 16"/>
          <p:cNvSpPr/>
          <p:nvPr/>
        </p:nvSpPr>
        <p:spPr>
          <a:xfrm>
            <a:off x="7726680" y="3136392"/>
            <a:ext cx="310896" cy="310896"/>
          </a:xfrm>
          <a:prstGeom prst="rect">
            <a:avLst/>
          </a:prstGeom>
          <a:noFill/>
          <a:ln/>
        </p:spPr>
        <p:txBody>
          <a:bodyPr wrap="square" lIns="0" tIns="0" rIns="0" bIns="0" rtlCol="0" anchor="ctr"/>
          <a:lstStyle/>
          <a:p>
            <a:pPr marL="0" indent="0" algn="ctr">
              <a:buNone/>
            </a:pPr>
            <a:r>
              <a:rPr lang="en-US" sz="1500" b="1" dirty="0">
                <a:solidFill>
                  <a:srgbClr val="34C77B"/>
                </a:solidFill>
                <a:latin typeface="Calibri" pitchFamily="34" charset="0"/>
                <a:ea typeface="Calibri" pitchFamily="34" charset="-122"/>
                <a:cs typeface="Calibri" pitchFamily="34" charset="-120"/>
              </a:rPr>
              <a:t>✓</a:t>
            </a:r>
            <a:endParaRPr lang="en-US" sz="1500" dirty="0"/>
          </a:p>
        </p:txBody>
      </p:sp>
      <p:sp>
        <p:nvSpPr>
          <p:cNvPr id="19" name="Text 17"/>
          <p:cNvSpPr/>
          <p:nvPr/>
        </p:nvSpPr>
        <p:spPr>
          <a:xfrm>
            <a:off x="8138160" y="3118104"/>
            <a:ext cx="32918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Dynamic Spend Caps</a:t>
            </a:r>
            <a:endParaRPr lang="en-US" sz="1300" dirty="0"/>
          </a:p>
        </p:txBody>
      </p:sp>
      <p:sp>
        <p:nvSpPr>
          <p:cNvPr id="20" name="Shape 18"/>
          <p:cNvSpPr/>
          <p:nvPr/>
        </p:nvSpPr>
        <p:spPr>
          <a:xfrm>
            <a:off x="7726680" y="3849624"/>
            <a:ext cx="310896" cy="310896"/>
          </a:xfrm>
          <a:prstGeom prst="ellipse">
            <a:avLst/>
          </a:prstGeom>
          <a:solidFill>
            <a:srgbClr val="1B3A2C"/>
          </a:solidFill>
          <a:ln/>
        </p:spPr>
      </p:sp>
      <p:sp>
        <p:nvSpPr>
          <p:cNvPr id="21" name="Text 19"/>
          <p:cNvSpPr/>
          <p:nvPr/>
        </p:nvSpPr>
        <p:spPr>
          <a:xfrm>
            <a:off x="7726680" y="3849624"/>
            <a:ext cx="310896" cy="310896"/>
          </a:xfrm>
          <a:prstGeom prst="rect">
            <a:avLst/>
          </a:prstGeom>
          <a:noFill/>
          <a:ln/>
        </p:spPr>
        <p:txBody>
          <a:bodyPr wrap="square" lIns="0" tIns="0" rIns="0" bIns="0" rtlCol="0" anchor="ctr"/>
          <a:lstStyle/>
          <a:p>
            <a:pPr marL="0" indent="0" algn="ctr">
              <a:buNone/>
            </a:pPr>
            <a:r>
              <a:rPr lang="en-US" sz="1500" b="1" dirty="0">
                <a:solidFill>
                  <a:srgbClr val="34C77B"/>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8138160" y="3831336"/>
            <a:ext cx="32918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Instant Revocation</a:t>
            </a:r>
            <a:endParaRPr lang="en-US" sz="1300" dirty="0"/>
          </a:p>
        </p:txBody>
      </p:sp>
      <p:sp>
        <p:nvSpPr>
          <p:cNvPr id="23" name="Shape 21"/>
          <p:cNvSpPr/>
          <p:nvPr/>
        </p:nvSpPr>
        <p:spPr>
          <a:xfrm>
            <a:off x="7726680" y="4562856"/>
            <a:ext cx="310896" cy="310896"/>
          </a:xfrm>
          <a:prstGeom prst="ellipse">
            <a:avLst/>
          </a:prstGeom>
          <a:solidFill>
            <a:srgbClr val="1B3A2C"/>
          </a:solidFill>
          <a:ln/>
        </p:spPr>
      </p:sp>
      <p:sp>
        <p:nvSpPr>
          <p:cNvPr id="24" name="Text 22"/>
          <p:cNvSpPr/>
          <p:nvPr/>
        </p:nvSpPr>
        <p:spPr>
          <a:xfrm>
            <a:off x="7726680" y="4562856"/>
            <a:ext cx="310896" cy="310896"/>
          </a:xfrm>
          <a:prstGeom prst="rect">
            <a:avLst/>
          </a:prstGeom>
          <a:noFill/>
          <a:ln/>
        </p:spPr>
        <p:txBody>
          <a:bodyPr wrap="square" lIns="0" tIns="0" rIns="0" bIns="0" rtlCol="0" anchor="ctr"/>
          <a:lstStyle/>
          <a:p>
            <a:pPr marL="0" indent="0" algn="ctr">
              <a:buNone/>
            </a:pPr>
            <a:r>
              <a:rPr lang="en-US" sz="1500" b="1" dirty="0">
                <a:solidFill>
                  <a:srgbClr val="34C77B"/>
                </a:solidFill>
                <a:latin typeface="Calibri" pitchFamily="34" charset="0"/>
                <a:ea typeface="Calibri" pitchFamily="34" charset="-122"/>
                <a:cs typeface="Calibri" pitchFamily="34" charset="-120"/>
              </a:rPr>
              <a:t>✓</a:t>
            </a:r>
            <a:endParaRPr lang="en-US" sz="1500" dirty="0"/>
          </a:p>
        </p:txBody>
      </p:sp>
      <p:sp>
        <p:nvSpPr>
          <p:cNvPr id="25" name="Text 23"/>
          <p:cNvSpPr/>
          <p:nvPr/>
        </p:nvSpPr>
        <p:spPr>
          <a:xfrm>
            <a:off x="8138160" y="4544568"/>
            <a:ext cx="32918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Full Audit Trail</a:t>
            </a:r>
            <a:endParaRPr lang="en-US" sz="1300" dirty="0"/>
          </a:p>
        </p:txBody>
      </p:sp>
      <p:sp>
        <p:nvSpPr>
          <p:cNvPr id="26" name="Shape 24"/>
          <p:cNvSpPr/>
          <p:nvPr/>
        </p:nvSpPr>
        <p:spPr>
          <a:xfrm>
            <a:off x="7726680" y="5276088"/>
            <a:ext cx="310896" cy="310896"/>
          </a:xfrm>
          <a:prstGeom prst="ellipse">
            <a:avLst/>
          </a:prstGeom>
          <a:solidFill>
            <a:srgbClr val="1B3A2C"/>
          </a:solidFill>
          <a:ln/>
        </p:spPr>
      </p:sp>
      <p:sp>
        <p:nvSpPr>
          <p:cNvPr id="27" name="Text 25"/>
          <p:cNvSpPr/>
          <p:nvPr/>
        </p:nvSpPr>
        <p:spPr>
          <a:xfrm>
            <a:off x="7726680" y="5276088"/>
            <a:ext cx="310896" cy="310896"/>
          </a:xfrm>
          <a:prstGeom prst="rect">
            <a:avLst/>
          </a:prstGeom>
          <a:noFill/>
          <a:ln/>
        </p:spPr>
        <p:txBody>
          <a:bodyPr wrap="square" lIns="0" tIns="0" rIns="0" bIns="0" rtlCol="0" anchor="ctr"/>
          <a:lstStyle/>
          <a:p>
            <a:pPr marL="0" indent="0" algn="ctr">
              <a:buNone/>
            </a:pPr>
            <a:r>
              <a:rPr lang="en-US" sz="1500" b="1" dirty="0">
                <a:solidFill>
                  <a:srgbClr val="34C77B"/>
                </a:solidFill>
                <a:latin typeface="Calibri" pitchFamily="34" charset="0"/>
                <a:ea typeface="Calibri" pitchFamily="34" charset="-122"/>
                <a:cs typeface="Calibri" pitchFamily="34" charset="-120"/>
              </a:rPr>
              <a:t>✓</a:t>
            </a:r>
            <a:endParaRPr lang="en-US" sz="1500" dirty="0"/>
          </a:p>
        </p:txBody>
      </p:sp>
      <p:sp>
        <p:nvSpPr>
          <p:cNvPr id="28" name="Text 26"/>
          <p:cNvSpPr/>
          <p:nvPr/>
        </p:nvSpPr>
        <p:spPr>
          <a:xfrm>
            <a:off x="8138160" y="5257800"/>
            <a:ext cx="329184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Low-Latency Middleware</a:t>
            </a:r>
            <a:endParaRPr lang="en-US" sz="1300" dirty="0"/>
          </a:p>
        </p:txBody>
      </p:sp>
      <p:sp>
        <p:nvSpPr>
          <p:cNvPr id="29" name="Text 27"/>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30" name="Text 28"/>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Solution Overview   ·   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THE PROBLEM</a:t>
            </a:r>
            <a:endParaRPr lang="en-US" sz="1250" dirty="0"/>
          </a:p>
        </p:txBody>
      </p:sp>
      <p:sp>
        <p:nvSpPr>
          <p:cNvPr id="4" name="Text 2"/>
          <p:cNvSpPr/>
          <p:nvPr/>
        </p:nvSpPr>
        <p:spPr>
          <a:xfrm>
            <a:off x="548640" y="658368"/>
            <a:ext cx="10607040" cy="1188720"/>
          </a:xfrm>
          <a:prstGeom prst="rect">
            <a:avLst/>
          </a:prstGeom>
          <a:noFill/>
          <a:ln/>
        </p:spPr>
        <p:txBody>
          <a:bodyPr wrap="square" lIns="0" tIns="0" rIns="0" bIns="0" rtlCol="0" anchor="ctr"/>
          <a:lstStyle/>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Autonomous Agents Are Coming to Banking.</a:t>
            </a:r>
            <a:endParaRPr lang="en-US" sz="2700" dirty="0"/>
          </a:p>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Governance Isn't.</a:t>
            </a:r>
            <a:endParaRPr lang="en-US" sz="2700" dirty="0"/>
          </a:p>
        </p:txBody>
      </p:sp>
      <p:sp>
        <p:nvSpPr>
          <p:cNvPr id="5" name="Text 3"/>
          <p:cNvSpPr/>
          <p:nvPr/>
        </p:nvSpPr>
        <p:spPr>
          <a:xfrm>
            <a:off x="548640" y="1874520"/>
            <a:ext cx="11064240" cy="777240"/>
          </a:xfrm>
          <a:prstGeom prst="rect">
            <a:avLst/>
          </a:prstGeom>
          <a:noFill/>
          <a:ln/>
        </p:spPr>
        <p:txBody>
          <a:bodyPr wrap="square" lIns="0" tIns="0" rIns="0" bIns="0" rtlCol="0" anchor="ctr"/>
          <a:lstStyle/>
          <a:p>
            <a:pPr marL="0" indent="0">
              <a:lnSpc>
                <a:spcPct val="125000"/>
              </a:lnSpc>
              <a:buNone/>
            </a:pPr>
            <a:r>
              <a:rPr lang="en-US" sz="1400" dirty="0">
                <a:solidFill>
                  <a:srgbClr val="CADCFC"/>
                </a:solidFill>
                <a:latin typeface="Calibri" pitchFamily="34" charset="0"/>
                <a:ea typeface="Calibri" pitchFamily="34" charset="-122"/>
                <a:cs typeface="Calibri" pitchFamily="34" charset="-120"/>
              </a:rPr>
              <a:t>Every agent challenge in this hackathon — dispute resolution, servicing, travel rebooking, benefit activation — shares one dependency nobody is building: a layer that scopes what an agent can do, enforces what it can spend, and can shut it off the instant something goes wrong.</a:t>
            </a:r>
            <a:endParaRPr lang="en-US" sz="1400" dirty="0"/>
          </a:p>
        </p:txBody>
      </p:sp>
      <p:sp>
        <p:nvSpPr>
          <p:cNvPr id="6" name="Shape 4"/>
          <p:cNvSpPr/>
          <p:nvPr/>
        </p:nvSpPr>
        <p:spPr>
          <a:xfrm>
            <a:off x="548640" y="2880360"/>
            <a:ext cx="2697480" cy="3063240"/>
          </a:xfrm>
          <a:prstGeom prst="roundRect">
            <a:avLst>
              <a:gd name="adj" fmla="val 3390"/>
            </a:avLst>
          </a:prstGeom>
          <a:solidFill>
            <a:srgbClr val="121B3F"/>
          </a:solidFill>
          <a:ln w="12700">
            <a:solidFill>
              <a:srgbClr val="263569"/>
            </a:solidFill>
            <a:prstDash val="solid"/>
          </a:ln>
        </p:spPr>
      </p:sp>
      <p:sp>
        <p:nvSpPr>
          <p:cNvPr id="7" name="Shape 5"/>
          <p:cNvSpPr/>
          <p:nvPr/>
        </p:nvSpPr>
        <p:spPr>
          <a:xfrm>
            <a:off x="804672" y="3154680"/>
            <a:ext cx="502920" cy="502920"/>
          </a:xfrm>
          <a:prstGeom prst="ellipse">
            <a:avLst/>
          </a:prstGeom>
          <a:solidFill>
            <a:srgbClr val="3A1B2C"/>
          </a:solidFill>
          <a:ln/>
        </p:spPr>
      </p:sp>
      <p:sp>
        <p:nvSpPr>
          <p:cNvPr id="8" name="Text 6"/>
          <p:cNvSpPr/>
          <p:nvPr/>
        </p:nvSpPr>
        <p:spPr>
          <a:xfrm>
            <a:off x="804672" y="3154680"/>
            <a:ext cx="502920" cy="502920"/>
          </a:xfrm>
          <a:prstGeom prst="rect">
            <a:avLst/>
          </a:prstGeom>
          <a:noFill/>
          <a:ln/>
        </p:spPr>
        <p:txBody>
          <a:bodyPr wrap="square" lIns="0" tIns="0" rIns="0" bIns="0" rtlCol="0" anchor="ctr"/>
          <a:lstStyle/>
          <a:p>
            <a:pPr marL="0" indent="0" algn="ctr">
              <a:buNone/>
            </a:pPr>
            <a:r>
              <a:rPr lang="en-US" sz="2200" b="1" dirty="0">
                <a:solidFill>
                  <a:srgbClr val="E5566D"/>
                </a:solidFill>
                <a:latin typeface="Calibri" pitchFamily="34" charset="0"/>
                <a:ea typeface="Calibri" pitchFamily="34" charset="-122"/>
                <a:cs typeface="Calibri" pitchFamily="34" charset="-120"/>
              </a:rPr>
              <a:t>✕</a:t>
            </a:r>
            <a:endParaRPr lang="en-US" sz="2200" dirty="0"/>
          </a:p>
        </p:txBody>
      </p:sp>
      <p:sp>
        <p:nvSpPr>
          <p:cNvPr id="9" name="Text 7"/>
          <p:cNvSpPr/>
          <p:nvPr/>
        </p:nvSpPr>
        <p:spPr>
          <a:xfrm>
            <a:off x="804672" y="3840480"/>
            <a:ext cx="2185416" cy="548640"/>
          </a:xfrm>
          <a:prstGeom prst="rect">
            <a:avLst/>
          </a:prstGeom>
          <a:noFill/>
          <a:ln/>
        </p:spPr>
        <p:txBody>
          <a:bodyPr wrap="square" lIns="0" tIns="0" rIns="0" bIns="0" rtlCol="0" anchor="ctr"/>
          <a:lstStyle/>
          <a:p>
            <a:pPr marL="0" indent="0">
              <a:lnSpc>
                <a:spcPct val="110000"/>
              </a:lnSpc>
              <a:buNone/>
            </a:pPr>
            <a:r>
              <a:rPr lang="en-US" sz="1550" b="1" dirty="0">
                <a:solidFill>
                  <a:srgbClr val="FFFFFF"/>
                </a:solidFill>
                <a:latin typeface="Calibri" pitchFamily="34" charset="0"/>
                <a:ea typeface="Calibri" pitchFamily="34" charset="-122"/>
                <a:cs typeface="Calibri" pitchFamily="34" charset="-120"/>
              </a:rPr>
              <a:t>No Kill Switch</a:t>
            </a:r>
            <a:endParaRPr lang="en-US" sz="1550" dirty="0"/>
          </a:p>
        </p:txBody>
      </p:sp>
      <p:sp>
        <p:nvSpPr>
          <p:cNvPr id="10" name="Text 8"/>
          <p:cNvSpPr/>
          <p:nvPr/>
        </p:nvSpPr>
        <p:spPr>
          <a:xfrm>
            <a:off x="804672" y="4434840"/>
            <a:ext cx="2185416" cy="1371600"/>
          </a:xfrm>
          <a:prstGeom prst="rect">
            <a:avLst/>
          </a:prstGeom>
          <a:noFill/>
          <a:ln/>
        </p:spPr>
        <p:txBody>
          <a:bodyPr wrap="square" lIns="0" tIns="0" rIns="0" bIns="0" rtlCol="0" anchor="ctr"/>
          <a:lstStyle/>
          <a:p>
            <a:pPr marL="0" indent="0">
              <a:lnSpc>
                <a:spcPct val="120000"/>
              </a:lnSpc>
              <a:buNone/>
            </a:pPr>
            <a:r>
              <a:rPr lang="en-US" sz="1150" dirty="0">
                <a:solidFill>
                  <a:srgbClr val="9AA6C9"/>
                </a:solidFill>
                <a:latin typeface="Calibri" pitchFamily="34" charset="0"/>
                <a:ea typeface="Calibri" pitchFamily="34" charset="-122"/>
                <a:cs typeface="Calibri" pitchFamily="34" charset="-120"/>
              </a:rPr>
              <a:t>A misbehaving agent keeps running until someone finds and manually stops it.</a:t>
            </a:r>
            <a:endParaRPr lang="en-US" sz="1150" dirty="0"/>
          </a:p>
        </p:txBody>
      </p:sp>
      <p:sp>
        <p:nvSpPr>
          <p:cNvPr id="11" name="Shape 9"/>
          <p:cNvSpPr/>
          <p:nvPr/>
        </p:nvSpPr>
        <p:spPr>
          <a:xfrm>
            <a:off x="3429000" y="2880360"/>
            <a:ext cx="2697480" cy="3063240"/>
          </a:xfrm>
          <a:prstGeom prst="roundRect">
            <a:avLst>
              <a:gd name="adj" fmla="val 3390"/>
            </a:avLst>
          </a:prstGeom>
          <a:solidFill>
            <a:srgbClr val="121B3F"/>
          </a:solidFill>
          <a:ln w="12700">
            <a:solidFill>
              <a:srgbClr val="263569"/>
            </a:solidFill>
            <a:prstDash val="solid"/>
          </a:ln>
        </p:spPr>
      </p:sp>
      <p:sp>
        <p:nvSpPr>
          <p:cNvPr id="12" name="Shape 10"/>
          <p:cNvSpPr/>
          <p:nvPr/>
        </p:nvSpPr>
        <p:spPr>
          <a:xfrm>
            <a:off x="3685032" y="3154680"/>
            <a:ext cx="502920" cy="502920"/>
          </a:xfrm>
          <a:prstGeom prst="ellipse">
            <a:avLst/>
          </a:prstGeom>
          <a:solidFill>
            <a:srgbClr val="3A1B2C"/>
          </a:solidFill>
          <a:ln/>
        </p:spPr>
      </p:sp>
      <p:sp>
        <p:nvSpPr>
          <p:cNvPr id="13" name="Text 11"/>
          <p:cNvSpPr/>
          <p:nvPr/>
        </p:nvSpPr>
        <p:spPr>
          <a:xfrm>
            <a:off x="3685032" y="3154680"/>
            <a:ext cx="502920" cy="502920"/>
          </a:xfrm>
          <a:prstGeom prst="rect">
            <a:avLst/>
          </a:prstGeom>
          <a:noFill/>
          <a:ln/>
        </p:spPr>
        <p:txBody>
          <a:bodyPr wrap="square" lIns="0" tIns="0" rIns="0" bIns="0" rtlCol="0" anchor="ctr"/>
          <a:lstStyle/>
          <a:p>
            <a:pPr marL="0" indent="0" algn="ctr">
              <a:buNone/>
            </a:pPr>
            <a:r>
              <a:rPr lang="en-US" sz="2200" b="1" dirty="0">
                <a:solidFill>
                  <a:srgbClr val="E5566D"/>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3685032" y="3840480"/>
            <a:ext cx="2185416" cy="548640"/>
          </a:xfrm>
          <a:prstGeom prst="rect">
            <a:avLst/>
          </a:prstGeom>
          <a:noFill/>
          <a:ln/>
        </p:spPr>
        <p:txBody>
          <a:bodyPr wrap="square" lIns="0" tIns="0" rIns="0" bIns="0" rtlCol="0" anchor="ctr"/>
          <a:lstStyle/>
          <a:p>
            <a:pPr marL="0" indent="0">
              <a:lnSpc>
                <a:spcPct val="110000"/>
              </a:lnSpc>
              <a:buNone/>
            </a:pPr>
            <a:r>
              <a:rPr lang="en-US" sz="1550" b="1" dirty="0">
                <a:solidFill>
                  <a:srgbClr val="FFFFFF"/>
                </a:solidFill>
                <a:latin typeface="Calibri" pitchFamily="34" charset="0"/>
                <a:ea typeface="Calibri" pitchFamily="34" charset="-122"/>
                <a:cs typeface="Calibri" pitchFamily="34" charset="-120"/>
              </a:rPr>
              <a:t>No Spend Limits</a:t>
            </a:r>
            <a:endParaRPr lang="en-US" sz="1550" dirty="0"/>
          </a:p>
        </p:txBody>
      </p:sp>
      <p:sp>
        <p:nvSpPr>
          <p:cNvPr id="15" name="Text 13"/>
          <p:cNvSpPr/>
          <p:nvPr/>
        </p:nvSpPr>
        <p:spPr>
          <a:xfrm>
            <a:off x="3685032" y="4434840"/>
            <a:ext cx="2185416" cy="1371600"/>
          </a:xfrm>
          <a:prstGeom prst="rect">
            <a:avLst/>
          </a:prstGeom>
          <a:noFill/>
          <a:ln/>
        </p:spPr>
        <p:txBody>
          <a:bodyPr wrap="square" lIns="0" tIns="0" rIns="0" bIns="0" rtlCol="0" anchor="ctr"/>
          <a:lstStyle/>
          <a:p>
            <a:pPr marL="0" indent="0">
              <a:lnSpc>
                <a:spcPct val="120000"/>
              </a:lnSpc>
              <a:buNone/>
            </a:pPr>
            <a:r>
              <a:rPr lang="en-US" sz="1150" dirty="0">
                <a:solidFill>
                  <a:srgbClr val="9AA6C9"/>
                </a:solidFill>
                <a:latin typeface="Calibri" pitchFamily="34" charset="0"/>
                <a:ea typeface="Calibri" pitchFamily="34" charset="-122"/>
                <a:cs typeface="Calibri" pitchFamily="34" charset="-120"/>
              </a:rPr>
              <a:t>Nothing stops an agent from executing a transaction outside its intended scope.</a:t>
            </a:r>
            <a:endParaRPr lang="en-US" sz="1150" dirty="0"/>
          </a:p>
        </p:txBody>
      </p:sp>
      <p:sp>
        <p:nvSpPr>
          <p:cNvPr id="16" name="Shape 14"/>
          <p:cNvSpPr/>
          <p:nvPr/>
        </p:nvSpPr>
        <p:spPr>
          <a:xfrm>
            <a:off x="6309360" y="2880360"/>
            <a:ext cx="2697480" cy="3063240"/>
          </a:xfrm>
          <a:prstGeom prst="roundRect">
            <a:avLst>
              <a:gd name="adj" fmla="val 3390"/>
            </a:avLst>
          </a:prstGeom>
          <a:solidFill>
            <a:srgbClr val="121B3F"/>
          </a:solidFill>
          <a:ln w="12700">
            <a:solidFill>
              <a:srgbClr val="263569"/>
            </a:solidFill>
            <a:prstDash val="solid"/>
          </a:ln>
        </p:spPr>
      </p:sp>
      <p:sp>
        <p:nvSpPr>
          <p:cNvPr id="17" name="Shape 15"/>
          <p:cNvSpPr/>
          <p:nvPr/>
        </p:nvSpPr>
        <p:spPr>
          <a:xfrm>
            <a:off x="6565392" y="3154680"/>
            <a:ext cx="502920" cy="502920"/>
          </a:xfrm>
          <a:prstGeom prst="ellipse">
            <a:avLst/>
          </a:prstGeom>
          <a:solidFill>
            <a:srgbClr val="3A1B2C"/>
          </a:solidFill>
          <a:ln/>
        </p:spPr>
      </p:sp>
      <p:sp>
        <p:nvSpPr>
          <p:cNvPr id="18" name="Text 16"/>
          <p:cNvSpPr/>
          <p:nvPr/>
        </p:nvSpPr>
        <p:spPr>
          <a:xfrm>
            <a:off x="6565392" y="3154680"/>
            <a:ext cx="502920" cy="502920"/>
          </a:xfrm>
          <a:prstGeom prst="rect">
            <a:avLst/>
          </a:prstGeom>
          <a:noFill/>
          <a:ln/>
        </p:spPr>
        <p:txBody>
          <a:bodyPr wrap="square" lIns="0" tIns="0" rIns="0" bIns="0" rtlCol="0" anchor="ctr"/>
          <a:lstStyle/>
          <a:p>
            <a:pPr marL="0" indent="0" algn="ctr">
              <a:buNone/>
            </a:pPr>
            <a:r>
              <a:rPr lang="en-US" sz="2200" b="1" dirty="0">
                <a:solidFill>
                  <a:srgbClr val="E5566D"/>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6565392" y="3840480"/>
            <a:ext cx="2185416" cy="548640"/>
          </a:xfrm>
          <a:prstGeom prst="rect">
            <a:avLst/>
          </a:prstGeom>
          <a:noFill/>
          <a:ln/>
        </p:spPr>
        <p:txBody>
          <a:bodyPr wrap="square" lIns="0" tIns="0" rIns="0" bIns="0" rtlCol="0" anchor="ctr"/>
          <a:lstStyle/>
          <a:p>
            <a:pPr marL="0" indent="0">
              <a:lnSpc>
                <a:spcPct val="110000"/>
              </a:lnSpc>
              <a:buNone/>
            </a:pPr>
            <a:r>
              <a:rPr lang="en-US" sz="1550" b="1" dirty="0">
                <a:solidFill>
                  <a:srgbClr val="FFFFFF"/>
                </a:solidFill>
                <a:latin typeface="Calibri" pitchFamily="34" charset="0"/>
                <a:ea typeface="Calibri" pitchFamily="34" charset="-122"/>
                <a:cs typeface="Calibri" pitchFamily="34" charset="-120"/>
              </a:rPr>
              <a:t>No Audit Trail</a:t>
            </a:r>
            <a:endParaRPr lang="en-US" sz="1550" dirty="0"/>
          </a:p>
        </p:txBody>
      </p:sp>
      <p:sp>
        <p:nvSpPr>
          <p:cNvPr id="20" name="Text 18"/>
          <p:cNvSpPr/>
          <p:nvPr/>
        </p:nvSpPr>
        <p:spPr>
          <a:xfrm>
            <a:off x="6565392" y="4434840"/>
            <a:ext cx="2185416" cy="1371600"/>
          </a:xfrm>
          <a:prstGeom prst="rect">
            <a:avLst/>
          </a:prstGeom>
          <a:noFill/>
          <a:ln/>
        </p:spPr>
        <p:txBody>
          <a:bodyPr wrap="square" lIns="0" tIns="0" rIns="0" bIns="0" rtlCol="0" anchor="ctr"/>
          <a:lstStyle/>
          <a:p>
            <a:pPr marL="0" indent="0">
              <a:lnSpc>
                <a:spcPct val="120000"/>
              </a:lnSpc>
              <a:buNone/>
            </a:pPr>
            <a:r>
              <a:rPr lang="en-US" sz="1150" dirty="0">
                <a:solidFill>
                  <a:srgbClr val="9AA6C9"/>
                </a:solidFill>
                <a:latin typeface="Calibri" pitchFamily="34" charset="0"/>
                <a:ea typeface="Calibri" pitchFamily="34" charset="-122"/>
                <a:cs typeface="Calibri" pitchFamily="34" charset="-120"/>
              </a:rPr>
              <a:t>Decisions aren't logged in a way that survives regulatory or forensic scrutiny.</a:t>
            </a:r>
            <a:endParaRPr lang="en-US" sz="1150" dirty="0"/>
          </a:p>
        </p:txBody>
      </p:sp>
      <p:sp>
        <p:nvSpPr>
          <p:cNvPr id="21" name="Shape 19"/>
          <p:cNvSpPr/>
          <p:nvPr/>
        </p:nvSpPr>
        <p:spPr>
          <a:xfrm>
            <a:off x="9189720" y="2880360"/>
            <a:ext cx="2697480" cy="3063240"/>
          </a:xfrm>
          <a:prstGeom prst="roundRect">
            <a:avLst>
              <a:gd name="adj" fmla="val 3390"/>
            </a:avLst>
          </a:prstGeom>
          <a:solidFill>
            <a:srgbClr val="121B3F"/>
          </a:solidFill>
          <a:ln w="12700">
            <a:solidFill>
              <a:srgbClr val="263569"/>
            </a:solidFill>
            <a:prstDash val="solid"/>
          </a:ln>
        </p:spPr>
      </p:sp>
      <p:sp>
        <p:nvSpPr>
          <p:cNvPr id="22" name="Shape 20"/>
          <p:cNvSpPr/>
          <p:nvPr/>
        </p:nvSpPr>
        <p:spPr>
          <a:xfrm>
            <a:off x="9445752" y="3154680"/>
            <a:ext cx="502920" cy="502920"/>
          </a:xfrm>
          <a:prstGeom prst="ellipse">
            <a:avLst/>
          </a:prstGeom>
          <a:solidFill>
            <a:srgbClr val="3A1B2C"/>
          </a:solidFill>
          <a:ln/>
        </p:spPr>
      </p:sp>
      <p:sp>
        <p:nvSpPr>
          <p:cNvPr id="23" name="Text 21"/>
          <p:cNvSpPr/>
          <p:nvPr/>
        </p:nvSpPr>
        <p:spPr>
          <a:xfrm>
            <a:off x="9445752" y="3154680"/>
            <a:ext cx="502920" cy="502920"/>
          </a:xfrm>
          <a:prstGeom prst="rect">
            <a:avLst/>
          </a:prstGeom>
          <a:noFill/>
          <a:ln/>
        </p:spPr>
        <p:txBody>
          <a:bodyPr wrap="square" lIns="0" tIns="0" rIns="0" bIns="0" rtlCol="0" anchor="ctr"/>
          <a:lstStyle/>
          <a:p>
            <a:pPr marL="0" indent="0" algn="ctr">
              <a:buNone/>
            </a:pPr>
            <a:r>
              <a:rPr lang="en-US" sz="2200" b="1" dirty="0">
                <a:solidFill>
                  <a:srgbClr val="E5566D"/>
                </a:solidFill>
                <a:latin typeface="Calibri" pitchFamily="34" charset="0"/>
                <a:ea typeface="Calibri" pitchFamily="34" charset="-122"/>
                <a:cs typeface="Calibri" pitchFamily="34" charset="-120"/>
              </a:rPr>
              <a:t>✕</a:t>
            </a:r>
            <a:endParaRPr lang="en-US" sz="2200" dirty="0"/>
          </a:p>
        </p:txBody>
      </p:sp>
      <p:sp>
        <p:nvSpPr>
          <p:cNvPr id="24" name="Text 22"/>
          <p:cNvSpPr/>
          <p:nvPr/>
        </p:nvSpPr>
        <p:spPr>
          <a:xfrm>
            <a:off x="9445752" y="3840480"/>
            <a:ext cx="2185416" cy="548640"/>
          </a:xfrm>
          <a:prstGeom prst="rect">
            <a:avLst/>
          </a:prstGeom>
          <a:noFill/>
          <a:ln/>
        </p:spPr>
        <p:txBody>
          <a:bodyPr wrap="square" lIns="0" tIns="0" rIns="0" bIns="0" rtlCol="0" anchor="ctr"/>
          <a:lstStyle/>
          <a:p>
            <a:pPr marL="0" indent="0">
              <a:lnSpc>
                <a:spcPct val="110000"/>
              </a:lnSpc>
              <a:buNone/>
            </a:pPr>
            <a:r>
              <a:rPr lang="en-US" sz="1550" b="1" dirty="0">
                <a:solidFill>
                  <a:srgbClr val="FFFFFF"/>
                </a:solidFill>
                <a:latin typeface="Calibri" pitchFamily="34" charset="0"/>
                <a:ea typeface="Calibri" pitchFamily="34" charset="-122"/>
                <a:cs typeface="Calibri" pitchFamily="34" charset="-120"/>
              </a:rPr>
              <a:t>No Identity Scoping</a:t>
            </a:r>
            <a:endParaRPr lang="en-US" sz="1550" dirty="0"/>
          </a:p>
        </p:txBody>
      </p:sp>
      <p:sp>
        <p:nvSpPr>
          <p:cNvPr id="25" name="Text 23"/>
          <p:cNvSpPr/>
          <p:nvPr/>
        </p:nvSpPr>
        <p:spPr>
          <a:xfrm>
            <a:off x="9445752" y="4434840"/>
            <a:ext cx="2185416" cy="1371600"/>
          </a:xfrm>
          <a:prstGeom prst="rect">
            <a:avLst/>
          </a:prstGeom>
          <a:noFill/>
          <a:ln/>
        </p:spPr>
        <p:txBody>
          <a:bodyPr wrap="square" lIns="0" tIns="0" rIns="0" bIns="0" rtlCol="0" anchor="ctr"/>
          <a:lstStyle/>
          <a:p>
            <a:pPr marL="0" indent="0">
              <a:lnSpc>
                <a:spcPct val="120000"/>
              </a:lnSpc>
              <a:buNone/>
            </a:pPr>
            <a:r>
              <a:rPr lang="en-US" sz="1150" dirty="0">
                <a:solidFill>
                  <a:srgbClr val="9AA6C9"/>
                </a:solidFill>
                <a:latin typeface="Calibri" pitchFamily="34" charset="0"/>
                <a:ea typeface="Calibri" pitchFamily="34" charset="-122"/>
                <a:cs typeface="Calibri" pitchFamily="34" charset="-120"/>
              </a:rPr>
              <a:t>Agents inherit broad access instead of a minimal, purpose-built permission set.</a:t>
            </a:r>
            <a:endParaRPr lang="en-US" sz="1150" dirty="0"/>
          </a:p>
        </p:txBody>
      </p:sp>
      <p:sp>
        <p:nvSpPr>
          <p:cNvPr id="26" name="Text 2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27" name="Text 25"/>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The Problem   ·   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THE SOLUTION  ·  PROPOSED SOLUTION</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3000" b="1" dirty="0">
                <a:solidFill>
                  <a:srgbClr val="FFFFFF"/>
                </a:solidFill>
                <a:latin typeface="Calibri" pitchFamily="34" charset="0"/>
                <a:ea typeface="Calibri" pitchFamily="34" charset="-122"/>
                <a:cs typeface="Calibri" pitchFamily="34" charset="-120"/>
              </a:rPr>
              <a:t>The Mandatory Gateway Every Agent Action Must Pass Through</a:t>
            </a:r>
            <a:endParaRPr lang="en-US" sz="3000" dirty="0"/>
          </a:p>
        </p:txBody>
      </p:sp>
      <p:sp>
        <p:nvSpPr>
          <p:cNvPr id="5" name="Shape 3"/>
          <p:cNvSpPr/>
          <p:nvPr/>
        </p:nvSpPr>
        <p:spPr>
          <a:xfrm>
            <a:off x="548640" y="1737360"/>
            <a:ext cx="3611880" cy="2331720"/>
          </a:xfrm>
          <a:prstGeom prst="roundRect">
            <a:avLst>
              <a:gd name="adj" fmla="val 3922"/>
            </a:avLst>
          </a:prstGeom>
          <a:solidFill>
            <a:srgbClr val="121B3F"/>
          </a:solidFill>
          <a:ln w="12700">
            <a:solidFill>
              <a:srgbClr val="263569"/>
            </a:solidFill>
            <a:prstDash val="solid"/>
          </a:ln>
        </p:spPr>
      </p:sp>
      <p:sp>
        <p:nvSpPr>
          <p:cNvPr id="6" name="Text 4"/>
          <p:cNvSpPr/>
          <p:nvPr/>
        </p:nvSpPr>
        <p:spPr>
          <a:xfrm>
            <a:off x="822960" y="1920240"/>
            <a:ext cx="914400" cy="548640"/>
          </a:xfrm>
          <a:prstGeom prst="rect">
            <a:avLst/>
          </a:prstGeom>
          <a:noFill/>
          <a:ln/>
        </p:spPr>
        <p:txBody>
          <a:bodyPr wrap="square" lIns="0" tIns="0" rIns="0" bIns="0" rtlCol="0" anchor="ctr"/>
          <a:lstStyle/>
          <a:p>
            <a:pPr marL="0" indent="0">
              <a:buNone/>
            </a:pPr>
            <a:r>
              <a:rPr lang="en-US" sz="2600" b="1" dirty="0">
                <a:solidFill>
                  <a:srgbClr val="2E6BF2"/>
                </a:solidFill>
                <a:latin typeface="Calibri" pitchFamily="34" charset="0"/>
                <a:ea typeface="Calibri" pitchFamily="34" charset="-122"/>
                <a:cs typeface="Calibri" pitchFamily="34" charset="-120"/>
              </a:rPr>
              <a:t>01</a:t>
            </a:r>
            <a:endParaRPr lang="en-US" sz="2600" dirty="0"/>
          </a:p>
        </p:txBody>
      </p:sp>
      <p:sp>
        <p:nvSpPr>
          <p:cNvPr id="7" name="Text 5"/>
          <p:cNvSpPr/>
          <p:nvPr/>
        </p:nvSpPr>
        <p:spPr>
          <a:xfrm>
            <a:off x="822960" y="2450592"/>
            <a:ext cx="306324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Enforce</a:t>
            </a:r>
            <a:endParaRPr lang="en-US" sz="1900" dirty="0"/>
          </a:p>
        </p:txBody>
      </p:sp>
      <p:sp>
        <p:nvSpPr>
          <p:cNvPr id="8" name="Text 6"/>
          <p:cNvSpPr/>
          <p:nvPr/>
        </p:nvSpPr>
        <p:spPr>
          <a:xfrm>
            <a:off x="822960" y="2880360"/>
            <a:ext cx="3063240" cy="1097280"/>
          </a:xfrm>
          <a:prstGeom prst="rect">
            <a:avLst/>
          </a:prstGeom>
          <a:noFill/>
          <a:ln/>
        </p:spPr>
        <p:txBody>
          <a:bodyPr wrap="square" lIns="0" tIns="0" rIns="0" bIns="0" rtlCol="0" anchor="ctr"/>
          <a:lstStyle/>
          <a:p>
            <a:pPr marL="0" indent="0">
              <a:lnSpc>
                <a:spcPct val="122000"/>
              </a:lnSpc>
              <a:buNone/>
            </a:pPr>
            <a:r>
              <a:rPr lang="en-US" sz="1150" dirty="0">
                <a:solidFill>
                  <a:srgbClr val="9AA6C9"/>
                </a:solidFill>
                <a:latin typeface="Calibri" pitchFamily="34" charset="0"/>
                <a:ea typeface="Calibri" pitchFamily="34" charset="-122"/>
                <a:cs typeface="Calibri" pitchFamily="34" charset="-120"/>
              </a:rPr>
              <a:t>Every action is checked against explicit permissions (RBAC) and a live spend budget before it can execute — nothing is allowed by default.</a:t>
            </a:r>
            <a:endParaRPr lang="en-US" sz="1150" dirty="0"/>
          </a:p>
        </p:txBody>
      </p:sp>
      <p:sp>
        <p:nvSpPr>
          <p:cNvPr id="9" name="Shape 7"/>
          <p:cNvSpPr/>
          <p:nvPr/>
        </p:nvSpPr>
        <p:spPr>
          <a:xfrm>
            <a:off x="4379976" y="1737360"/>
            <a:ext cx="3611880" cy="2331720"/>
          </a:xfrm>
          <a:prstGeom prst="roundRect">
            <a:avLst>
              <a:gd name="adj" fmla="val 3922"/>
            </a:avLst>
          </a:prstGeom>
          <a:solidFill>
            <a:srgbClr val="121B3F"/>
          </a:solidFill>
          <a:ln w="12700">
            <a:solidFill>
              <a:srgbClr val="263569"/>
            </a:solidFill>
            <a:prstDash val="solid"/>
          </a:ln>
        </p:spPr>
      </p:sp>
      <p:sp>
        <p:nvSpPr>
          <p:cNvPr id="10" name="Text 8"/>
          <p:cNvSpPr/>
          <p:nvPr/>
        </p:nvSpPr>
        <p:spPr>
          <a:xfrm>
            <a:off x="4654296" y="1920240"/>
            <a:ext cx="914400" cy="548640"/>
          </a:xfrm>
          <a:prstGeom prst="rect">
            <a:avLst/>
          </a:prstGeom>
          <a:noFill/>
          <a:ln/>
        </p:spPr>
        <p:txBody>
          <a:bodyPr wrap="square" lIns="0" tIns="0" rIns="0" bIns="0" rtlCol="0" anchor="ctr"/>
          <a:lstStyle/>
          <a:p>
            <a:pPr marL="0" indent="0">
              <a:buNone/>
            </a:pPr>
            <a:r>
              <a:rPr lang="en-US" sz="2600" b="1" dirty="0">
                <a:solidFill>
                  <a:srgbClr val="2E6BF2"/>
                </a:solidFill>
                <a:latin typeface="Calibri" pitchFamily="34" charset="0"/>
                <a:ea typeface="Calibri" pitchFamily="34" charset="-122"/>
                <a:cs typeface="Calibri" pitchFamily="34" charset="-120"/>
              </a:rPr>
              <a:t>02</a:t>
            </a:r>
            <a:endParaRPr lang="en-US" sz="2600" dirty="0"/>
          </a:p>
        </p:txBody>
      </p:sp>
      <p:sp>
        <p:nvSpPr>
          <p:cNvPr id="11" name="Text 9"/>
          <p:cNvSpPr/>
          <p:nvPr/>
        </p:nvSpPr>
        <p:spPr>
          <a:xfrm>
            <a:off x="4654296" y="2450592"/>
            <a:ext cx="306324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Control</a:t>
            </a:r>
            <a:endParaRPr lang="en-US" sz="1900" dirty="0"/>
          </a:p>
        </p:txBody>
      </p:sp>
      <p:sp>
        <p:nvSpPr>
          <p:cNvPr id="12" name="Text 10"/>
          <p:cNvSpPr/>
          <p:nvPr/>
        </p:nvSpPr>
        <p:spPr>
          <a:xfrm>
            <a:off x="4654296" y="2880360"/>
            <a:ext cx="3063240" cy="1097280"/>
          </a:xfrm>
          <a:prstGeom prst="rect">
            <a:avLst/>
          </a:prstGeom>
          <a:noFill/>
          <a:ln/>
        </p:spPr>
        <p:txBody>
          <a:bodyPr wrap="square" lIns="0" tIns="0" rIns="0" bIns="0" rtlCol="0" anchor="ctr"/>
          <a:lstStyle/>
          <a:p>
            <a:pPr marL="0" indent="0">
              <a:lnSpc>
                <a:spcPct val="122000"/>
              </a:lnSpc>
              <a:buNone/>
            </a:pPr>
            <a:r>
              <a:rPr lang="en-US" sz="1150" dirty="0">
                <a:solidFill>
                  <a:srgbClr val="9AA6C9"/>
                </a:solidFill>
                <a:latin typeface="Calibri" pitchFamily="34" charset="0"/>
                <a:ea typeface="Calibri" pitchFamily="34" charset="-122"/>
                <a:cs typeface="Calibri" pitchFamily="34" charset="-120"/>
              </a:rPr>
              <a:t>A single operator control can revoke one agent or halt the entire fleet instantly, mid-action, with no polling delay.</a:t>
            </a:r>
            <a:endParaRPr lang="en-US" sz="1150" dirty="0"/>
          </a:p>
        </p:txBody>
      </p:sp>
      <p:sp>
        <p:nvSpPr>
          <p:cNvPr id="13" name="Shape 11"/>
          <p:cNvSpPr/>
          <p:nvPr/>
        </p:nvSpPr>
        <p:spPr>
          <a:xfrm>
            <a:off x="8211312" y="1737360"/>
            <a:ext cx="3611880" cy="2331720"/>
          </a:xfrm>
          <a:prstGeom prst="roundRect">
            <a:avLst>
              <a:gd name="adj" fmla="val 3922"/>
            </a:avLst>
          </a:prstGeom>
          <a:solidFill>
            <a:srgbClr val="121B3F"/>
          </a:solidFill>
          <a:ln w="12700">
            <a:solidFill>
              <a:srgbClr val="263569"/>
            </a:solidFill>
            <a:prstDash val="solid"/>
          </a:ln>
        </p:spPr>
      </p:sp>
      <p:sp>
        <p:nvSpPr>
          <p:cNvPr id="14" name="Text 12"/>
          <p:cNvSpPr/>
          <p:nvPr/>
        </p:nvSpPr>
        <p:spPr>
          <a:xfrm>
            <a:off x="8485632" y="1920240"/>
            <a:ext cx="914400" cy="548640"/>
          </a:xfrm>
          <a:prstGeom prst="rect">
            <a:avLst/>
          </a:prstGeom>
          <a:noFill/>
          <a:ln/>
        </p:spPr>
        <p:txBody>
          <a:bodyPr wrap="square" lIns="0" tIns="0" rIns="0" bIns="0" rtlCol="0" anchor="ctr"/>
          <a:lstStyle/>
          <a:p>
            <a:pPr marL="0" indent="0">
              <a:buNone/>
            </a:pPr>
            <a:r>
              <a:rPr lang="en-US" sz="2600" b="1" dirty="0">
                <a:solidFill>
                  <a:srgbClr val="2E6BF2"/>
                </a:solidFill>
                <a:latin typeface="Calibri" pitchFamily="34" charset="0"/>
                <a:ea typeface="Calibri" pitchFamily="34" charset="-122"/>
                <a:cs typeface="Calibri" pitchFamily="34" charset="-120"/>
              </a:rPr>
              <a:t>03</a:t>
            </a:r>
            <a:endParaRPr lang="en-US" sz="2600" dirty="0"/>
          </a:p>
        </p:txBody>
      </p:sp>
      <p:sp>
        <p:nvSpPr>
          <p:cNvPr id="15" name="Text 13"/>
          <p:cNvSpPr/>
          <p:nvPr/>
        </p:nvSpPr>
        <p:spPr>
          <a:xfrm>
            <a:off x="8485632" y="2450592"/>
            <a:ext cx="3063240" cy="41148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Prove</a:t>
            </a:r>
            <a:endParaRPr lang="en-US" sz="1900" dirty="0"/>
          </a:p>
        </p:txBody>
      </p:sp>
      <p:sp>
        <p:nvSpPr>
          <p:cNvPr id="16" name="Text 14"/>
          <p:cNvSpPr/>
          <p:nvPr/>
        </p:nvSpPr>
        <p:spPr>
          <a:xfrm>
            <a:off x="8485632" y="2880360"/>
            <a:ext cx="3063240" cy="1097280"/>
          </a:xfrm>
          <a:prstGeom prst="rect">
            <a:avLst/>
          </a:prstGeom>
          <a:noFill/>
          <a:ln/>
        </p:spPr>
        <p:txBody>
          <a:bodyPr wrap="square" lIns="0" tIns="0" rIns="0" bIns="0" rtlCol="0" anchor="ctr"/>
          <a:lstStyle/>
          <a:p>
            <a:pPr marL="0" indent="0">
              <a:lnSpc>
                <a:spcPct val="122000"/>
              </a:lnSpc>
              <a:buNone/>
            </a:pPr>
            <a:r>
              <a:rPr lang="en-US" sz="1150" dirty="0">
                <a:solidFill>
                  <a:srgbClr val="9AA6C9"/>
                </a:solidFill>
                <a:latin typeface="Calibri" pitchFamily="34" charset="0"/>
                <a:ea typeface="Calibri" pitchFamily="34" charset="-122"/>
                <a:cs typeface="Calibri" pitchFamily="34" charset="-120"/>
              </a:rPr>
              <a:t>Every allow/deny decision is written to a hash-chained, tamper-evident ledger and streamed live to an operator console.</a:t>
            </a:r>
            <a:endParaRPr lang="en-US" sz="1150" dirty="0"/>
          </a:p>
        </p:txBody>
      </p:sp>
      <p:sp>
        <p:nvSpPr>
          <p:cNvPr id="17" name="Shape 15"/>
          <p:cNvSpPr/>
          <p:nvPr/>
        </p:nvSpPr>
        <p:spPr>
          <a:xfrm>
            <a:off x="548640" y="4297680"/>
            <a:ext cx="11064240" cy="1828800"/>
          </a:xfrm>
          <a:prstGeom prst="roundRect">
            <a:avLst>
              <a:gd name="adj" fmla="val 5000"/>
            </a:avLst>
          </a:prstGeom>
          <a:solidFill>
            <a:srgbClr val="17224C"/>
          </a:solidFill>
          <a:ln w="12700">
            <a:solidFill>
              <a:srgbClr val="263569"/>
            </a:solidFill>
            <a:prstDash val="solid"/>
          </a:ln>
        </p:spPr>
      </p:sp>
      <p:sp>
        <p:nvSpPr>
          <p:cNvPr id="18" name="Text 16"/>
          <p:cNvSpPr/>
          <p:nvPr/>
        </p:nvSpPr>
        <p:spPr>
          <a:xfrm>
            <a:off x="868680" y="4480560"/>
            <a:ext cx="7315200" cy="274320"/>
          </a:xfrm>
          <a:prstGeom prst="rect">
            <a:avLst/>
          </a:prstGeom>
          <a:noFill/>
          <a:ln/>
        </p:spPr>
        <p:txBody>
          <a:bodyPr wrap="square" lIns="0" tIns="0" rIns="0" bIns="0" rtlCol="0" anchor="ctr"/>
          <a:lstStyle/>
          <a:p>
            <a:pPr marL="0" indent="0">
              <a:buNone/>
            </a:pPr>
            <a:r>
              <a:rPr lang="en-US" sz="1200" b="1" kern="0" spc="120" dirty="0">
                <a:solidFill>
                  <a:srgbClr val="5B8DFF"/>
                </a:solidFill>
                <a:latin typeface="Calibri" pitchFamily="34" charset="0"/>
                <a:ea typeface="Calibri" pitchFamily="34" charset="-122"/>
                <a:cs typeface="Calibri" pitchFamily="34" charset="-120"/>
              </a:rPr>
              <a:t>“NO SIDE DOOR” ARCHITECTURE</a:t>
            </a:r>
            <a:endParaRPr lang="en-US" sz="1200" dirty="0"/>
          </a:p>
        </p:txBody>
      </p:sp>
      <p:sp>
        <p:nvSpPr>
          <p:cNvPr id="19" name="Text 17"/>
          <p:cNvSpPr/>
          <p:nvPr/>
        </p:nvSpPr>
        <p:spPr>
          <a:xfrm>
            <a:off x="868680" y="4800600"/>
            <a:ext cx="10424160" cy="1188720"/>
          </a:xfrm>
          <a:prstGeom prst="rect">
            <a:avLst/>
          </a:prstGeom>
          <a:noFill/>
          <a:ln/>
        </p:spPr>
        <p:txBody>
          <a:bodyPr wrap="square" lIns="0" tIns="0" rIns="0" bIns="0" rtlCol="0" anchor="ctr"/>
          <a:lstStyle/>
          <a:p>
            <a:pPr marL="0" indent="0">
              <a:lnSpc>
                <a:spcPct val="130000"/>
              </a:lnSpc>
              <a:buNone/>
            </a:pPr>
            <a:r>
              <a:rPr lang="en-US" sz="1250" dirty="0">
                <a:solidFill>
                  <a:srgbClr val="CADCFC"/>
                </a:solidFill>
                <a:latin typeface="Calibri" pitchFamily="34" charset="0"/>
                <a:ea typeface="Calibri" pitchFamily="34" charset="-122"/>
                <a:cs typeface="Calibri" pitchFamily="34" charset="-120"/>
              </a:rPr>
              <a:t>Agents never call a banking API directly — every request is physically routed through Aegis first. Financial agents cannot reach a banking API directly; every request is evaluated for identity, permissions, and budget before it is forwarded, blocked, or throttled. This is what separates AegisAgent from a monitoring dashboard bolted on after the fact: governance here is structural, not observational.</a:t>
            </a:r>
            <a:endParaRPr lang="en-US" sz="1250" dirty="0"/>
          </a:p>
        </p:txBody>
      </p:sp>
      <p:sp>
        <p:nvSpPr>
          <p:cNvPr id="20" name="Text 18"/>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21" name="Text 19"/>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The Solution   ·   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TECHNICAL DETAILS  ·  ARCHITECTURE DIAGRAM &amp; FLOW CHART</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No Side Door to a Banking API</a:t>
            </a:r>
            <a:endParaRPr lang="en-US" sz="2700" dirty="0"/>
          </a:p>
        </p:txBody>
      </p:sp>
      <p:sp>
        <p:nvSpPr>
          <p:cNvPr id="5" name="Shape 3"/>
          <p:cNvSpPr/>
          <p:nvPr/>
        </p:nvSpPr>
        <p:spPr>
          <a:xfrm>
            <a:off x="548640" y="1874520"/>
            <a:ext cx="2514600" cy="1417320"/>
          </a:xfrm>
          <a:prstGeom prst="roundRect">
            <a:avLst>
              <a:gd name="adj" fmla="val 6452"/>
            </a:avLst>
          </a:prstGeom>
          <a:solidFill>
            <a:srgbClr val="17224C"/>
          </a:solidFill>
          <a:ln w="12700">
            <a:solidFill>
              <a:srgbClr val="263569"/>
            </a:solidFill>
            <a:prstDash val="solid"/>
          </a:ln>
        </p:spPr>
      </p:sp>
      <p:sp>
        <p:nvSpPr>
          <p:cNvPr id="6" name="Text 4"/>
          <p:cNvSpPr/>
          <p:nvPr/>
        </p:nvSpPr>
        <p:spPr>
          <a:xfrm>
            <a:off x="685800" y="2039112"/>
            <a:ext cx="2240280" cy="59436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Financial Agent Fleet</a:t>
            </a:r>
            <a:endParaRPr lang="en-US" sz="1350" dirty="0"/>
          </a:p>
        </p:txBody>
      </p:sp>
      <p:sp>
        <p:nvSpPr>
          <p:cNvPr id="7" name="Text 5"/>
          <p:cNvSpPr/>
          <p:nvPr/>
        </p:nvSpPr>
        <p:spPr>
          <a:xfrm>
            <a:off x="685800" y="2651760"/>
            <a:ext cx="2240280" cy="548640"/>
          </a:xfrm>
          <a:prstGeom prst="rect">
            <a:avLst/>
          </a:prstGeom>
          <a:noFill/>
          <a:ln/>
        </p:spPr>
        <p:txBody>
          <a:bodyPr wrap="square" lIns="0" tIns="0" rIns="0" bIns="0" rtlCol="0" anchor="ctr"/>
          <a:lstStyle/>
          <a:p>
            <a:pPr marL="0" indent="0">
              <a:lnSpc>
                <a:spcPct val="115000"/>
              </a:lnSpc>
              <a:buNone/>
            </a:pPr>
            <a:r>
              <a:rPr lang="en-US" sz="950" dirty="0">
                <a:solidFill>
                  <a:srgbClr val="9AA6C9"/>
                </a:solidFill>
                <a:latin typeface="Calibri" pitchFamily="34" charset="0"/>
                <a:ea typeface="Calibri" pitchFamily="34" charset="-122"/>
                <a:cs typeface="Calibri" pitchFamily="34" charset="-120"/>
              </a:rPr>
              <a:t>Wealth Advisory · HFT · Rogue/Anomaly</a:t>
            </a:r>
            <a:endParaRPr lang="en-US" sz="950" dirty="0"/>
          </a:p>
        </p:txBody>
      </p:sp>
      <p:sp>
        <p:nvSpPr>
          <p:cNvPr id="8" name="Text 6"/>
          <p:cNvSpPr/>
          <p:nvPr/>
        </p:nvSpPr>
        <p:spPr>
          <a:xfrm>
            <a:off x="3063240" y="1874520"/>
            <a:ext cx="411480" cy="1417320"/>
          </a:xfrm>
          <a:prstGeom prst="rect">
            <a:avLst/>
          </a:prstGeom>
          <a:noFill/>
          <a:ln/>
        </p:spPr>
        <p:txBody>
          <a:bodyPr wrap="square" lIns="0" tIns="0" rIns="0" bIns="0" rtlCol="0" anchor="ctr"/>
          <a:lstStyle/>
          <a:p>
            <a:pPr marL="0" indent="0" algn="ctr">
              <a:buNone/>
            </a:pPr>
            <a:r>
              <a:rPr lang="en-US" sz="2200" dirty="0">
                <a:solidFill>
                  <a:srgbClr val="5B8DFF"/>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3474720" y="1874520"/>
            <a:ext cx="2514600" cy="1417320"/>
          </a:xfrm>
          <a:prstGeom prst="roundRect">
            <a:avLst>
              <a:gd name="adj" fmla="val 6452"/>
            </a:avLst>
          </a:prstGeom>
          <a:solidFill>
            <a:srgbClr val="1B2B5C"/>
          </a:solidFill>
          <a:ln w="12700">
            <a:solidFill>
              <a:srgbClr val="263569"/>
            </a:solidFill>
            <a:prstDash val="solid"/>
          </a:ln>
        </p:spPr>
      </p:sp>
      <p:sp>
        <p:nvSpPr>
          <p:cNvPr id="10" name="Text 8"/>
          <p:cNvSpPr/>
          <p:nvPr/>
        </p:nvSpPr>
        <p:spPr>
          <a:xfrm>
            <a:off x="3611880" y="2039112"/>
            <a:ext cx="2240280" cy="59436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Aegis Gateway Proxy</a:t>
            </a:r>
            <a:endParaRPr lang="en-US" sz="1350" dirty="0"/>
          </a:p>
        </p:txBody>
      </p:sp>
      <p:sp>
        <p:nvSpPr>
          <p:cNvPr id="11" name="Text 9"/>
          <p:cNvSpPr/>
          <p:nvPr/>
        </p:nvSpPr>
        <p:spPr>
          <a:xfrm>
            <a:off x="3611880" y="2651760"/>
            <a:ext cx="2240280" cy="548640"/>
          </a:xfrm>
          <a:prstGeom prst="rect">
            <a:avLst/>
          </a:prstGeom>
          <a:noFill/>
          <a:ln/>
        </p:spPr>
        <p:txBody>
          <a:bodyPr wrap="square" lIns="0" tIns="0" rIns="0" bIns="0" rtlCol="0" anchor="ctr"/>
          <a:lstStyle/>
          <a:p>
            <a:pPr marL="0" indent="0">
              <a:lnSpc>
                <a:spcPct val="115000"/>
              </a:lnSpc>
              <a:buNone/>
            </a:pPr>
            <a:r>
              <a:rPr lang="en-US" sz="950" dirty="0">
                <a:solidFill>
                  <a:srgbClr val="9AA6C9"/>
                </a:solidFill>
                <a:latin typeface="Calibri" pitchFamily="34" charset="0"/>
                <a:ea typeface="Calibri" pitchFamily="34" charset="-122"/>
                <a:cs typeface="Calibri" pitchFamily="34" charset="-120"/>
              </a:rPr>
              <a:t>Mandatory interceptor (FastAPI)</a:t>
            </a:r>
            <a:endParaRPr lang="en-US" sz="950" dirty="0"/>
          </a:p>
        </p:txBody>
      </p:sp>
      <p:sp>
        <p:nvSpPr>
          <p:cNvPr id="12" name="Text 10"/>
          <p:cNvSpPr/>
          <p:nvPr/>
        </p:nvSpPr>
        <p:spPr>
          <a:xfrm>
            <a:off x="5989320" y="1874520"/>
            <a:ext cx="411480" cy="1417320"/>
          </a:xfrm>
          <a:prstGeom prst="rect">
            <a:avLst/>
          </a:prstGeom>
          <a:noFill/>
          <a:ln/>
        </p:spPr>
        <p:txBody>
          <a:bodyPr wrap="square" lIns="0" tIns="0" rIns="0" bIns="0" rtlCol="0" anchor="ctr"/>
          <a:lstStyle/>
          <a:p>
            <a:pPr marL="0" indent="0" algn="ctr">
              <a:buNone/>
            </a:pPr>
            <a:r>
              <a:rPr lang="en-US" sz="2200" dirty="0">
                <a:solidFill>
                  <a:srgbClr val="5B8DFF"/>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6400800" y="1874520"/>
            <a:ext cx="2514600" cy="1417320"/>
          </a:xfrm>
          <a:prstGeom prst="roundRect">
            <a:avLst>
              <a:gd name="adj" fmla="val 6452"/>
            </a:avLst>
          </a:prstGeom>
          <a:solidFill>
            <a:srgbClr val="1B2B5C"/>
          </a:solidFill>
          <a:ln w="12700">
            <a:solidFill>
              <a:srgbClr val="263569"/>
            </a:solidFill>
            <a:prstDash val="solid"/>
          </a:ln>
        </p:spPr>
      </p:sp>
      <p:sp>
        <p:nvSpPr>
          <p:cNvPr id="14" name="Text 12"/>
          <p:cNvSpPr/>
          <p:nvPr/>
        </p:nvSpPr>
        <p:spPr>
          <a:xfrm>
            <a:off x="6537960" y="2039112"/>
            <a:ext cx="2240280" cy="59436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OPA + Redis</a:t>
            </a:r>
            <a:endParaRPr lang="en-US" sz="1350" dirty="0"/>
          </a:p>
        </p:txBody>
      </p:sp>
      <p:sp>
        <p:nvSpPr>
          <p:cNvPr id="15" name="Text 13"/>
          <p:cNvSpPr/>
          <p:nvPr/>
        </p:nvSpPr>
        <p:spPr>
          <a:xfrm>
            <a:off x="6537960" y="2651760"/>
            <a:ext cx="2240280" cy="548640"/>
          </a:xfrm>
          <a:prstGeom prst="rect">
            <a:avLst/>
          </a:prstGeom>
          <a:noFill/>
          <a:ln/>
        </p:spPr>
        <p:txBody>
          <a:bodyPr wrap="square" lIns="0" tIns="0" rIns="0" bIns="0" rtlCol="0" anchor="ctr"/>
          <a:lstStyle/>
          <a:p>
            <a:pPr marL="0" indent="0">
              <a:lnSpc>
                <a:spcPct val="115000"/>
              </a:lnSpc>
              <a:buNone/>
            </a:pPr>
            <a:r>
              <a:rPr lang="en-US" sz="950" dirty="0">
                <a:solidFill>
                  <a:srgbClr val="9AA6C9"/>
                </a:solidFill>
                <a:latin typeface="Calibri" pitchFamily="34" charset="0"/>
                <a:ea typeface="Calibri" pitchFamily="34" charset="-122"/>
                <a:cs typeface="Calibri" pitchFamily="34" charset="-120"/>
              </a:rPr>
              <a:t>Policy check → Budget check</a:t>
            </a:r>
            <a:endParaRPr lang="en-US" sz="950" dirty="0"/>
          </a:p>
        </p:txBody>
      </p:sp>
      <p:sp>
        <p:nvSpPr>
          <p:cNvPr id="16" name="Text 14"/>
          <p:cNvSpPr/>
          <p:nvPr/>
        </p:nvSpPr>
        <p:spPr>
          <a:xfrm>
            <a:off x="8915400" y="1874520"/>
            <a:ext cx="411480" cy="1417320"/>
          </a:xfrm>
          <a:prstGeom prst="rect">
            <a:avLst/>
          </a:prstGeom>
          <a:noFill/>
          <a:ln/>
        </p:spPr>
        <p:txBody>
          <a:bodyPr wrap="square" lIns="0" tIns="0" rIns="0" bIns="0" rtlCol="0" anchor="ctr"/>
          <a:lstStyle/>
          <a:p>
            <a:pPr marL="0" indent="0" algn="ctr">
              <a:buNone/>
            </a:pPr>
            <a:r>
              <a:rPr lang="en-US" sz="2200" dirty="0">
                <a:solidFill>
                  <a:srgbClr val="5B8DFF"/>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9326880" y="1874520"/>
            <a:ext cx="2514600" cy="1417320"/>
          </a:xfrm>
          <a:prstGeom prst="roundRect">
            <a:avLst>
              <a:gd name="adj" fmla="val 6452"/>
            </a:avLst>
          </a:prstGeom>
          <a:solidFill>
            <a:srgbClr val="17224C"/>
          </a:solidFill>
          <a:ln w="12700">
            <a:solidFill>
              <a:srgbClr val="263569"/>
            </a:solidFill>
            <a:prstDash val="solid"/>
          </a:ln>
        </p:spPr>
      </p:sp>
      <p:sp>
        <p:nvSpPr>
          <p:cNvPr id="18" name="Text 16"/>
          <p:cNvSpPr/>
          <p:nvPr/>
        </p:nvSpPr>
        <p:spPr>
          <a:xfrm>
            <a:off x="9464040" y="2039112"/>
            <a:ext cx="2240280" cy="594360"/>
          </a:xfrm>
          <a:prstGeom prst="rect">
            <a:avLst/>
          </a:prstGeom>
          <a:noFill/>
          <a:ln/>
        </p:spPr>
        <p:txBody>
          <a:bodyPr wrap="square" lIns="0" tIns="0" rIns="0" bIns="0" rtlCol="0" anchor="ctr"/>
          <a:lstStyle/>
          <a:p>
            <a:pPr marL="0" indent="0">
              <a:lnSpc>
                <a:spcPct val="110000"/>
              </a:lnSpc>
              <a:buNone/>
            </a:pPr>
            <a:r>
              <a:rPr lang="en-US" sz="1350" b="1" dirty="0">
                <a:solidFill>
                  <a:srgbClr val="FFFFFF"/>
                </a:solidFill>
                <a:latin typeface="Calibri" pitchFamily="34" charset="0"/>
                <a:ea typeface="Calibri" pitchFamily="34" charset="-122"/>
                <a:cs typeface="Calibri" pitchFamily="34" charset="-120"/>
              </a:rPr>
              <a:t>Banking Execution API</a:t>
            </a:r>
            <a:endParaRPr lang="en-US" sz="1350" dirty="0"/>
          </a:p>
        </p:txBody>
      </p:sp>
      <p:sp>
        <p:nvSpPr>
          <p:cNvPr id="19" name="Text 17"/>
          <p:cNvSpPr/>
          <p:nvPr/>
        </p:nvSpPr>
        <p:spPr>
          <a:xfrm>
            <a:off x="9464040" y="2651760"/>
            <a:ext cx="2240280" cy="548640"/>
          </a:xfrm>
          <a:prstGeom prst="rect">
            <a:avLst/>
          </a:prstGeom>
          <a:noFill/>
          <a:ln/>
        </p:spPr>
        <p:txBody>
          <a:bodyPr wrap="square" lIns="0" tIns="0" rIns="0" bIns="0" rtlCol="0" anchor="ctr"/>
          <a:lstStyle/>
          <a:p>
            <a:pPr marL="0" indent="0">
              <a:lnSpc>
                <a:spcPct val="115000"/>
              </a:lnSpc>
              <a:buNone/>
            </a:pPr>
            <a:r>
              <a:rPr lang="en-US" sz="950" dirty="0">
                <a:solidFill>
                  <a:srgbClr val="9AA6C9"/>
                </a:solidFill>
                <a:latin typeface="Calibri" pitchFamily="34" charset="0"/>
                <a:ea typeface="Calibri" pitchFamily="34" charset="-122"/>
                <a:cs typeface="Calibri" pitchFamily="34" charset="-120"/>
              </a:rPr>
              <a:t>Allowed actions only</a:t>
            </a:r>
            <a:endParaRPr lang="en-US" sz="950" dirty="0"/>
          </a:p>
        </p:txBody>
      </p:sp>
      <p:sp>
        <p:nvSpPr>
          <p:cNvPr id="20" name="Shape 18"/>
          <p:cNvSpPr/>
          <p:nvPr/>
        </p:nvSpPr>
        <p:spPr>
          <a:xfrm>
            <a:off x="548640" y="3703320"/>
            <a:ext cx="3611880" cy="1051560"/>
          </a:xfrm>
          <a:prstGeom prst="roundRect">
            <a:avLst>
              <a:gd name="adj" fmla="val 8696"/>
            </a:avLst>
          </a:prstGeom>
          <a:solidFill>
            <a:srgbClr val="1B3A2C"/>
          </a:solidFill>
          <a:ln w="12700">
            <a:solidFill>
              <a:srgbClr val="263569"/>
            </a:solidFill>
            <a:prstDash val="solid"/>
          </a:ln>
        </p:spPr>
      </p:sp>
      <p:sp>
        <p:nvSpPr>
          <p:cNvPr id="21" name="Text 19"/>
          <p:cNvSpPr/>
          <p:nvPr/>
        </p:nvSpPr>
        <p:spPr>
          <a:xfrm>
            <a:off x="777240" y="3840480"/>
            <a:ext cx="3200400" cy="365760"/>
          </a:xfrm>
          <a:prstGeom prst="rect">
            <a:avLst/>
          </a:prstGeom>
          <a:noFill/>
          <a:ln/>
        </p:spPr>
        <p:txBody>
          <a:bodyPr wrap="square" lIns="0" tIns="0" rIns="0" bIns="0" rtlCol="0" anchor="ctr"/>
          <a:lstStyle/>
          <a:p>
            <a:pPr marL="0" indent="0">
              <a:buNone/>
            </a:pPr>
            <a:r>
              <a:rPr lang="en-US" sz="1300" b="1" dirty="0">
                <a:solidFill>
                  <a:srgbClr val="34C77B"/>
                </a:solidFill>
                <a:latin typeface="Calibri" pitchFamily="34" charset="0"/>
                <a:ea typeface="Calibri" pitchFamily="34" charset="-122"/>
                <a:cs typeface="Calibri" pitchFamily="34" charset="-120"/>
              </a:rPr>
              <a:t>Audit Ledger + Console</a:t>
            </a:r>
            <a:endParaRPr lang="en-US" sz="1300" dirty="0"/>
          </a:p>
        </p:txBody>
      </p:sp>
      <p:sp>
        <p:nvSpPr>
          <p:cNvPr id="22" name="Text 20"/>
          <p:cNvSpPr/>
          <p:nvPr/>
        </p:nvSpPr>
        <p:spPr>
          <a:xfrm>
            <a:off x="777240" y="4187952"/>
            <a:ext cx="3200400" cy="502920"/>
          </a:xfrm>
          <a:prstGeom prst="rect">
            <a:avLst/>
          </a:prstGeom>
          <a:noFill/>
          <a:ln/>
        </p:spPr>
        <p:txBody>
          <a:bodyPr wrap="square" lIns="0" tIns="0" rIns="0" bIns="0" rtlCol="0" anchor="ctr"/>
          <a:lstStyle/>
          <a:p>
            <a:pPr marL="0" indent="0">
              <a:lnSpc>
                <a:spcPct val="115000"/>
              </a:lnSpc>
              <a:buNone/>
            </a:pPr>
            <a:r>
              <a:rPr lang="en-US" sz="1000" dirty="0">
                <a:solidFill>
                  <a:srgbClr val="9AA6C9"/>
                </a:solidFill>
                <a:latin typeface="Calibri" pitchFamily="34" charset="0"/>
                <a:ea typeface="Calibri" pitchFamily="34" charset="-122"/>
                <a:cs typeface="Calibri" pitchFamily="34" charset="-120"/>
              </a:rPr>
              <a:t>Every allow/deny decision, streamed live and hash-chained for compliance.</a:t>
            </a:r>
            <a:endParaRPr lang="en-US" sz="1000" dirty="0"/>
          </a:p>
        </p:txBody>
      </p:sp>
      <p:sp>
        <p:nvSpPr>
          <p:cNvPr id="23" name="Shape 21"/>
          <p:cNvSpPr/>
          <p:nvPr/>
        </p:nvSpPr>
        <p:spPr>
          <a:xfrm>
            <a:off x="4343400" y="3703320"/>
            <a:ext cx="3611880" cy="1051560"/>
          </a:xfrm>
          <a:prstGeom prst="roundRect">
            <a:avLst>
              <a:gd name="adj" fmla="val 8696"/>
            </a:avLst>
          </a:prstGeom>
          <a:solidFill>
            <a:srgbClr val="3A1B2C"/>
          </a:solidFill>
          <a:ln w="12700">
            <a:solidFill>
              <a:srgbClr val="263569"/>
            </a:solidFill>
            <a:prstDash val="solid"/>
          </a:ln>
        </p:spPr>
      </p:sp>
      <p:sp>
        <p:nvSpPr>
          <p:cNvPr id="24" name="Text 22"/>
          <p:cNvSpPr/>
          <p:nvPr/>
        </p:nvSpPr>
        <p:spPr>
          <a:xfrm>
            <a:off x="4572000" y="3840480"/>
            <a:ext cx="3200400" cy="365760"/>
          </a:xfrm>
          <a:prstGeom prst="rect">
            <a:avLst/>
          </a:prstGeom>
          <a:noFill/>
          <a:ln/>
        </p:spPr>
        <p:txBody>
          <a:bodyPr wrap="square" lIns="0" tIns="0" rIns="0" bIns="0" rtlCol="0" anchor="ctr"/>
          <a:lstStyle/>
          <a:p>
            <a:pPr marL="0" indent="0">
              <a:buNone/>
            </a:pPr>
            <a:r>
              <a:rPr lang="en-US" sz="1300" b="1" dirty="0">
                <a:solidFill>
                  <a:srgbClr val="E5566D"/>
                </a:solidFill>
                <a:latin typeface="Calibri" pitchFamily="34" charset="0"/>
                <a:ea typeface="Calibri" pitchFamily="34" charset="-122"/>
                <a:cs typeface="Calibri" pitchFamily="34" charset="-120"/>
              </a:rPr>
              <a:t>Blocked + Logged</a:t>
            </a:r>
            <a:endParaRPr lang="en-US" sz="1300" dirty="0"/>
          </a:p>
        </p:txBody>
      </p:sp>
      <p:sp>
        <p:nvSpPr>
          <p:cNvPr id="25" name="Text 23"/>
          <p:cNvSpPr/>
          <p:nvPr/>
        </p:nvSpPr>
        <p:spPr>
          <a:xfrm>
            <a:off x="4572000" y="4187952"/>
            <a:ext cx="3200400" cy="502920"/>
          </a:xfrm>
          <a:prstGeom prst="rect">
            <a:avLst/>
          </a:prstGeom>
          <a:noFill/>
          <a:ln/>
        </p:spPr>
        <p:txBody>
          <a:bodyPr wrap="square" lIns="0" tIns="0" rIns="0" bIns="0" rtlCol="0" anchor="ctr"/>
          <a:lstStyle/>
          <a:p>
            <a:pPr marL="0" indent="0">
              <a:lnSpc>
                <a:spcPct val="115000"/>
              </a:lnSpc>
              <a:buNone/>
            </a:pPr>
            <a:r>
              <a:rPr lang="en-US" sz="1000" dirty="0">
                <a:solidFill>
                  <a:srgbClr val="9AA6C9"/>
                </a:solidFill>
                <a:latin typeface="Calibri" pitchFamily="34" charset="0"/>
                <a:ea typeface="Calibri" pitchFamily="34" charset="-122"/>
                <a:cs typeface="Calibri" pitchFamily="34" charset="-120"/>
              </a:rPr>
              <a:t>Denied requests return a policy reason to the agent and are logged all the same.</a:t>
            </a:r>
            <a:endParaRPr lang="en-US" sz="1000" dirty="0"/>
          </a:p>
        </p:txBody>
      </p:sp>
      <p:sp>
        <p:nvSpPr>
          <p:cNvPr id="26" name="Shape 24"/>
          <p:cNvSpPr/>
          <p:nvPr/>
        </p:nvSpPr>
        <p:spPr>
          <a:xfrm>
            <a:off x="8138160" y="3703320"/>
            <a:ext cx="3474720" cy="1051560"/>
          </a:xfrm>
          <a:prstGeom prst="roundRect">
            <a:avLst>
              <a:gd name="adj" fmla="val 8696"/>
            </a:avLst>
          </a:prstGeom>
          <a:solidFill>
            <a:srgbClr val="3A2C1B"/>
          </a:solidFill>
          <a:ln w="12700">
            <a:solidFill>
              <a:srgbClr val="263569"/>
            </a:solidFill>
            <a:prstDash val="solid"/>
          </a:ln>
        </p:spPr>
      </p:sp>
      <p:sp>
        <p:nvSpPr>
          <p:cNvPr id="27" name="Text 25"/>
          <p:cNvSpPr/>
          <p:nvPr/>
        </p:nvSpPr>
        <p:spPr>
          <a:xfrm>
            <a:off x="8366760" y="3840480"/>
            <a:ext cx="3108960" cy="365760"/>
          </a:xfrm>
          <a:prstGeom prst="rect">
            <a:avLst/>
          </a:prstGeom>
          <a:noFill/>
          <a:ln/>
        </p:spPr>
        <p:txBody>
          <a:bodyPr wrap="square" lIns="0" tIns="0" rIns="0" bIns="0" rtlCol="0" anchor="ctr"/>
          <a:lstStyle/>
          <a:p>
            <a:pPr marL="0" indent="0">
              <a:buNone/>
            </a:pPr>
            <a:r>
              <a:rPr lang="en-US" sz="1300" b="1" dirty="0">
                <a:solidFill>
                  <a:srgbClr val="F0A93A"/>
                </a:solidFill>
                <a:latin typeface="Calibri" pitchFamily="34" charset="0"/>
                <a:ea typeface="Calibri" pitchFamily="34" charset="-122"/>
                <a:cs typeface="Calibri" pitchFamily="34" charset="-120"/>
              </a:rPr>
              <a:t>Emergency Stop</a:t>
            </a:r>
            <a:endParaRPr lang="en-US" sz="1300" dirty="0"/>
          </a:p>
        </p:txBody>
      </p:sp>
      <p:sp>
        <p:nvSpPr>
          <p:cNvPr id="28" name="Text 26"/>
          <p:cNvSpPr/>
          <p:nvPr/>
        </p:nvSpPr>
        <p:spPr>
          <a:xfrm>
            <a:off x="8366760" y="4187952"/>
            <a:ext cx="3108960" cy="502920"/>
          </a:xfrm>
          <a:prstGeom prst="rect">
            <a:avLst/>
          </a:prstGeom>
          <a:noFill/>
          <a:ln/>
        </p:spPr>
        <p:txBody>
          <a:bodyPr wrap="square" lIns="0" tIns="0" rIns="0" bIns="0" rtlCol="0" anchor="ctr"/>
          <a:lstStyle/>
          <a:p>
            <a:pPr marL="0" indent="0">
              <a:lnSpc>
                <a:spcPct val="115000"/>
              </a:lnSpc>
              <a:buNone/>
            </a:pPr>
            <a:r>
              <a:rPr lang="en-US" sz="1000" dirty="0">
                <a:solidFill>
                  <a:srgbClr val="9AA6C9"/>
                </a:solidFill>
                <a:latin typeface="Calibri" pitchFamily="34" charset="0"/>
                <a:ea typeface="Calibri" pitchFamily="34" charset="-122"/>
                <a:cs typeface="Calibri" pitchFamily="34" charset="-120"/>
              </a:rPr>
              <a:t>An operator can halt a single agent or the whole fleet, at any node, any time.</a:t>
            </a:r>
            <a:endParaRPr lang="en-US" sz="1000" dirty="0"/>
          </a:p>
        </p:txBody>
      </p:sp>
      <p:sp>
        <p:nvSpPr>
          <p:cNvPr id="29" name="Shape 27"/>
          <p:cNvSpPr/>
          <p:nvPr/>
        </p:nvSpPr>
        <p:spPr>
          <a:xfrm>
            <a:off x="548640" y="4983480"/>
            <a:ext cx="11064240" cy="1051560"/>
          </a:xfrm>
          <a:prstGeom prst="roundRect">
            <a:avLst>
              <a:gd name="adj" fmla="val 8696"/>
            </a:avLst>
          </a:prstGeom>
          <a:solidFill>
            <a:srgbClr val="121B3F"/>
          </a:solidFill>
          <a:ln w="12700">
            <a:solidFill>
              <a:srgbClr val="263569"/>
            </a:solidFill>
            <a:prstDash val="solid"/>
          </a:ln>
        </p:spPr>
      </p:sp>
      <p:sp>
        <p:nvSpPr>
          <p:cNvPr id="30" name="Text 28"/>
          <p:cNvSpPr/>
          <p:nvPr/>
        </p:nvSpPr>
        <p:spPr>
          <a:xfrm>
            <a:off x="822960" y="5120640"/>
            <a:ext cx="10424160" cy="274320"/>
          </a:xfrm>
          <a:prstGeom prst="rect">
            <a:avLst/>
          </a:prstGeom>
          <a:noFill/>
          <a:ln/>
        </p:spPr>
        <p:txBody>
          <a:bodyPr wrap="square" lIns="0" tIns="0" rIns="0" bIns="0" rtlCol="0" anchor="ctr"/>
          <a:lstStyle/>
          <a:p>
            <a:pPr marL="0" indent="0">
              <a:buNone/>
            </a:pPr>
            <a:r>
              <a:rPr lang="en-US" sz="1100" b="1" kern="0" spc="100" dirty="0">
                <a:solidFill>
                  <a:srgbClr val="5B8DFF"/>
                </a:solidFill>
                <a:latin typeface="Calibri" pitchFamily="34" charset="0"/>
                <a:ea typeface="Calibri" pitchFamily="34" charset="-122"/>
                <a:cs typeface="Calibri" pitchFamily="34" charset="-120"/>
              </a:rPr>
              <a:t>ENFORCEMENT ORDER IS DELIBERATE, NOT INCIDENTAL</a:t>
            </a:r>
            <a:endParaRPr lang="en-US" sz="1100" dirty="0"/>
          </a:p>
        </p:txBody>
      </p:sp>
      <p:sp>
        <p:nvSpPr>
          <p:cNvPr id="31" name="Text 29"/>
          <p:cNvSpPr/>
          <p:nvPr/>
        </p:nvSpPr>
        <p:spPr>
          <a:xfrm>
            <a:off x="822960" y="5413248"/>
            <a:ext cx="10424160" cy="548640"/>
          </a:xfrm>
          <a:prstGeom prst="rect">
            <a:avLst/>
          </a:prstGeom>
          <a:noFill/>
          <a:ln/>
        </p:spPr>
        <p:txBody>
          <a:bodyPr wrap="square" lIns="0" tIns="0" rIns="0" bIns="0" rtlCol="0" anchor="ctr"/>
          <a:lstStyle/>
          <a:p>
            <a:pPr marL="0" indent="0">
              <a:lnSpc>
                <a:spcPct val="120000"/>
              </a:lnSpc>
              <a:buNone/>
            </a:pPr>
            <a:r>
              <a:rPr lang="en-US" sz="1100" dirty="0">
                <a:solidFill>
                  <a:srgbClr val="9AA6C9"/>
                </a:solidFill>
                <a:latin typeface="Calibri" pitchFamily="34" charset="0"/>
                <a:ea typeface="Calibri" pitchFamily="34" charset="-122"/>
                <a:cs typeface="Calibri" pitchFamily="34" charset="-120"/>
              </a:rPr>
              <a:t>1. Revocation check (Redis)  →  2. Policy check (OPA / Rego, role → action)  →  3. Spend-cap check (Redis, atomic Lua script). Revocation runs first because it's cheapest and stops a killed agent without consulting policy at all; the spend cap runs last so a denied action never consumes budget.</a:t>
            </a:r>
            <a:endParaRPr lang="en-US" sz="1100" dirty="0"/>
          </a:p>
        </p:txBody>
      </p:sp>
      <p:sp>
        <p:nvSpPr>
          <p:cNvPr id="32" name="Text 30"/>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33" name="Text 31"/>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Architecture   ·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TECHNICAL DETAILS  ·  TECHNOLOGY STACK &amp; FRAMEWORKS</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500" b="1" dirty="0">
                <a:solidFill>
                  <a:srgbClr val="FFFFFF"/>
                </a:solidFill>
                <a:latin typeface="Calibri" pitchFamily="34" charset="0"/>
                <a:ea typeface="Calibri" pitchFamily="34" charset="-122"/>
                <a:cs typeface="Calibri" pitchFamily="34" charset="-120"/>
              </a:rPr>
              <a:t>Every Layer, Named — No Novel Infrastructure to Invent</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242816"/>
        </p:xfrm>
        <a:graphic>
          <a:graphicData uri="http://schemas.openxmlformats.org/drawingml/2006/table">
            <a:tbl>
              <a:tblPr/>
              <a:tblGrid>
                <a:gridCol w="14173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530352">
                <a:tc>
                  <a:txBody>
                    <a:bodyPr/>
                    <a:lstStyle/>
                    <a:p>
                      <a:pPr marL="0" indent="0">
                        <a:buNone/>
                      </a:pPr>
                      <a:r>
                        <a:rPr lang="en-US" sz="1100" b="1" dirty="0">
                          <a:solidFill>
                            <a:srgbClr val="5B8DFF"/>
                          </a:solidFill>
                          <a:latin typeface="Calibri" pitchFamily="34" charset="0"/>
                          <a:ea typeface="Calibri" pitchFamily="34" charset="-122"/>
                          <a:cs typeface="Calibri" pitchFamily="34" charset="-120"/>
                        </a:rPr>
                        <a:t>Layer</a:t>
                      </a:r>
                      <a:endParaRPr lang="en-US" sz="110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0E1638"/>
                    </a:solidFill>
                  </a:tcPr>
                </a:tc>
                <a:tc>
                  <a:txBody>
                    <a:bodyPr/>
                    <a:lstStyle/>
                    <a:p>
                      <a:pPr marL="0" indent="0">
                        <a:buNone/>
                      </a:pPr>
                      <a:r>
                        <a:rPr lang="en-US" sz="1100" b="1" dirty="0">
                          <a:solidFill>
                            <a:srgbClr val="5B8D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0E1638"/>
                    </a:solidFill>
                  </a:tcPr>
                </a:tc>
                <a:tc>
                  <a:txBody>
                    <a:bodyPr/>
                    <a:lstStyle/>
                    <a:p>
                      <a:pPr marL="0" indent="0">
                        <a:buNone/>
                      </a:pPr>
                      <a:r>
                        <a:rPr lang="en-US" sz="1100" b="1" dirty="0">
                          <a:solidFill>
                            <a:srgbClr val="5B8DFF"/>
                          </a:solidFill>
                          <a:latin typeface="Calibri" pitchFamily="34" charset="0"/>
                          <a:ea typeface="Calibri" pitchFamily="34" charset="-122"/>
                          <a:cs typeface="Calibri" pitchFamily="34" charset="-120"/>
                        </a:rPr>
                        <a:t>Technology</a:t>
                      </a:r>
                      <a:endParaRPr lang="en-US" sz="110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0E1638"/>
                    </a:solidFill>
                  </a:tcPr>
                </a:tc>
                <a:tc>
                  <a:txBody>
                    <a:bodyPr/>
                    <a:lstStyle/>
                    <a:p>
                      <a:pPr marL="0" indent="0">
                        <a:buNone/>
                      </a:pPr>
                      <a:r>
                        <a:rPr lang="en-US" sz="1100" b="1" dirty="0">
                          <a:solidFill>
                            <a:srgbClr val="5B8DFF"/>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0E1638"/>
                    </a:solidFill>
                  </a:tcPr>
                </a:tc>
                <a:extLst>
                  <a:ext uri="{0D108BD9-81ED-4DB2-BD59-A6C34878D82A}">
                    <a16:rowId xmlns:a16="http://schemas.microsoft.com/office/drawing/2014/main" val="10000"/>
                  </a:ext>
                </a:extLst>
              </a:tr>
              <a:tr h="530352">
                <a:tc>
                  <a:txBody>
                    <a:bodyPr/>
                    <a:lstStyle/>
                    <a:p>
                      <a:pPr marL="0" indent="0">
                        <a:buNone/>
                      </a:pPr>
                      <a:r>
                        <a:rPr lang="en-US" sz="1050" dirty="0">
                          <a:solidFill>
                            <a:srgbClr val="CADCFC"/>
                          </a:solidFill>
                          <a:latin typeface="Calibri" pitchFamily="34" charset="0"/>
                          <a:ea typeface="Calibri" pitchFamily="34" charset="-122"/>
                          <a:cs typeface="Calibri" pitchFamily="34" charset="-120"/>
                        </a:rPr>
                        <a:t>Agent Runtime</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Financial Agent Fleet</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NEAR AI Cloud (TEE) + Groq</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Reasoning calls; orchestration mocked &amp; labeled</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extLst>
                  <a:ext uri="{0D108BD9-81ED-4DB2-BD59-A6C34878D82A}">
                    <a16:rowId xmlns:a16="http://schemas.microsoft.com/office/drawing/2014/main" val="10001"/>
                  </a:ext>
                </a:extLst>
              </a:tr>
              <a:tr h="530352">
                <a:tc>
                  <a:txBody>
                    <a:bodyPr/>
                    <a:lstStyle/>
                    <a:p>
                      <a:pPr marL="0" indent="0">
                        <a:buNone/>
                      </a:pPr>
                      <a:r>
                        <a:rPr lang="en-US" sz="1050" dirty="0">
                          <a:solidFill>
                            <a:srgbClr val="CADCFC"/>
                          </a:solidFill>
                          <a:latin typeface="Calibri" pitchFamily="34" charset="0"/>
                          <a:ea typeface="Calibri" pitchFamily="34" charset="-122"/>
                          <a:cs typeface="Calibri" pitchFamily="34" charset="-120"/>
                        </a:rPr>
                        <a:t>Enforcement</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Aegis Gateway Proxy</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FastAPI (Python)</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Sole mandatory path to any banking API call</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extLst>
                  <a:ext uri="{0D108BD9-81ED-4DB2-BD59-A6C34878D82A}">
                    <a16:rowId xmlns:a16="http://schemas.microsoft.com/office/drawing/2014/main" val="10002"/>
                  </a:ext>
                </a:extLst>
              </a:tr>
              <a:tr h="530352">
                <a:tc>
                  <a:txBody>
                    <a:bodyPr/>
                    <a:lstStyle/>
                    <a:p>
                      <a:pPr marL="0" indent="0">
                        <a:buNone/>
                      </a:pPr>
                      <a:r>
                        <a:rPr lang="en-US" sz="1050" dirty="0">
                          <a:solidFill>
                            <a:srgbClr val="CADCFC"/>
                          </a:solidFill>
                          <a:latin typeface="Calibri" pitchFamily="34" charset="0"/>
                          <a:ea typeface="Calibri" pitchFamily="34" charset="-122"/>
                          <a:cs typeface="Calibri" pitchFamily="34" charset="-120"/>
                        </a:rPr>
                        <a:t>Policy</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Zero-Trust Policy Engine</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Open Policy Agent (Rego)</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Deny-by-default RBAC, evaluated in-memory</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extLst>
                  <a:ext uri="{0D108BD9-81ED-4DB2-BD59-A6C34878D82A}">
                    <a16:rowId xmlns:a16="http://schemas.microsoft.com/office/drawing/2014/main" val="10003"/>
                  </a:ext>
                </a:extLst>
              </a:tr>
              <a:tr h="530352">
                <a:tc>
                  <a:txBody>
                    <a:bodyPr/>
                    <a:lstStyle/>
                    <a:p>
                      <a:pPr marL="0" indent="0">
                        <a:buNone/>
                      </a:pPr>
                      <a:r>
                        <a:rPr lang="en-US" sz="1050" dirty="0">
                          <a:solidFill>
                            <a:srgbClr val="CADCFC"/>
                          </a:solidFill>
                          <a:latin typeface="Calibri" pitchFamily="34" charset="0"/>
                          <a:ea typeface="Calibri" pitchFamily="34" charset="-122"/>
                          <a:cs typeface="Calibri" pitchFamily="34" charset="-120"/>
                        </a:rPr>
                        <a:t>Budget</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Dynamic Spend Cap Engine</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Redis (Lua, INCRBYFLOAT)</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Per-agent &amp; fleet-wide real-time limits</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extLst>
                  <a:ext uri="{0D108BD9-81ED-4DB2-BD59-A6C34878D82A}">
                    <a16:rowId xmlns:a16="http://schemas.microsoft.com/office/drawing/2014/main" val="10004"/>
                  </a:ext>
                </a:extLst>
              </a:tr>
              <a:tr h="530352">
                <a:tc>
                  <a:txBody>
                    <a:bodyPr/>
                    <a:lstStyle/>
                    <a:p>
                      <a:pPr marL="0" indent="0">
                        <a:buNone/>
                      </a:pPr>
                      <a:r>
                        <a:rPr lang="en-US" sz="1050" dirty="0">
                          <a:solidFill>
                            <a:srgbClr val="CADCFC"/>
                          </a:solidFill>
                          <a:latin typeface="Calibri" pitchFamily="34" charset="0"/>
                          <a:ea typeface="Calibri" pitchFamily="34" charset="-122"/>
                          <a:cs typeface="Calibri" pitchFamily="34" charset="-120"/>
                        </a:rPr>
                        <a:t>Control</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Revocation &amp; Kill-Switch</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WebSocket + Redis Pub/Sub</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Instant single-agent or fleet-wide halt</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extLst>
                  <a:ext uri="{0D108BD9-81ED-4DB2-BD59-A6C34878D82A}">
                    <a16:rowId xmlns:a16="http://schemas.microsoft.com/office/drawing/2014/main" val="10005"/>
                  </a:ext>
                </a:extLst>
              </a:tr>
              <a:tr h="530352">
                <a:tc>
                  <a:txBody>
                    <a:bodyPr/>
                    <a:lstStyle/>
                    <a:p>
                      <a:pPr marL="0" indent="0">
                        <a:buNone/>
                      </a:pPr>
                      <a:r>
                        <a:rPr lang="en-US" sz="1050" dirty="0">
                          <a:solidFill>
                            <a:srgbClr val="CADCFC"/>
                          </a:solidFill>
                          <a:latin typeface="Calibri" pitchFamily="34" charset="0"/>
                          <a:ea typeface="Calibri" pitchFamily="34" charset="-122"/>
                          <a:cs typeface="Calibri" pitchFamily="34" charset="-120"/>
                        </a:rPr>
                        <a:t>Audit</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Immutable Ledger</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PostgreSQL, hash-chained</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Tamper-evident record of every decision</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21B3F"/>
                    </a:solidFill>
                  </a:tcPr>
                </a:tc>
                <a:extLst>
                  <a:ext uri="{0D108BD9-81ED-4DB2-BD59-A6C34878D82A}">
                    <a16:rowId xmlns:a16="http://schemas.microsoft.com/office/drawing/2014/main" val="10006"/>
                  </a:ext>
                </a:extLst>
              </a:tr>
              <a:tr h="530352">
                <a:tc>
                  <a:txBody>
                    <a:bodyPr/>
                    <a:lstStyle/>
                    <a:p>
                      <a:pPr marL="0" indent="0">
                        <a:buNone/>
                      </a:pPr>
                      <a:r>
                        <a:rPr lang="en-US" sz="1050" dirty="0">
                          <a:solidFill>
                            <a:srgbClr val="CADCFC"/>
                          </a:solidFill>
                          <a:latin typeface="Calibri" pitchFamily="34" charset="0"/>
                          <a:ea typeface="Calibri" pitchFamily="34" charset="-122"/>
                          <a:cs typeface="Calibri" pitchFamily="34" charset="-120"/>
                        </a:rPr>
                        <a:t>Interface</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Aegis Operator Console</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Next.js, Tailwind, WebSockets</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Live fleet view, caps editor, kill switch</a:t>
                      </a:r>
                      <a:endParaRPr lang="en-US" sz="1050" dirty="0">
                        <a:latin typeface="Calibri" charset="0"/>
                        <a:ea typeface="Calibri" charset="0"/>
                        <a:cs typeface="Calibri" charset="0"/>
                      </a:endParaRPr>
                    </a:p>
                  </a:txBody>
                  <a:tcPr marL="101600" marR="101600" marT="50800" marB="50800" anchor="ctr">
                    <a:lnL w="6350" cap="flat" cmpd="sng" algn="ctr">
                      <a:solidFill>
                        <a:srgbClr val="263569"/>
                      </a:solidFill>
                      <a:prstDash val="solid"/>
                      <a:round/>
                      <a:headEnd type="none" w="med" len="med"/>
                      <a:tailEnd type="none" w="med" len="med"/>
                    </a:lnL>
                    <a:lnR w="6350" cap="flat" cmpd="sng" algn="ctr">
                      <a:solidFill>
                        <a:srgbClr val="263569"/>
                      </a:solidFill>
                      <a:prstDash val="solid"/>
                      <a:round/>
                      <a:headEnd type="none" w="med" len="med"/>
                      <a:tailEnd type="none" w="med" len="med"/>
                    </a:lnR>
                    <a:lnT w="6350" cap="flat" cmpd="sng" algn="ctr">
                      <a:solidFill>
                        <a:srgbClr val="263569"/>
                      </a:solidFill>
                      <a:prstDash val="solid"/>
                      <a:round/>
                      <a:headEnd type="none" w="med" len="med"/>
                      <a:tailEnd type="none" w="med" len="med"/>
                    </a:lnT>
                    <a:lnB w="6350" cap="flat" cmpd="sng" algn="ctr">
                      <a:solidFill>
                        <a:srgbClr val="263569"/>
                      </a:solidFill>
                      <a:prstDash val="solid"/>
                      <a:round/>
                      <a:headEnd type="none" w="med" len="med"/>
                      <a:tailEnd type="none" w="med" len="med"/>
                    </a:lnB>
                    <a:solidFill>
                      <a:srgbClr val="17224C"/>
                    </a:solidFill>
                  </a:tcPr>
                </a:tc>
                <a:extLst>
                  <a:ext uri="{0D108BD9-81ED-4DB2-BD59-A6C34878D82A}">
                    <a16:rowId xmlns:a16="http://schemas.microsoft.com/office/drawing/2014/main" val="10007"/>
                  </a:ext>
                </a:extLst>
              </a:tr>
            </a:tbl>
          </a:graphicData>
        </a:graphic>
      </p:graphicFrame>
      <p:sp>
        <p:nvSpPr>
          <p:cNvPr id="6" name="Text 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5" name="Text 4"/>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Technology Stack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TECHNICAL DETAILS  ·  FEATURE DEEP DIVE</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Permissions &amp; Dynamic Budgeting</a:t>
            </a:r>
            <a:endParaRPr lang="en-US" sz="2700" dirty="0"/>
          </a:p>
        </p:txBody>
      </p:sp>
      <p:sp>
        <p:nvSpPr>
          <p:cNvPr id="5" name="Shape 3"/>
          <p:cNvSpPr/>
          <p:nvPr/>
        </p:nvSpPr>
        <p:spPr>
          <a:xfrm>
            <a:off x="548640" y="1737360"/>
            <a:ext cx="5394960" cy="4434840"/>
          </a:xfrm>
          <a:prstGeom prst="roundRect">
            <a:avLst>
              <a:gd name="adj" fmla="val 2062"/>
            </a:avLst>
          </a:prstGeom>
          <a:solidFill>
            <a:srgbClr val="121B3F"/>
          </a:solidFill>
          <a:ln w="12700">
            <a:solidFill>
              <a:srgbClr val="263569"/>
            </a:solidFill>
            <a:prstDash val="solid"/>
          </a:ln>
        </p:spPr>
      </p:sp>
      <p:sp>
        <p:nvSpPr>
          <p:cNvPr id="6" name="Text 4"/>
          <p:cNvSpPr/>
          <p:nvPr/>
        </p:nvSpPr>
        <p:spPr>
          <a:xfrm>
            <a:off x="822960" y="1920240"/>
            <a:ext cx="4846320" cy="548640"/>
          </a:xfrm>
          <a:prstGeom prst="rect">
            <a:avLst/>
          </a:prstGeom>
          <a:noFill/>
          <a:ln/>
        </p:spPr>
        <p:txBody>
          <a:bodyPr wrap="square" lIns="0" tIns="0" rIns="0" bIns="0" rtlCol="0" anchor="ctr"/>
          <a:lstStyle/>
          <a:p>
            <a:pPr marL="0" indent="0">
              <a:lnSpc>
                <a:spcPct val="110000"/>
              </a:lnSpc>
              <a:buNone/>
            </a:pPr>
            <a:r>
              <a:rPr lang="en-US" sz="1500" b="1" dirty="0">
                <a:solidFill>
                  <a:srgbClr val="FFFFFF"/>
                </a:solidFill>
                <a:latin typeface="Calibri" pitchFamily="34" charset="0"/>
                <a:ea typeface="Calibri" pitchFamily="34" charset="-122"/>
                <a:cs typeface="Calibri" pitchFamily="34" charset="-120"/>
              </a:rPr>
              <a:t>Granular Role-Based Permissioning (RBAC)</a:t>
            </a:r>
            <a:endParaRPr lang="en-US" sz="1500" dirty="0"/>
          </a:p>
        </p:txBody>
      </p:sp>
      <p:sp>
        <p:nvSpPr>
          <p:cNvPr id="7" name="Text 5"/>
          <p:cNvSpPr/>
          <p:nvPr/>
        </p:nvSpPr>
        <p:spPr>
          <a:xfrm>
            <a:off x="822960" y="2514600"/>
            <a:ext cx="4846320" cy="1371600"/>
          </a:xfrm>
          <a:prstGeom prst="rect">
            <a:avLst/>
          </a:prstGeom>
          <a:noFill/>
          <a:ln/>
        </p:spPr>
        <p:txBody>
          <a:bodyPr wrap="square" lIns="0" tIns="0" rIns="0" bIns="0" rtlCol="0" anchor="ctr"/>
          <a:lstStyle/>
          <a:p>
            <a:pPr marL="0" indent="0">
              <a:lnSpc>
                <a:spcPct val="125000"/>
              </a:lnSpc>
              <a:buNone/>
            </a:pPr>
            <a:r>
              <a:rPr lang="en-US" sz="1200" dirty="0">
                <a:solidFill>
                  <a:srgbClr val="9AA6C9"/>
                </a:solidFill>
                <a:latin typeface="Calibri" pitchFamily="34" charset="0"/>
                <a:ea typeface="Calibri" pitchFamily="34" charset="-122"/>
                <a:cs typeface="Calibri" pitchFamily="34" charset="-120"/>
              </a:rPr>
              <a:t>Each agent is issued a scoped identity — a role today (Wealth Advisory, Trading, Servicing), extensible to attributes like risk tier and jurisdiction. Rego policies in OPA evaluate every action request in real time. Nothing is permitted by default; every capability is an explicit grant.</a:t>
            </a:r>
            <a:endParaRPr lang="en-US" sz="1200" dirty="0"/>
          </a:p>
        </p:txBody>
      </p:sp>
      <p:sp>
        <p:nvSpPr>
          <p:cNvPr id="8" name="Shape 6"/>
          <p:cNvSpPr/>
          <p:nvPr/>
        </p:nvSpPr>
        <p:spPr>
          <a:xfrm>
            <a:off x="822960" y="3977640"/>
            <a:ext cx="4846320" cy="2011680"/>
          </a:xfrm>
          <a:prstGeom prst="roundRect">
            <a:avLst>
              <a:gd name="adj" fmla="val 2727"/>
            </a:avLst>
          </a:prstGeom>
          <a:solidFill>
            <a:srgbClr val="070C22"/>
          </a:solidFill>
          <a:ln w="12700">
            <a:solidFill>
              <a:srgbClr val="263569"/>
            </a:solidFill>
            <a:prstDash val="solid"/>
          </a:ln>
        </p:spPr>
      </p:sp>
      <p:sp>
        <p:nvSpPr>
          <p:cNvPr id="9" name="Text 7"/>
          <p:cNvSpPr/>
          <p:nvPr/>
        </p:nvSpPr>
        <p:spPr>
          <a:xfrm>
            <a:off x="1005840" y="4114800"/>
            <a:ext cx="4480560" cy="1737360"/>
          </a:xfrm>
          <a:prstGeom prst="rect">
            <a:avLst/>
          </a:prstGeom>
          <a:noFill/>
          <a:ln/>
        </p:spPr>
        <p:txBody>
          <a:bodyPr wrap="square" lIns="0" tIns="0" rIns="0" bIns="0" rtlCol="0" anchor="ctr"/>
          <a:lstStyle/>
          <a:p>
            <a:pPr marL="0" indent="0">
              <a:lnSpc>
                <a:spcPct val="130000"/>
              </a:lnSpc>
              <a:buNone/>
            </a:pPr>
            <a:r>
              <a:rPr lang="en-US" sz="1150" dirty="0">
                <a:solidFill>
                  <a:srgbClr val="6C7BB0"/>
                </a:solidFill>
                <a:latin typeface="Courier New" pitchFamily="34" charset="0"/>
                <a:ea typeface="Courier New" pitchFamily="34" charset="-122"/>
                <a:cs typeface="Courier New" pitchFamily="34" charset="-120"/>
              </a:rPr>
              <a:t>package aegis.authz
</a:t>
            </a:r>
            <a:r>
              <a:rPr lang="en-US" sz="1150" dirty="0">
                <a:solidFill>
                  <a:srgbClr val="5B8DFF"/>
                </a:solidFill>
                <a:latin typeface="Courier New" pitchFamily="34" charset="0"/>
                <a:ea typeface="Courier New" pitchFamily="34" charset="-122"/>
                <a:cs typeface="Courier New" pitchFamily="34" charset="-120"/>
              </a:rPr>
              <a:t>default allow := false
</a:t>
            </a:r>
            <a:r>
              <a:rPr lang="en-US" sz="1150" dirty="0">
                <a:solidFill>
                  <a:srgbClr val="CADCFC"/>
                </a:solidFill>
                <a:latin typeface="Courier New" pitchFamily="34" charset="0"/>
                <a:ea typeface="Courier New" pitchFamily="34" charset="-122"/>
                <a:cs typeface="Courier New" pitchFamily="34" charset="-120"/>
              </a:rPr>
              <a:t>allow if {</a:t>
            </a:r>
            <a:endParaRPr lang="en-US" sz="1150" dirty="0"/>
          </a:p>
          <a:p>
            <a:pPr marL="0" indent="0">
              <a:lnSpc>
                <a:spcPct val="130000"/>
              </a:lnSpc>
              <a:buNone/>
            </a:pPr>
            <a:r>
              <a:rPr lang="en-US" sz="1150" dirty="0">
                <a:solidFill>
                  <a:srgbClr val="CADCFC"/>
                </a:solidFill>
                <a:latin typeface="Courier New" pitchFamily="34" charset="0"/>
                <a:ea typeface="Courier New" pitchFamily="34" charset="-122"/>
                <a:cs typeface="Courier New" pitchFamily="34" charset="-120"/>
              </a:rPr>
              <a:t>    input.action in</a:t>
            </a:r>
            <a:endParaRPr lang="en-US" sz="1150" dirty="0"/>
          </a:p>
          <a:p>
            <a:pPr marL="0" indent="0">
              <a:lnSpc>
                <a:spcPct val="130000"/>
              </a:lnSpc>
              <a:buNone/>
            </a:pPr>
            <a:r>
              <a:rPr lang="en-US" sz="1150" dirty="0">
                <a:solidFill>
                  <a:srgbClr val="CADCFC"/>
                </a:solidFill>
                <a:latin typeface="Courier New" pitchFamily="34" charset="0"/>
                <a:ea typeface="Courier New" pitchFamily="34" charset="-122"/>
                <a:cs typeface="Courier New" pitchFamily="34" charset="-120"/>
              </a:rPr>
              <a:t>      data.permissions[input.agent.role]</a:t>
            </a:r>
            <a:endParaRPr lang="en-US" sz="1150" dirty="0"/>
          </a:p>
          <a:p>
            <a:pPr marL="0" indent="0">
              <a:lnSpc>
                <a:spcPct val="130000"/>
              </a:lnSpc>
              <a:buNone/>
            </a:pPr>
            <a:r>
              <a:rPr lang="en-US" sz="1150" dirty="0">
                <a:solidFill>
                  <a:srgbClr val="CADCFC"/>
                </a:solidFill>
                <a:latin typeface="Courier New" pitchFamily="34" charset="0"/>
                <a:ea typeface="Courier New" pitchFamily="34" charset="-122"/>
                <a:cs typeface="Courier New" pitchFamily="34" charset="-120"/>
              </a:rPr>
              <a:t>}</a:t>
            </a:r>
            <a:endParaRPr lang="en-US" sz="1150" dirty="0"/>
          </a:p>
        </p:txBody>
      </p:sp>
      <p:sp>
        <p:nvSpPr>
          <p:cNvPr id="10" name="Shape 8"/>
          <p:cNvSpPr/>
          <p:nvPr/>
        </p:nvSpPr>
        <p:spPr>
          <a:xfrm>
            <a:off x="6217920" y="1737360"/>
            <a:ext cx="5394960" cy="4434840"/>
          </a:xfrm>
          <a:prstGeom prst="roundRect">
            <a:avLst>
              <a:gd name="adj" fmla="val 2062"/>
            </a:avLst>
          </a:prstGeom>
          <a:solidFill>
            <a:srgbClr val="17224C"/>
          </a:solidFill>
          <a:ln w="12700">
            <a:solidFill>
              <a:srgbClr val="263569"/>
            </a:solidFill>
            <a:prstDash val="solid"/>
          </a:ln>
        </p:spPr>
      </p:sp>
      <p:sp>
        <p:nvSpPr>
          <p:cNvPr id="11" name="Text 9"/>
          <p:cNvSpPr/>
          <p:nvPr/>
        </p:nvSpPr>
        <p:spPr>
          <a:xfrm>
            <a:off x="6492240" y="1920240"/>
            <a:ext cx="4846320" cy="5486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Dynamic Spend Cap Engine</a:t>
            </a:r>
            <a:endParaRPr lang="en-US" sz="1500" dirty="0"/>
          </a:p>
        </p:txBody>
      </p:sp>
      <p:sp>
        <p:nvSpPr>
          <p:cNvPr id="12" name="Text 10"/>
          <p:cNvSpPr/>
          <p:nvPr/>
        </p:nvSpPr>
        <p:spPr>
          <a:xfrm>
            <a:off x="6492240" y="2514600"/>
            <a:ext cx="4846320" cy="1188720"/>
          </a:xfrm>
          <a:prstGeom prst="rect">
            <a:avLst/>
          </a:prstGeom>
          <a:noFill/>
          <a:ln/>
        </p:spPr>
        <p:txBody>
          <a:bodyPr wrap="square" lIns="0" tIns="0" rIns="0" bIns="0" rtlCol="0" anchor="ctr"/>
          <a:lstStyle/>
          <a:p>
            <a:pPr marL="0" indent="0">
              <a:lnSpc>
                <a:spcPct val="125000"/>
              </a:lnSpc>
              <a:buNone/>
            </a:pPr>
            <a:r>
              <a:rPr lang="en-US" sz="1200" dirty="0">
                <a:solidFill>
                  <a:srgbClr val="9AA6C9"/>
                </a:solidFill>
                <a:latin typeface="Calibri" pitchFamily="34" charset="0"/>
                <a:ea typeface="Calibri" pitchFamily="34" charset="-122"/>
                <a:cs typeface="Calibri" pitchFamily="34" charset="-120"/>
              </a:rPr>
              <a:t>Redis maintains live counters per agent using atomic INCRBYFLOAT and Lua scripting — concurrent requests can never race past a limit. Caps are hot-reloadable: an operator tightens a budget mid-session with no agent restart required.</a:t>
            </a:r>
            <a:endParaRPr lang="en-US" sz="1200" dirty="0"/>
          </a:p>
        </p:txBody>
      </p:sp>
      <p:sp>
        <p:nvSpPr>
          <p:cNvPr id="13" name="Shape 11"/>
          <p:cNvSpPr/>
          <p:nvPr/>
        </p:nvSpPr>
        <p:spPr>
          <a:xfrm>
            <a:off x="6492240" y="3794760"/>
            <a:ext cx="4846320" cy="621792"/>
          </a:xfrm>
          <a:prstGeom prst="roundRect">
            <a:avLst>
              <a:gd name="adj" fmla="val 8824"/>
            </a:avLst>
          </a:prstGeom>
          <a:solidFill>
            <a:srgbClr val="0E1638"/>
          </a:solidFill>
          <a:ln/>
        </p:spPr>
      </p:sp>
      <p:sp>
        <p:nvSpPr>
          <p:cNvPr id="14" name="Text 12"/>
          <p:cNvSpPr/>
          <p:nvPr/>
        </p:nvSpPr>
        <p:spPr>
          <a:xfrm>
            <a:off x="6675120" y="3849624"/>
            <a:ext cx="3017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Wealth Advisory Agent</a:t>
            </a:r>
            <a:endParaRPr lang="en-US" sz="1150" dirty="0"/>
          </a:p>
        </p:txBody>
      </p:sp>
      <p:sp>
        <p:nvSpPr>
          <p:cNvPr id="15" name="Shape 13"/>
          <p:cNvSpPr/>
          <p:nvPr/>
        </p:nvSpPr>
        <p:spPr>
          <a:xfrm>
            <a:off x="8869680" y="3922776"/>
            <a:ext cx="2331720" cy="384048"/>
          </a:xfrm>
          <a:prstGeom prst="roundRect">
            <a:avLst>
              <a:gd name="adj" fmla="val 50000"/>
            </a:avLst>
          </a:prstGeom>
          <a:solidFill>
            <a:srgbClr val="1B3A2C"/>
          </a:solidFill>
          <a:ln/>
        </p:spPr>
      </p:sp>
      <p:sp>
        <p:nvSpPr>
          <p:cNvPr id="16" name="Text 14"/>
          <p:cNvSpPr/>
          <p:nvPr/>
        </p:nvSpPr>
        <p:spPr>
          <a:xfrm>
            <a:off x="8869680" y="3922776"/>
            <a:ext cx="2331720" cy="384048"/>
          </a:xfrm>
          <a:prstGeom prst="rect">
            <a:avLst/>
          </a:prstGeom>
          <a:noFill/>
          <a:ln/>
        </p:spPr>
        <p:txBody>
          <a:bodyPr wrap="square" lIns="0" tIns="0" rIns="0" bIns="0" rtlCol="0" anchor="ctr"/>
          <a:lstStyle/>
          <a:p>
            <a:pPr marL="0" indent="0" algn="ctr">
              <a:buNone/>
            </a:pPr>
            <a:r>
              <a:rPr lang="en-US" sz="1000" b="1" dirty="0">
                <a:solidFill>
                  <a:srgbClr val="34C77B"/>
                </a:solidFill>
                <a:latin typeface="Calibri" pitchFamily="34" charset="0"/>
                <a:ea typeface="Calibri" pitchFamily="34" charset="-122"/>
                <a:cs typeface="Calibri" pitchFamily="34" charset="-120"/>
              </a:rPr>
              <a:t>$4,200 / $10,000 daily</a:t>
            </a:r>
            <a:endParaRPr lang="en-US" sz="1000" dirty="0"/>
          </a:p>
        </p:txBody>
      </p:sp>
      <p:sp>
        <p:nvSpPr>
          <p:cNvPr id="17" name="Shape 15"/>
          <p:cNvSpPr/>
          <p:nvPr/>
        </p:nvSpPr>
        <p:spPr>
          <a:xfrm>
            <a:off x="6492240" y="4572000"/>
            <a:ext cx="4846320" cy="621792"/>
          </a:xfrm>
          <a:prstGeom prst="roundRect">
            <a:avLst>
              <a:gd name="adj" fmla="val 8824"/>
            </a:avLst>
          </a:prstGeom>
          <a:solidFill>
            <a:srgbClr val="0E1638"/>
          </a:solidFill>
          <a:ln/>
        </p:spPr>
      </p:sp>
      <p:sp>
        <p:nvSpPr>
          <p:cNvPr id="18" name="Text 16"/>
          <p:cNvSpPr/>
          <p:nvPr/>
        </p:nvSpPr>
        <p:spPr>
          <a:xfrm>
            <a:off x="6675120" y="4626864"/>
            <a:ext cx="3017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High-Frequency Trader</a:t>
            </a:r>
            <a:endParaRPr lang="en-US" sz="1150" dirty="0"/>
          </a:p>
        </p:txBody>
      </p:sp>
      <p:sp>
        <p:nvSpPr>
          <p:cNvPr id="19" name="Shape 17"/>
          <p:cNvSpPr/>
          <p:nvPr/>
        </p:nvSpPr>
        <p:spPr>
          <a:xfrm>
            <a:off x="8869680" y="4700016"/>
            <a:ext cx="2331720" cy="384048"/>
          </a:xfrm>
          <a:prstGeom prst="roundRect">
            <a:avLst>
              <a:gd name="adj" fmla="val 50000"/>
            </a:avLst>
          </a:prstGeom>
          <a:solidFill>
            <a:srgbClr val="1B3A2C"/>
          </a:solidFill>
          <a:ln/>
        </p:spPr>
      </p:sp>
      <p:sp>
        <p:nvSpPr>
          <p:cNvPr id="20" name="Text 18"/>
          <p:cNvSpPr/>
          <p:nvPr/>
        </p:nvSpPr>
        <p:spPr>
          <a:xfrm>
            <a:off x="8869680" y="4700016"/>
            <a:ext cx="2331720" cy="384048"/>
          </a:xfrm>
          <a:prstGeom prst="rect">
            <a:avLst/>
          </a:prstGeom>
          <a:noFill/>
          <a:ln/>
        </p:spPr>
        <p:txBody>
          <a:bodyPr wrap="square" lIns="0" tIns="0" rIns="0" bIns="0" rtlCol="0" anchor="ctr"/>
          <a:lstStyle/>
          <a:p>
            <a:pPr marL="0" indent="0" algn="ctr">
              <a:buNone/>
            </a:pPr>
            <a:r>
              <a:rPr lang="en-US" sz="1000" b="1" dirty="0">
                <a:solidFill>
                  <a:srgbClr val="34C77B"/>
                </a:solidFill>
                <a:latin typeface="Calibri" pitchFamily="34" charset="0"/>
                <a:ea typeface="Calibri" pitchFamily="34" charset="-122"/>
                <a:cs typeface="Calibri" pitchFamily="34" charset="-120"/>
              </a:rPr>
              <a:t>$18,900 / $25,000 daily</a:t>
            </a:r>
            <a:endParaRPr lang="en-US" sz="1000" dirty="0"/>
          </a:p>
        </p:txBody>
      </p:sp>
      <p:sp>
        <p:nvSpPr>
          <p:cNvPr id="21" name="Shape 19"/>
          <p:cNvSpPr/>
          <p:nvPr/>
        </p:nvSpPr>
        <p:spPr>
          <a:xfrm>
            <a:off x="6492240" y="5349240"/>
            <a:ext cx="4846320" cy="621792"/>
          </a:xfrm>
          <a:prstGeom prst="roundRect">
            <a:avLst>
              <a:gd name="adj" fmla="val 8824"/>
            </a:avLst>
          </a:prstGeom>
          <a:solidFill>
            <a:srgbClr val="0E1638"/>
          </a:solidFill>
          <a:ln/>
        </p:spPr>
      </p:sp>
      <p:sp>
        <p:nvSpPr>
          <p:cNvPr id="22" name="Text 20"/>
          <p:cNvSpPr/>
          <p:nvPr/>
        </p:nvSpPr>
        <p:spPr>
          <a:xfrm>
            <a:off x="6675120" y="5404104"/>
            <a:ext cx="3017520" cy="27432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Rogue / Anomaly Agent</a:t>
            </a:r>
            <a:endParaRPr lang="en-US" sz="1150" dirty="0"/>
          </a:p>
        </p:txBody>
      </p:sp>
      <p:sp>
        <p:nvSpPr>
          <p:cNvPr id="23" name="Shape 21"/>
          <p:cNvSpPr/>
          <p:nvPr/>
        </p:nvSpPr>
        <p:spPr>
          <a:xfrm>
            <a:off x="8869680" y="5477256"/>
            <a:ext cx="2331720" cy="384048"/>
          </a:xfrm>
          <a:prstGeom prst="roundRect">
            <a:avLst>
              <a:gd name="adj" fmla="val 50000"/>
            </a:avLst>
          </a:prstGeom>
          <a:solidFill>
            <a:srgbClr val="3A1B2C"/>
          </a:solidFill>
          <a:ln/>
        </p:spPr>
      </p:sp>
      <p:sp>
        <p:nvSpPr>
          <p:cNvPr id="24" name="Text 22"/>
          <p:cNvSpPr/>
          <p:nvPr/>
        </p:nvSpPr>
        <p:spPr>
          <a:xfrm>
            <a:off x="8869680" y="5477256"/>
            <a:ext cx="2331720" cy="384048"/>
          </a:xfrm>
          <a:prstGeom prst="rect">
            <a:avLst/>
          </a:prstGeom>
          <a:noFill/>
          <a:ln/>
        </p:spPr>
        <p:txBody>
          <a:bodyPr wrap="square" lIns="0" tIns="0" rIns="0" bIns="0" rtlCol="0" anchor="ctr"/>
          <a:lstStyle/>
          <a:p>
            <a:pPr marL="0" indent="0" algn="ctr">
              <a:buNone/>
            </a:pPr>
            <a:r>
              <a:rPr lang="en-US" sz="1000" b="1" dirty="0">
                <a:solidFill>
                  <a:srgbClr val="E5566D"/>
                </a:solidFill>
                <a:latin typeface="Calibri" pitchFamily="34" charset="0"/>
                <a:ea typeface="Calibri" pitchFamily="34" charset="-122"/>
                <a:cs typeface="Calibri" pitchFamily="34" charset="-120"/>
              </a:rPr>
              <a:t>BLOCKED — cap exceeded</a:t>
            </a:r>
            <a:endParaRPr lang="en-US" sz="1000" dirty="0"/>
          </a:p>
        </p:txBody>
      </p:sp>
      <p:sp>
        <p:nvSpPr>
          <p:cNvPr id="25" name="Text 2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26" name="Text 24"/>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Permissions &amp; Budgeting   ·   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TECHNICAL DETAILS  ·  FEATURE DEEP DIVE</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One Click. Every Agent. Zero Delay.</a:t>
            </a:r>
            <a:endParaRPr lang="en-US" sz="2700" dirty="0"/>
          </a:p>
        </p:txBody>
      </p:sp>
      <p:sp>
        <p:nvSpPr>
          <p:cNvPr id="5" name="Shape 3"/>
          <p:cNvSpPr/>
          <p:nvPr/>
        </p:nvSpPr>
        <p:spPr>
          <a:xfrm>
            <a:off x="548640" y="1783080"/>
            <a:ext cx="6583680" cy="4389120"/>
          </a:xfrm>
          <a:prstGeom prst="roundRect">
            <a:avLst>
              <a:gd name="adj" fmla="val 2083"/>
            </a:avLst>
          </a:prstGeom>
          <a:solidFill>
            <a:srgbClr val="121B3F"/>
          </a:solidFill>
          <a:ln w="12700">
            <a:solidFill>
              <a:srgbClr val="263569"/>
            </a:solidFill>
            <a:prstDash val="solid"/>
          </a:ln>
        </p:spPr>
      </p:sp>
      <p:sp>
        <p:nvSpPr>
          <p:cNvPr id="6" name="Text 4"/>
          <p:cNvSpPr/>
          <p:nvPr/>
        </p:nvSpPr>
        <p:spPr>
          <a:xfrm>
            <a:off x="822960" y="1965960"/>
            <a:ext cx="603504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Kill Switch &amp; Revocation</a:t>
            </a:r>
            <a:endParaRPr lang="en-US" sz="1600" dirty="0"/>
          </a:p>
        </p:txBody>
      </p:sp>
      <p:sp>
        <p:nvSpPr>
          <p:cNvPr id="7" name="Text 5"/>
          <p:cNvSpPr/>
          <p:nvPr/>
        </p:nvSpPr>
        <p:spPr>
          <a:xfrm>
            <a:off x="822960" y="2468880"/>
            <a:ext cx="6035040" cy="457200"/>
          </a:xfrm>
          <a:prstGeom prst="rect">
            <a:avLst/>
          </a:prstGeom>
          <a:noFill/>
          <a:ln/>
        </p:spPr>
        <p:txBody>
          <a:bodyPr wrap="square" lIns="0" tIns="0" rIns="0" bIns="0" rtlCol="0" anchor="ctr"/>
          <a:lstStyle/>
          <a:p>
            <a:pPr marL="0" indent="0">
              <a:lnSpc>
                <a:spcPct val="120000"/>
              </a:lnSpc>
              <a:buNone/>
            </a:pPr>
            <a:r>
              <a:rPr lang="en-US" sz="1250" dirty="0">
                <a:solidFill>
                  <a:srgbClr val="CADCFC"/>
                </a:solidFill>
                <a:latin typeface="Calibri" pitchFamily="34" charset="0"/>
                <a:ea typeface="Calibri" pitchFamily="34" charset="-122"/>
                <a:cs typeface="Calibri" pitchFamily="34" charset="-120"/>
              </a:rPr>
              <a:t>Single-agent revocation or fleet-wide halt from one control — no per-agent shutdown script.</a:t>
            </a:r>
            <a:endParaRPr lang="en-US" sz="1250" dirty="0"/>
          </a:p>
        </p:txBody>
      </p:sp>
      <p:sp>
        <p:nvSpPr>
          <p:cNvPr id="8" name="Shape 6"/>
          <p:cNvSpPr/>
          <p:nvPr/>
        </p:nvSpPr>
        <p:spPr>
          <a:xfrm>
            <a:off x="822960" y="3063240"/>
            <a:ext cx="274320" cy="274320"/>
          </a:xfrm>
          <a:prstGeom prst="ellipse">
            <a:avLst/>
          </a:prstGeom>
          <a:solidFill>
            <a:srgbClr val="0E1638"/>
          </a:solidFill>
          <a:ln/>
        </p:spPr>
      </p:sp>
      <p:sp>
        <p:nvSpPr>
          <p:cNvPr id="9" name="Text 7"/>
          <p:cNvSpPr/>
          <p:nvPr/>
        </p:nvSpPr>
        <p:spPr>
          <a:xfrm>
            <a:off x="822960" y="3063240"/>
            <a:ext cx="274320" cy="274320"/>
          </a:xfrm>
          <a:prstGeom prst="rect">
            <a:avLst/>
          </a:prstGeom>
          <a:noFill/>
          <a:ln/>
        </p:spPr>
        <p:txBody>
          <a:bodyPr wrap="square" lIns="0" tIns="0" rIns="0" bIns="0" rtlCol="0" anchor="ctr"/>
          <a:lstStyle/>
          <a:p>
            <a:pPr marL="0" indent="0" algn="ctr">
              <a:buNone/>
            </a:pPr>
            <a:r>
              <a:rPr lang="en-US" sz="1100" b="1" dirty="0">
                <a:solidFill>
                  <a:srgbClr val="5B8DFF"/>
                </a:solidFill>
                <a:latin typeface="Calibri" pitchFamily="34" charset="0"/>
                <a:ea typeface="Calibri" pitchFamily="34" charset="-122"/>
                <a:cs typeface="Calibri" pitchFamily="34" charset="-120"/>
              </a:rPr>
              <a:t>●</a:t>
            </a:r>
            <a:endParaRPr lang="en-US" sz="1100" dirty="0"/>
          </a:p>
        </p:txBody>
      </p:sp>
      <p:sp>
        <p:nvSpPr>
          <p:cNvPr id="10" name="Text 8"/>
          <p:cNvSpPr/>
          <p:nvPr/>
        </p:nvSpPr>
        <p:spPr>
          <a:xfrm>
            <a:off x="1234440" y="3008376"/>
            <a:ext cx="5760720" cy="685800"/>
          </a:xfrm>
          <a:prstGeom prst="rect">
            <a:avLst/>
          </a:prstGeom>
          <a:noFill/>
          <a:ln/>
        </p:spPr>
        <p:txBody>
          <a:bodyPr wrap="square" lIns="0" tIns="0" rIns="0" bIns="0" rtlCol="0" anchor="ctr"/>
          <a:lstStyle/>
          <a:p>
            <a:pPr marL="0" indent="0">
              <a:lnSpc>
                <a:spcPct val="120000"/>
              </a:lnSpc>
              <a:buNone/>
            </a:pPr>
            <a:r>
              <a:rPr lang="en-US" sz="1150" dirty="0">
                <a:solidFill>
                  <a:srgbClr val="9AA6C9"/>
                </a:solidFill>
                <a:latin typeface="Calibri" pitchFamily="34" charset="0"/>
                <a:ea typeface="Calibri" pitchFamily="34" charset="-122"/>
                <a:cs typeface="Calibri" pitchFamily="34" charset="-120"/>
              </a:rPr>
              <a:t>WebSocket control channel backed by Redis Pub/Sub broadcasts the signal to every open connection simultaneously.</a:t>
            </a:r>
            <a:endParaRPr lang="en-US" sz="1150" dirty="0"/>
          </a:p>
        </p:txBody>
      </p:sp>
      <p:sp>
        <p:nvSpPr>
          <p:cNvPr id="11" name="Shape 9"/>
          <p:cNvSpPr/>
          <p:nvPr/>
        </p:nvSpPr>
        <p:spPr>
          <a:xfrm>
            <a:off x="822960" y="3840480"/>
            <a:ext cx="274320" cy="274320"/>
          </a:xfrm>
          <a:prstGeom prst="ellipse">
            <a:avLst/>
          </a:prstGeom>
          <a:solidFill>
            <a:srgbClr val="0E1638"/>
          </a:solidFill>
          <a:ln/>
        </p:spPr>
      </p:sp>
      <p:sp>
        <p:nvSpPr>
          <p:cNvPr id="12" name="Text 10"/>
          <p:cNvSpPr/>
          <p:nvPr/>
        </p:nvSpPr>
        <p:spPr>
          <a:xfrm>
            <a:off x="822960" y="3840480"/>
            <a:ext cx="274320" cy="274320"/>
          </a:xfrm>
          <a:prstGeom prst="rect">
            <a:avLst/>
          </a:prstGeom>
          <a:noFill/>
          <a:ln/>
        </p:spPr>
        <p:txBody>
          <a:bodyPr wrap="square" lIns="0" tIns="0" rIns="0" bIns="0" rtlCol="0" anchor="ctr"/>
          <a:lstStyle/>
          <a:p>
            <a:pPr marL="0" indent="0" algn="ctr">
              <a:buNone/>
            </a:pPr>
            <a:r>
              <a:rPr lang="en-US" sz="1100" b="1" dirty="0">
                <a:solidFill>
                  <a:srgbClr val="5B8DFF"/>
                </a:solidFill>
                <a:latin typeface="Calibri" pitchFamily="34" charset="0"/>
                <a:ea typeface="Calibri" pitchFamily="34" charset="-122"/>
                <a:cs typeface="Calibri" pitchFamily="34" charset="-120"/>
              </a:rPr>
              <a:t>●</a:t>
            </a:r>
            <a:endParaRPr lang="en-US" sz="1100" dirty="0"/>
          </a:p>
        </p:txBody>
      </p:sp>
      <p:sp>
        <p:nvSpPr>
          <p:cNvPr id="13" name="Text 11"/>
          <p:cNvSpPr/>
          <p:nvPr/>
        </p:nvSpPr>
        <p:spPr>
          <a:xfrm>
            <a:off x="1234440" y="3785616"/>
            <a:ext cx="5760720" cy="685800"/>
          </a:xfrm>
          <a:prstGeom prst="rect">
            <a:avLst/>
          </a:prstGeom>
          <a:noFill/>
          <a:ln/>
        </p:spPr>
        <p:txBody>
          <a:bodyPr wrap="square" lIns="0" tIns="0" rIns="0" bIns="0" rtlCol="0" anchor="ctr"/>
          <a:lstStyle/>
          <a:p>
            <a:pPr marL="0" indent="0">
              <a:lnSpc>
                <a:spcPct val="120000"/>
              </a:lnSpc>
              <a:buNone/>
            </a:pPr>
            <a:r>
              <a:rPr lang="en-US" sz="1150" dirty="0">
                <a:solidFill>
                  <a:srgbClr val="9AA6C9"/>
                </a:solidFill>
                <a:latin typeface="Calibri" pitchFamily="34" charset="0"/>
                <a:ea typeface="Calibri" pitchFamily="34" charset="-122"/>
                <a:cs typeface="Calibri" pitchFamily="34" charset="-120"/>
              </a:rPr>
              <a:t>Enforced at the Aegis Gateway itself — a revoked agent's next request is denied before it reaches any banking API.</a:t>
            </a:r>
            <a:endParaRPr lang="en-US" sz="1150" dirty="0"/>
          </a:p>
        </p:txBody>
      </p:sp>
      <p:sp>
        <p:nvSpPr>
          <p:cNvPr id="14" name="Shape 12"/>
          <p:cNvSpPr/>
          <p:nvPr/>
        </p:nvSpPr>
        <p:spPr>
          <a:xfrm>
            <a:off x="822960" y="4617720"/>
            <a:ext cx="274320" cy="274320"/>
          </a:xfrm>
          <a:prstGeom prst="ellipse">
            <a:avLst/>
          </a:prstGeom>
          <a:solidFill>
            <a:srgbClr val="0E1638"/>
          </a:solidFill>
          <a:ln/>
        </p:spPr>
      </p:sp>
      <p:sp>
        <p:nvSpPr>
          <p:cNvPr id="15" name="Text 13"/>
          <p:cNvSpPr/>
          <p:nvPr/>
        </p:nvSpPr>
        <p:spPr>
          <a:xfrm>
            <a:off x="822960" y="4617720"/>
            <a:ext cx="274320" cy="274320"/>
          </a:xfrm>
          <a:prstGeom prst="rect">
            <a:avLst/>
          </a:prstGeom>
          <a:noFill/>
          <a:ln/>
        </p:spPr>
        <p:txBody>
          <a:bodyPr wrap="square" lIns="0" tIns="0" rIns="0" bIns="0" rtlCol="0" anchor="ctr"/>
          <a:lstStyle/>
          <a:p>
            <a:pPr marL="0" indent="0" algn="ctr">
              <a:buNone/>
            </a:pPr>
            <a:r>
              <a:rPr lang="en-US" sz="1100" b="1" dirty="0">
                <a:solidFill>
                  <a:srgbClr val="5B8DFF"/>
                </a:solidFill>
                <a:latin typeface="Calibri" pitchFamily="34" charset="0"/>
                <a:ea typeface="Calibri" pitchFamily="34" charset="-122"/>
                <a:cs typeface="Calibri" pitchFamily="34" charset="-120"/>
              </a:rPr>
              <a:t>●</a:t>
            </a:r>
            <a:endParaRPr lang="en-US" sz="1100" dirty="0"/>
          </a:p>
        </p:txBody>
      </p:sp>
      <p:sp>
        <p:nvSpPr>
          <p:cNvPr id="16" name="Text 14"/>
          <p:cNvSpPr/>
          <p:nvPr/>
        </p:nvSpPr>
        <p:spPr>
          <a:xfrm>
            <a:off x="1234440" y="4562856"/>
            <a:ext cx="5760720" cy="685800"/>
          </a:xfrm>
          <a:prstGeom prst="rect">
            <a:avLst/>
          </a:prstGeom>
          <a:noFill/>
          <a:ln/>
        </p:spPr>
        <p:txBody>
          <a:bodyPr wrap="square" lIns="0" tIns="0" rIns="0" bIns="0" rtlCol="0" anchor="ctr"/>
          <a:lstStyle/>
          <a:p>
            <a:pPr marL="0" indent="0">
              <a:lnSpc>
                <a:spcPct val="120000"/>
              </a:lnSpc>
              <a:buNone/>
            </a:pPr>
            <a:r>
              <a:rPr lang="en-US" sz="1150" dirty="0">
                <a:solidFill>
                  <a:srgbClr val="9AA6C9"/>
                </a:solidFill>
                <a:latin typeface="Calibri" pitchFamily="34" charset="0"/>
                <a:ea typeface="Calibri" pitchFamily="34" charset="-122"/>
                <a:cs typeface="Calibri" pitchFamily="34" charset="-120"/>
              </a:rPr>
              <a:t>No polling delay: agents don't need to “check in” to learn they've been stopped.</a:t>
            </a:r>
            <a:endParaRPr lang="en-US" sz="1150" dirty="0"/>
          </a:p>
        </p:txBody>
      </p:sp>
      <p:sp>
        <p:nvSpPr>
          <p:cNvPr id="17" name="Shape 15"/>
          <p:cNvSpPr/>
          <p:nvPr/>
        </p:nvSpPr>
        <p:spPr>
          <a:xfrm>
            <a:off x="822960" y="5394960"/>
            <a:ext cx="274320" cy="274320"/>
          </a:xfrm>
          <a:prstGeom prst="ellipse">
            <a:avLst/>
          </a:prstGeom>
          <a:solidFill>
            <a:srgbClr val="0E1638"/>
          </a:solidFill>
          <a:ln/>
        </p:spPr>
      </p:sp>
      <p:sp>
        <p:nvSpPr>
          <p:cNvPr id="18" name="Text 16"/>
          <p:cNvSpPr/>
          <p:nvPr/>
        </p:nvSpPr>
        <p:spPr>
          <a:xfrm>
            <a:off x="822960" y="5394960"/>
            <a:ext cx="274320" cy="274320"/>
          </a:xfrm>
          <a:prstGeom prst="rect">
            <a:avLst/>
          </a:prstGeom>
          <a:noFill/>
          <a:ln/>
        </p:spPr>
        <p:txBody>
          <a:bodyPr wrap="square" lIns="0" tIns="0" rIns="0" bIns="0" rtlCol="0" anchor="ctr"/>
          <a:lstStyle/>
          <a:p>
            <a:pPr marL="0" indent="0" algn="ctr">
              <a:buNone/>
            </a:pPr>
            <a:r>
              <a:rPr lang="en-US" sz="1100" b="1" dirty="0">
                <a:solidFill>
                  <a:srgbClr val="5B8DFF"/>
                </a:solidFill>
                <a:latin typeface="Calibri" pitchFamily="34" charset="0"/>
                <a:ea typeface="Calibri" pitchFamily="34" charset="-122"/>
                <a:cs typeface="Calibri" pitchFamily="34" charset="-120"/>
              </a:rPr>
              <a:t>●</a:t>
            </a:r>
            <a:endParaRPr lang="en-US" sz="1100" dirty="0"/>
          </a:p>
        </p:txBody>
      </p:sp>
      <p:sp>
        <p:nvSpPr>
          <p:cNvPr id="19" name="Text 17"/>
          <p:cNvSpPr/>
          <p:nvPr/>
        </p:nvSpPr>
        <p:spPr>
          <a:xfrm>
            <a:off x="1234440" y="5340096"/>
            <a:ext cx="5760720" cy="685800"/>
          </a:xfrm>
          <a:prstGeom prst="rect">
            <a:avLst/>
          </a:prstGeom>
          <a:noFill/>
          <a:ln/>
        </p:spPr>
        <p:txBody>
          <a:bodyPr wrap="square" lIns="0" tIns="0" rIns="0" bIns="0" rtlCol="0" anchor="ctr"/>
          <a:lstStyle/>
          <a:p>
            <a:pPr marL="0" indent="0">
              <a:lnSpc>
                <a:spcPct val="120000"/>
              </a:lnSpc>
              <a:buNone/>
            </a:pPr>
            <a:r>
              <a:rPr lang="en-US" sz="1150" dirty="0">
                <a:solidFill>
                  <a:srgbClr val="9AA6C9"/>
                </a:solidFill>
                <a:latin typeface="Calibri" pitchFamily="34" charset="0"/>
                <a:ea typeface="Calibri" pitchFamily="34" charset="-122"/>
                <a:cs typeface="Calibri" pitchFamily="34" charset="-120"/>
              </a:rPr>
              <a:t>A revoked agent keeps asking and keeps being refused — enforcement lives at the chokepoint, not in the agent's cooperation.</a:t>
            </a:r>
            <a:endParaRPr lang="en-US" sz="1150" dirty="0"/>
          </a:p>
        </p:txBody>
      </p:sp>
      <p:sp>
        <p:nvSpPr>
          <p:cNvPr id="20" name="Shape 18"/>
          <p:cNvSpPr/>
          <p:nvPr/>
        </p:nvSpPr>
        <p:spPr>
          <a:xfrm>
            <a:off x="7360920" y="1783080"/>
            <a:ext cx="4251960" cy="4389120"/>
          </a:xfrm>
          <a:prstGeom prst="roundRect">
            <a:avLst>
              <a:gd name="adj" fmla="val 2151"/>
            </a:avLst>
          </a:prstGeom>
          <a:solidFill>
            <a:srgbClr val="3A1B2C"/>
          </a:solidFill>
          <a:ln w="12700">
            <a:solidFill>
              <a:srgbClr val="263569"/>
            </a:solidFill>
            <a:prstDash val="solid"/>
          </a:ln>
        </p:spPr>
      </p:sp>
      <p:sp>
        <p:nvSpPr>
          <p:cNvPr id="21" name="Text 19"/>
          <p:cNvSpPr/>
          <p:nvPr/>
        </p:nvSpPr>
        <p:spPr>
          <a:xfrm>
            <a:off x="7635240" y="2011680"/>
            <a:ext cx="3657600" cy="365760"/>
          </a:xfrm>
          <a:prstGeom prst="rect">
            <a:avLst/>
          </a:prstGeom>
          <a:noFill/>
          <a:ln/>
        </p:spPr>
        <p:txBody>
          <a:bodyPr wrap="square" lIns="0" tIns="0" rIns="0" bIns="0" rtlCol="0" anchor="ctr"/>
          <a:lstStyle/>
          <a:p>
            <a:pPr marL="0" indent="0">
              <a:buNone/>
            </a:pPr>
            <a:r>
              <a:rPr lang="en-US" sz="1300" b="1" kern="0" spc="150" dirty="0">
                <a:solidFill>
                  <a:srgbClr val="E5566D"/>
                </a:solidFill>
                <a:latin typeface="Calibri" pitchFamily="34" charset="0"/>
                <a:ea typeface="Calibri" pitchFamily="34" charset="-122"/>
                <a:cs typeface="Calibri" pitchFamily="34" charset="-120"/>
              </a:rPr>
              <a:t>EMERGENCY STOP</a:t>
            </a:r>
            <a:endParaRPr lang="en-US" sz="1300" dirty="0"/>
          </a:p>
        </p:txBody>
      </p:sp>
      <p:sp>
        <p:nvSpPr>
          <p:cNvPr id="22" name="Shape 20"/>
          <p:cNvSpPr/>
          <p:nvPr/>
        </p:nvSpPr>
        <p:spPr>
          <a:xfrm>
            <a:off x="9052560" y="2560320"/>
            <a:ext cx="1371600" cy="1371600"/>
          </a:xfrm>
          <a:prstGeom prst="ellipse">
            <a:avLst/>
          </a:prstGeom>
          <a:solidFill>
            <a:srgbClr val="5C1B2C"/>
          </a:solidFill>
          <a:ln/>
        </p:spPr>
      </p:sp>
      <p:sp>
        <p:nvSpPr>
          <p:cNvPr id="23" name="Text 21"/>
          <p:cNvSpPr/>
          <p:nvPr/>
        </p:nvSpPr>
        <p:spPr>
          <a:xfrm>
            <a:off x="9052560" y="2560320"/>
            <a:ext cx="1371600" cy="1371600"/>
          </a:xfrm>
          <a:prstGeom prst="rect">
            <a:avLst/>
          </a:prstGeom>
          <a:noFill/>
          <a:ln/>
        </p:spPr>
        <p:txBody>
          <a:bodyPr wrap="square" lIns="0" tIns="0" rIns="0" bIns="0" rtlCol="0" anchor="ctr"/>
          <a:lstStyle/>
          <a:p>
            <a:pPr marL="0" indent="0" algn="ctr">
              <a:buNone/>
            </a:pPr>
            <a:r>
              <a:rPr lang="en-US" sz="5500" b="1" dirty="0">
                <a:solidFill>
                  <a:srgbClr val="FFFFFF"/>
                </a:solidFill>
                <a:latin typeface="Calibri" pitchFamily="34" charset="0"/>
                <a:ea typeface="Calibri" pitchFamily="34" charset="-122"/>
                <a:cs typeface="Calibri" pitchFamily="34" charset="-120"/>
              </a:rPr>
              <a:t>⏻</a:t>
            </a:r>
            <a:endParaRPr lang="en-US" sz="5500" dirty="0"/>
          </a:p>
        </p:txBody>
      </p:sp>
      <p:sp>
        <p:nvSpPr>
          <p:cNvPr id="24" name="Text 22"/>
          <p:cNvSpPr/>
          <p:nvPr/>
        </p:nvSpPr>
        <p:spPr>
          <a:xfrm>
            <a:off x="7360920" y="4160520"/>
            <a:ext cx="425196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STOP</a:t>
            </a:r>
            <a:endParaRPr lang="en-US" sz="2200" dirty="0"/>
          </a:p>
        </p:txBody>
      </p:sp>
      <p:sp>
        <p:nvSpPr>
          <p:cNvPr id="25" name="Text 23"/>
          <p:cNvSpPr/>
          <p:nvPr/>
        </p:nvSpPr>
        <p:spPr>
          <a:xfrm>
            <a:off x="7635240" y="4709160"/>
            <a:ext cx="3703320" cy="457200"/>
          </a:xfrm>
          <a:prstGeom prst="rect">
            <a:avLst/>
          </a:prstGeom>
          <a:noFill/>
          <a:ln/>
        </p:spPr>
        <p:txBody>
          <a:bodyPr wrap="square" lIns="0" tIns="0" rIns="0" bIns="0" rtlCol="0" anchor="ctr"/>
          <a:lstStyle/>
          <a:p>
            <a:pPr marL="0" indent="0" algn="ctr">
              <a:lnSpc>
                <a:spcPct val="120000"/>
              </a:lnSpc>
              <a:buNone/>
            </a:pPr>
            <a:r>
              <a:rPr lang="en-US" sz="1050" dirty="0">
                <a:solidFill>
                  <a:srgbClr val="F0B8C2"/>
                </a:solidFill>
                <a:latin typeface="Calibri" pitchFamily="34" charset="0"/>
                <a:ea typeface="Calibri" pitchFamily="34" charset="-122"/>
                <a:cs typeface="Calibri" pitchFamily="34" charset="-120"/>
              </a:rPr>
              <a:t>Fleet-wide propagation with no polling delay</a:t>
            </a:r>
            <a:endParaRPr lang="en-US" sz="1050" dirty="0"/>
          </a:p>
        </p:txBody>
      </p:sp>
      <p:sp>
        <p:nvSpPr>
          <p:cNvPr id="26" name="Text 2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27" name="Text 25"/>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Kill Switch   ·   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TECHNICAL DETAILS  ·  FEATURE DEEP DIVE</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500" b="1" dirty="0">
                <a:solidFill>
                  <a:srgbClr val="FFFFFF"/>
                </a:solidFill>
                <a:latin typeface="Calibri" pitchFamily="34" charset="0"/>
                <a:ea typeface="Calibri" pitchFamily="34" charset="-122"/>
                <a:cs typeface="Calibri" pitchFamily="34" charset="-120"/>
              </a:rPr>
              <a:t>Every Decision, Streamed Live and Chained Forever</a:t>
            </a:r>
            <a:endParaRPr lang="en-US" sz="2500" dirty="0"/>
          </a:p>
        </p:txBody>
      </p:sp>
      <p:sp>
        <p:nvSpPr>
          <p:cNvPr id="5" name="Shape 3"/>
          <p:cNvSpPr/>
          <p:nvPr/>
        </p:nvSpPr>
        <p:spPr>
          <a:xfrm>
            <a:off x="548640" y="1737360"/>
            <a:ext cx="6858000" cy="4434840"/>
          </a:xfrm>
          <a:prstGeom prst="roundRect">
            <a:avLst>
              <a:gd name="adj" fmla="val 2062"/>
            </a:avLst>
          </a:prstGeom>
          <a:solidFill>
            <a:srgbClr val="121B3F"/>
          </a:solidFill>
          <a:ln w="12700">
            <a:solidFill>
              <a:srgbClr val="263569"/>
            </a:solidFill>
            <a:prstDash val="solid"/>
          </a:ln>
        </p:spPr>
      </p:sp>
      <p:sp>
        <p:nvSpPr>
          <p:cNvPr id="6" name="Text 4"/>
          <p:cNvSpPr/>
          <p:nvPr/>
        </p:nvSpPr>
        <p:spPr>
          <a:xfrm>
            <a:off x="822960" y="1920240"/>
            <a:ext cx="630936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Hash-Chained Ledger</a:t>
            </a:r>
            <a:endParaRPr lang="en-US" sz="1500" dirty="0"/>
          </a:p>
        </p:txBody>
      </p:sp>
      <p:sp>
        <p:nvSpPr>
          <p:cNvPr id="7" name="Text 5"/>
          <p:cNvSpPr/>
          <p:nvPr/>
        </p:nvSpPr>
        <p:spPr>
          <a:xfrm>
            <a:off x="822960" y="2331720"/>
            <a:ext cx="6309360" cy="685800"/>
          </a:xfrm>
          <a:prstGeom prst="rect">
            <a:avLst/>
          </a:prstGeom>
          <a:noFill/>
          <a:ln/>
        </p:spPr>
        <p:txBody>
          <a:bodyPr wrap="square" lIns="0" tIns="0" rIns="0" bIns="0" rtlCol="0" anchor="ctr"/>
          <a:lstStyle/>
          <a:p>
            <a:pPr marL="0" indent="0">
              <a:lnSpc>
                <a:spcPct val="125000"/>
              </a:lnSpc>
              <a:buNone/>
            </a:pPr>
            <a:r>
              <a:rPr lang="en-US" sz="1200" dirty="0">
                <a:solidFill>
                  <a:srgbClr val="9AA6C9"/>
                </a:solidFill>
                <a:latin typeface="Calibri" pitchFamily="34" charset="0"/>
                <a:ea typeface="Calibri" pitchFamily="34" charset="-122"/>
                <a:cs typeface="Calibri" pitchFamily="34" charset="-120"/>
              </a:rPr>
              <a:t>Each PostgreSQL entry stores the hash of the prior entry. Any retroactive edit breaks the chain and is instantly detectable — independently verified by a separate verifier script that trusts nothing from the ledger writer.</a:t>
            </a:r>
            <a:endParaRPr lang="en-US" sz="1200" dirty="0"/>
          </a:p>
        </p:txBody>
      </p:sp>
      <p:sp>
        <p:nvSpPr>
          <p:cNvPr id="8" name="Shape 6"/>
          <p:cNvSpPr/>
          <p:nvPr/>
        </p:nvSpPr>
        <p:spPr>
          <a:xfrm>
            <a:off x="822960" y="3200400"/>
            <a:ext cx="1051560" cy="384048"/>
          </a:xfrm>
          <a:prstGeom prst="roundRect">
            <a:avLst>
              <a:gd name="adj" fmla="val 50000"/>
            </a:avLst>
          </a:prstGeom>
          <a:solidFill>
            <a:srgbClr val="1B3A2C"/>
          </a:solidFill>
          <a:ln/>
        </p:spPr>
      </p:sp>
      <p:sp>
        <p:nvSpPr>
          <p:cNvPr id="9" name="Text 7"/>
          <p:cNvSpPr/>
          <p:nvPr/>
        </p:nvSpPr>
        <p:spPr>
          <a:xfrm>
            <a:off x="822960" y="3200400"/>
            <a:ext cx="1051560" cy="384048"/>
          </a:xfrm>
          <a:prstGeom prst="rect">
            <a:avLst/>
          </a:prstGeom>
          <a:noFill/>
          <a:ln/>
        </p:spPr>
        <p:txBody>
          <a:bodyPr wrap="square" lIns="0" tIns="0" rIns="0" bIns="0" rtlCol="0" anchor="ctr"/>
          <a:lstStyle/>
          <a:p>
            <a:pPr marL="0" indent="0" algn="ctr">
              <a:buNone/>
            </a:pPr>
            <a:r>
              <a:rPr lang="en-US" sz="1050" b="1" dirty="0">
                <a:solidFill>
                  <a:srgbClr val="34C77B"/>
                </a:solidFill>
                <a:latin typeface="Calibri" pitchFamily="34" charset="0"/>
                <a:ea typeface="Calibri" pitchFamily="34" charset="-122"/>
                <a:cs typeface="Calibri" pitchFamily="34" charset="-120"/>
              </a:rPr>
              <a:t>ALLOW</a:t>
            </a:r>
            <a:endParaRPr lang="en-US" sz="1050" dirty="0"/>
          </a:p>
        </p:txBody>
      </p:sp>
      <p:sp>
        <p:nvSpPr>
          <p:cNvPr id="10" name="Text 8"/>
          <p:cNvSpPr/>
          <p:nvPr/>
        </p:nvSpPr>
        <p:spPr>
          <a:xfrm>
            <a:off x="2011680" y="3218688"/>
            <a:ext cx="5212080" cy="365760"/>
          </a:xfrm>
          <a:prstGeom prst="rect">
            <a:avLst/>
          </a:prstGeom>
          <a:noFill/>
          <a:ln/>
        </p:spPr>
        <p:txBody>
          <a:bodyPr wrap="square" lIns="0" tIns="0" rIns="0" bIns="0" rtlCol="0" anchor="ctr"/>
          <a:lstStyle/>
          <a:p>
            <a:pPr marL="0" indent="0">
              <a:buNone/>
            </a:pPr>
            <a:r>
              <a:rPr lang="en-US" sz="1030" dirty="0">
                <a:solidFill>
                  <a:srgbClr val="CADCFC"/>
                </a:solidFill>
                <a:latin typeface="Courier New" pitchFamily="34" charset="0"/>
                <a:ea typeface="Courier New" pitchFamily="34" charset="-122"/>
                <a:cs typeface="Courier New" pitchFamily="34" charset="-120"/>
              </a:rPr>
              <a:t>wealth-advisory-01 · rebalance_portfolio $1,240</a:t>
            </a:r>
            <a:endParaRPr lang="en-US" sz="1030" dirty="0"/>
          </a:p>
        </p:txBody>
      </p:sp>
      <p:sp>
        <p:nvSpPr>
          <p:cNvPr id="11" name="Shape 9"/>
          <p:cNvSpPr/>
          <p:nvPr/>
        </p:nvSpPr>
        <p:spPr>
          <a:xfrm>
            <a:off x="822960" y="3767328"/>
            <a:ext cx="1051560" cy="384048"/>
          </a:xfrm>
          <a:prstGeom prst="roundRect">
            <a:avLst>
              <a:gd name="adj" fmla="val 50000"/>
            </a:avLst>
          </a:prstGeom>
          <a:solidFill>
            <a:srgbClr val="1B3A2C"/>
          </a:solidFill>
          <a:ln/>
        </p:spPr>
      </p:sp>
      <p:sp>
        <p:nvSpPr>
          <p:cNvPr id="12" name="Text 10"/>
          <p:cNvSpPr/>
          <p:nvPr/>
        </p:nvSpPr>
        <p:spPr>
          <a:xfrm>
            <a:off x="822960" y="3767328"/>
            <a:ext cx="1051560" cy="384048"/>
          </a:xfrm>
          <a:prstGeom prst="rect">
            <a:avLst/>
          </a:prstGeom>
          <a:noFill/>
          <a:ln/>
        </p:spPr>
        <p:txBody>
          <a:bodyPr wrap="square" lIns="0" tIns="0" rIns="0" bIns="0" rtlCol="0" anchor="ctr"/>
          <a:lstStyle/>
          <a:p>
            <a:pPr marL="0" indent="0" algn="ctr">
              <a:buNone/>
            </a:pPr>
            <a:r>
              <a:rPr lang="en-US" sz="1050" b="1" dirty="0">
                <a:solidFill>
                  <a:srgbClr val="34C77B"/>
                </a:solidFill>
                <a:latin typeface="Calibri" pitchFamily="34" charset="0"/>
                <a:ea typeface="Calibri" pitchFamily="34" charset="-122"/>
                <a:cs typeface="Calibri" pitchFamily="34" charset="-120"/>
              </a:rPr>
              <a:t>ALLOW</a:t>
            </a:r>
            <a:endParaRPr lang="en-US" sz="1050" dirty="0"/>
          </a:p>
        </p:txBody>
      </p:sp>
      <p:sp>
        <p:nvSpPr>
          <p:cNvPr id="13" name="Text 11"/>
          <p:cNvSpPr/>
          <p:nvPr/>
        </p:nvSpPr>
        <p:spPr>
          <a:xfrm>
            <a:off x="2011680" y="3785616"/>
            <a:ext cx="5212080" cy="365760"/>
          </a:xfrm>
          <a:prstGeom prst="rect">
            <a:avLst/>
          </a:prstGeom>
          <a:noFill/>
          <a:ln/>
        </p:spPr>
        <p:txBody>
          <a:bodyPr wrap="square" lIns="0" tIns="0" rIns="0" bIns="0" rtlCol="0" anchor="ctr"/>
          <a:lstStyle/>
          <a:p>
            <a:pPr marL="0" indent="0">
              <a:buNone/>
            </a:pPr>
            <a:r>
              <a:rPr lang="en-US" sz="1030" dirty="0">
                <a:solidFill>
                  <a:srgbClr val="CADCFC"/>
                </a:solidFill>
                <a:latin typeface="Courier New" pitchFamily="34" charset="0"/>
                <a:ea typeface="Courier New" pitchFamily="34" charset="-122"/>
                <a:cs typeface="Courier New" pitchFamily="34" charset="-120"/>
              </a:rPr>
              <a:t>hft-agent-04 · execute_trade $860</a:t>
            </a:r>
            <a:endParaRPr lang="en-US" sz="1030" dirty="0"/>
          </a:p>
        </p:txBody>
      </p:sp>
      <p:sp>
        <p:nvSpPr>
          <p:cNvPr id="14" name="Shape 12"/>
          <p:cNvSpPr/>
          <p:nvPr/>
        </p:nvSpPr>
        <p:spPr>
          <a:xfrm>
            <a:off x="822960" y="4334256"/>
            <a:ext cx="1051560" cy="384048"/>
          </a:xfrm>
          <a:prstGeom prst="roundRect">
            <a:avLst>
              <a:gd name="adj" fmla="val 50000"/>
            </a:avLst>
          </a:prstGeom>
          <a:solidFill>
            <a:srgbClr val="3A1B2C"/>
          </a:solidFill>
          <a:ln/>
        </p:spPr>
      </p:sp>
      <p:sp>
        <p:nvSpPr>
          <p:cNvPr id="15" name="Text 13"/>
          <p:cNvSpPr/>
          <p:nvPr/>
        </p:nvSpPr>
        <p:spPr>
          <a:xfrm>
            <a:off x="822960" y="4334256"/>
            <a:ext cx="1051560" cy="384048"/>
          </a:xfrm>
          <a:prstGeom prst="rect">
            <a:avLst/>
          </a:prstGeom>
          <a:noFill/>
          <a:ln/>
        </p:spPr>
        <p:txBody>
          <a:bodyPr wrap="square" lIns="0" tIns="0" rIns="0" bIns="0" rtlCol="0" anchor="ctr"/>
          <a:lstStyle/>
          <a:p>
            <a:pPr marL="0" indent="0" algn="ctr">
              <a:buNone/>
            </a:pPr>
            <a:r>
              <a:rPr lang="en-US" sz="1050" b="1" dirty="0">
                <a:solidFill>
                  <a:srgbClr val="E5566D"/>
                </a:solidFill>
                <a:latin typeface="Calibri" pitchFamily="34" charset="0"/>
                <a:ea typeface="Calibri" pitchFamily="34" charset="-122"/>
                <a:cs typeface="Calibri" pitchFamily="34" charset="-120"/>
              </a:rPr>
              <a:t>DENY</a:t>
            </a:r>
            <a:endParaRPr lang="en-US" sz="1050" dirty="0"/>
          </a:p>
        </p:txBody>
      </p:sp>
      <p:sp>
        <p:nvSpPr>
          <p:cNvPr id="16" name="Text 14"/>
          <p:cNvSpPr/>
          <p:nvPr/>
        </p:nvSpPr>
        <p:spPr>
          <a:xfrm>
            <a:off x="2011680" y="4352544"/>
            <a:ext cx="5212080" cy="365760"/>
          </a:xfrm>
          <a:prstGeom prst="rect">
            <a:avLst/>
          </a:prstGeom>
          <a:noFill/>
          <a:ln/>
        </p:spPr>
        <p:txBody>
          <a:bodyPr wrap="square" lIns="0" tIns="0" rIns="0" bIns="0" rtlCol="0" anchor="ctr"/>
          <a:lstStyle/>
          <a:p>
            <a:pPr marL="0" indent="0">
              <a:buNone/>
            </a:pPr>
            <a:r>
              <a:rPr lang="en-US" sz="1030" dirty="0">
                <a:solidFill>
                  <a:srgbClr val="CADCFC"/>
                </a:solidFill>
                <a:latin typeface="Courier New" pitchFamily="34" charset="0"/>
                <a:ea typeface="Courier New" pitchFamily="34" charset="-122"/>
                <a:cs typeface="Courier New" pitchFamily="34" charset="-120"/>
              </a:rPr>
              <a:t>rogue-agent-99 · transfer_funds — exceeds daily cap</a:t>
            </a:r>
            <a:endParaRPr lang="en-US" sz="1030" dirty="0"/>
          </a:p>
        </p:txBody>
      </p:sp>
      <p:sp>
        <p:nvSpPr>
          <p:cNvPr id="17" name="Shape 15"/>
          <p:cNvSpPr/>
          <p:nvPr/>
        </p:nvSpPr>
        <p:spPr>
          <a:xfrm>
            <a:off x="822960" y="4901184"/>
            <a:ext cx="1051560" cy="384048"/>
          </a:xfrm>
          <a:prstGeom prst="roundRect">
            <a:avLst>
              <a:gd name="adj" fmla="val 50000"/>
            </a:avLst>
          </a:prstGeom>
          <a:solidFill>
            <a:srgbClr val="3A1B2C"/>
          </a:solidFill>
          <a:ln/>
        </p:spPr>
      </p:sp>
      <p:sp>
        <p:nvSpPr>
          <p:cNvPr id="18" name="Text 16"/>
          <p:cNvSpPr/>
          <p:nvPr/>
        </p:nvSpPr>
        <p:spPr>
          <a:xfrm>
            <a:off x="822960" y="4901184"/>
            <a:ext cx="1051560" cy="384048"/>
          </a:xfrm>
          <a:prstGeom prst="rect">
            <a:avLst/>
          </a:prstGeom>
          <a:noFill/>
          <a:ln/>
        </p:spPr>
        <p:txBody>
          <a:bodyPr wrap="square" lIns="0" tIns="0" rIns="0" bIns="0" rtlCol="0" anchor="ctr"/>
          <a:lstStyle/>
          <a:p>
            <a:pPr marL="0" indent="0" algn="ctr">
              <a:buNone/>
            </a:pPr>
            <a:r>
              <a:rPr lang="en-US" sz="1050" b="1" dirty="0">
                <a:solidFill>
                  <a:srgbClr val="E5566D"/>
                </a:solidFill>
                <a:latin typeface="Calibri" pitchFamily="34" charset="0"/>
                <a:ea typeface="Calibri" pitchFamily="34" charset="-122"/>
                <a:cs typeface="Calibri" pitchFamily="34" charset="-120"/>
              </a:rPr>
              <a:t>DENY</a:t>
            </a:r>
            <a:endParaRPr lang="en-US" sz="1050" dirty="0"/>
          </a:p>
        </p:txBody>
      </p:sp>
      <p:sp>
        <p:nvSpPr>
          <p:cNvPr id="19" name="Text 17"/>
          <p:cNvSpPr/>
          <p:nvPr/>
        </p:nvSpPr>
        <p:spPr>
          <a:xfrm>
            <a:off x="2011680" y="4919472"/>
            <a:ext cx="5212080" cy="365760"/>
          </a:xfrm>
          <a:prstGeom prst="rect">
            <a:avLst/>
          </a:prstGeom>
          <a:noFill/>
          <a:ln/>
        </p:spPr>
        <p:txBody>
          <a:bodyPr wrap="square" lIns="0" tIns="0" rIns="0" bIns="0" rtlCol="0" anchor="ctr"/>
          <a:lstStyle/>
          <a:p>
            <a:pPr marL="0" indent="0">
              <a:buNone/>
            </a:pPr>
            <a:r>
              <a:rPr lang="en-US" sz="1030" dirty="0">
                <a:solidFill>
                  <a:srgbClr val="CADCFC"/>
                </a:solidFill>
                <a:latin typeface="Courier New" pitchFamily="34" charset="0"/>
                <a:ea typeface="Courier New" pitchFamily="34" charset="-122"/>
                <a:cs typeface="Courier New" pitchFamily="34" charset="-120"/>
              </a:rPr>
              <a:t>rogue-agent-99 · fetch_account_data — scope violation</a:t>
            </a:r>
            <a:endParaRPr lang="en-US" sz="1030" dirty="0"/>
          </a:p>
        </p:txBody>
      </p:sp>
      <p:sp>
        <p:nvSpPr>
          <p:cNvPr id="20" name="Shape 18"/>
          <p:cNvSpPr/>
          <p:nvPr/>
        </p:nvSpPr>
        <p:spPr>
          <a:xfrm>
            <a:off x="822960" y="5468112"/>
            <a:ext cx="1051560" cy="384048"/>
          </a:xfrm>
          <a:prstGeom prst="roundRect">
            <a:avLst>
              <a:gd name="adj" fmla="val 50000"/>
            </a:avLst>
          </a:prstGeom>
          <a:solidFill>
            <a:srgbClr val="1B3A2C"/>
          </a:solidFill>
          <a:ln/>
        </p:spPr>
      </p:sp>
      <p:sp>
        <p:nvSpPr>
          <p:cNvPr id="21" name="Text 19"/>
          <p:cNvSpPr/>
          <p:nvPr/>
        </p:nvSpPr>
        <p:spPr>
          <a:xfrm>
            <a:off x="822960" y="5468112"/>
            <a:ext cx="1051560" cy="384048"/>
          </a:xfrm>
          <a:prstGeom prst="rect">
            <a:avLst/>
          </a:prstGeom>
          <a:noFill/>
          <a:ln/>
        </p:spPr>
        <p:txBody>
          <a:bodyPr wrap="square" lIns="0" tIns="0" rIns="0" bIns="0" rtlCol="0" anchor="ctr"/>
          <a:lstStyle/>
          <a:p>
            <a:pPr marL="0" indent="0" algn="ctr">
              <a:buNone/>
            </a:pPr>
            <a:r>
              <a:rPr lang="en-US" sz="1050" b="1" dirty="0">
                <a:solidFill>
                  <a:srgbClr val="34C77B"/>
                </a:solidFill>
                <a:latin typeface="Calibri" pitchFamily="34" charset="0"/>
                <a:ea typeface="Calibri" pitchFamily="34" charset="-122"/>
                <a:cs typeface="Calibri" pitchFamily="34" charset="-120"/>
              </a:rPr>
              <a:t>ALLOW</a:t>
            </a:r>
            <a:endParaRPr lang="en-US" sz="1050" dirty="0"/>
          </a:p>
        </p:txBody>
      </p:sp>
      <p:sp>
        <p:nvSpPr>
          <p:cNvPr id="22" name="Text 20"/>
          <p:cNvSpPr/>
          <p:nvPr/>
        </p:nvSpPr>
        <p:spPr>
          <a:xfrm>
            <a:off x="2011680" y="5486400"/>
            <a:ext cx="5212080" cy="365760"/>
          </a:xfrm>
          <a:prstGeom prst="rect">
            <a:avLst/>
          </a:prstGeom>
          <a:noFill/>
          <a:ln/>
        </p:spPr>
        <p:txBody>
          <a:bodyPr wrap="square" lIns="0" tIns="0" rIns="0" bIns="0" rtlCol="0" anchor="ctr"/>
          <a:lstStyle/>
          <a:p>
            <a:pPr marL="0" indent="0">
              <a:buNone/>
            </a:pPr>
            <a:r>
              <a:rPr lang="en-US" sz="1030" dirty="0">
                <a:solidFill>
                  <a:srgbClr val="CADCFC"/>
                </a:solidFill>
                <a:latin typeface="Courier New" pitchFamily="34" charset="0"/>
                <a:ea typeface="Courier New" pitchFamily="34" charset="-122"/>
                <a:cs typeface="Courier New" pitchFamily="34" charset="-120"/>
              </a:rPr>
              <a:t>wealth-advisory-01 · rebalance_portfolio $2,015</a:t>
            </a:r>
            <a:endParaRPr lang="en-US" sz="1030" dirty="0"/>
          </a:p>
        </p:txBody>
      </p:sp>
      <p:sp>
        <p:nvSpPr>
          <p:cNvPr id="23" name="Shape 21"/>
          <p:cNvSpPr/>
          <p:nvPr/>
        </p:nvSpPr>
        <p:spPr>
          <a:xfrm>
            <a:off x="7635240" y="1737360"/>
            <a:ext cx="3977640" cy="4434840"/>
          </a:xfrm>
          <a:prstGeom prst="roundRect">
            <a:avLst>
              <a:gd name="adj" fmla="val 2299"/>
            </a:avLst>
          </a:prstGeom>
          <a:solidFill>
            <a:srgbClr val="17224C"/>
          </a:solidFill>
          <a:ln w="12700">
            <a:solidFill>
              <a:srgbClr val="263569"/>
            </a:solidFill>
            <a:prstDash val="solid"/>
          </a:ln>
        </p:spPr>
      </p:sp>
      <p:sp>
        <p:nvSpPr>
          <p:cNvPr id="24" name="Text 22"/>
          <p:cNvSpPr/>
          <p:nvPr/>
        </p:nvSpPr>
        <p:spPr>
          <a:xfrm>
            <a:off x="7909560" y="1920240"/>
            <a:ext cx="3474720" cy="320040"/>
          </a:xfrm>
          <a:prstGeom prst="rect">
            <a:avLst/>
          </a:prstGeom>
          <a:noFill/>
          <a:ln/>
        </p:spPr>
        <p:txBody>
          <a:bodyPr wrap="square" lIns="0" tIns="0" rIns="0" bIns="0" rtlCol="0" anchor="ctr"/>
          <a:lstStyle/>
          <a:p>
            <a:pPr marL="0" indent="0">
              <a:buNone/>
            </a:pPr>
            <a:r>
              <a:rPr lang="en-US" sz="1150" b="1" kern="0" spc="100" dirty="0">
                <a:solidFill>
                  <a:srgbClr val="5B8DFF"/>
                </a:solidFill>
                <a:latin typeface="Calibri" pitchFamily="34" charset="0"/>
                <a:ea typeface="Calibri" pitchFamily="34" charset="-122"/>
                <a:cs typeface="Calibri" pitchFamily="34" charset="-120"/>
              </a:rPr>
              <a:t>MEASURED, NOT ASSUMED</a:t>
            </a:r>
            <a:endParaRPr lang="en-US" sz="1150" dirty="0"/>
          </a:p>
        </p:txBody>
      </p:sp>
      <p:sp>
        <p:nvSpPr>
          <p:cNvPr id="25" name="Text 23"/>
          <p:cNvSpPr/>
          <p:nvPr/>
        </p:nvSpPr>
        <p:spPr>
          <a:xfrm>
            <a:off x="7909560" y="2377440"/>
            <a:ext cx="347472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87–137 ms</a:t>
            </a:r>
            <a:endParaRPr lang="en-US" sz="2000" dirty="0"/>
          </a:p>
        </p:txBody>
      </p:sp>
      <p:sp>
        <p:nvSpPr>
          <p:cNvPr id="26" name="Text 24"/>
          <p:cNvSpPr/>
          <p:nvPr/>
        </p:nvSpPr>
        <p:spPr>
          <a:xfrm>
            <a:off x="7909560" y="2816352"/>
            <a:ext cx="3474720" cy="685800"/>
          </a:xfrm>
          <a:prstGeom prst="rect">
            <a:avLst/>
          </a:prstGeom>
          <a:noFill/>
          <a:ln/>
        </p:spPr>
        <p:txBody>
          <a:bodyPr wrap="square" lIns="0" tIns="0" rIns="0" bIns="0" rtlCol="0" anchor="ctr"/>
          <a:lstStyle/>
          <a:p>
            <a:pPr marL="0" indent="0">
              <a:lnSpc>
                <a:spcPct val="120000"/>
              </a:lnSpc>
              <a:buNone/>
            </a:pPr>
            <a:r>
              <a:rPr lang="en-US" sz="1000" dirty="0">
                <a:solidFill>
                  <a:srgbClr val="9AA6C9"/>
                </a:solidFill>
                <a:latin typeface="Calibri" pitchFamily="34" charset="0"/>
                <a:ea typeface="Calibri" pitchFamily="34" charset="-122"/>
                <a:cs typeface="Calibri" pitchFamily="34" charset="-120"/>
              </a:rPr>
              <a:t>Full hash-chain re-verify across 8,039 rows (median 98ms)</a:t>
            </a:r>
            <a:endParaRPr lang="en-US" sz="1000" dirty="0"/>
          </a:p>
        </p:txBody>
      </p:sp>
      <p:sp>
        <p:nvSpPr>
          <p:cNvPr id="27" name="Text 25"/>
          <p:cNvSpPr/>
          <p:nvPr/>
        </p:nvSpPr>
        <p:spPr>
          <a:xfrm>
            <a:off x="7909560" y="3566160"/>
            <a:ext cx="347472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~4.5×10⁻¹⁵</a:t>
            </a:r>
            <a:endParaRPr lang="en-US" sz="2000" dirty="0"/>
          </a:p>
        </p:txBody>
      </p:sp>
      <p:sp>
        <p:nvSpPr>
          <p:cNvPr id="28" name="Text 26"/>
          <p:cNvSpPr/>
          <p:nvPr/>
        </p:nvSpPr>
        <p:spPr>
          <a:xfrm>
            <a:off x="7909560" y="4005072"/>
            <a:ext cx="3474720" cy="685800"/>
          </a:xfrm>
          <a:prstGeom prst="rect">
            <a:avLst/>
          </a:prstGeom>
          <a:noFill/>
          <a:ln/>
        </p:spPr>
        <p:txBody>
          <a:bodyPr wrap="square" lIns="0" tIns="0" rIns="0" bIns="0" rtlCol="0" anchor="ctr"/>
          <a:lstStyle/>
          <a:p>
            <a:pPr marL="0" indent="0">
              <a:lnSpc>
                <a:spcPct val="120000"/>
              </a:lnSpc>
              <a:buNone/>
            </a:pPr>
            <a:r>
              <a:rPr lang="en-US" sz="1000" dirty="0">
                <a:solidFill>
                  <a:srgbClr val="9AA6C9"/>
                </a:solidFill>
                <a:latin typeface="Calibri" pitchFamily="34" charset="0"/>
                <a:ea typeface="Calibri" pitchFamily="34" charset="-122"/>
                <a:cs typeface="Calibri" pitchFamily="34" charset="-120"/>
              </a:rPr>
              <a:t>Redis/Postgres spend drift after 1,000 float-hostile transfers</a:t>
            </a:r>
            <a:endParaRPr lang="en-US" sz="1000" dirty="0"/>
          </a:p>
        </p:txBody>
      </p:sp>
      <p:sp>
        <p:nvSpPr>
          <p:cNvPr id="29" name="Text 27"/>
          <p:cNvSpPr/>
          <p:nvPr/>
        </p:nvSpPr>
        <p:spPr>
          <a:xfrm>
            <a:off x="7909560" y="4754880"/>
            <a:ext cx="347472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4 / 4</a:t>
            </a:r>
            <a:endParaRPr lang="en-US" sz="2000" dirty="0"/>
          </a:p>
        </p:txBody>
      </p:sp>
      <p:sp>
        <p:nvSpPr>
          <p:cNvPr id="30" name="Text 28"/>
          <p:cNvSpPr/>
          <p:nvPr/>
        </p:nvSpPr>
        <p:spPr>
          <a:xfrm>
            <a:off x="7909560" y="5193792"/>
            <a:ext cx="3474720" cy="685800"/>
          </a:xfrm>
          <a:prstGeom prst="rect">
            <a:avLst/>
          </a:prstGeom>
          <a:noFill/>
          <a:ln/>
        </p:spPr>
        <p:txBody>
          <a:bodyPr wrap="square" lIns="0" tIns="0" rIns="0" bIns="0" rtlCol="0" anchor="ctr"/>
          <a:lstStyle/>
          <a:p>
            <a:pPr marL="0" indent="0">
              <a:lnSpc>
                <a:spcPct val="120000"/>
              </a:lnSpc>
              <a:buNone/>
            </a:pPr>
            <a:r>
              <a:rPr lang="en-US" sz="1000" dirty="0">
                <a:solidFill>
                  <a:srgbClr val="9AA6C9"/>
                </a:solidFill>
                <a:latin typeface="Calibri" pitchFamily="34" charset="0"/>
                <a:ea typeface="Calibri" pitchFamily="34" charset="-122"/>
                <a:cs typeface="Calibri" pitchFamily="34" charset="-120"/>
              </a:rPr>
              <a:t>Automated OPA policy tests passing (opa test)</a:t>
            </a:r>
            <a:endParaRPr lang="en-US" sz="1000" dirty="0"/>
          </a:p>
        </p:txBody>
      </p:sp>
      <p:sp>
        <p:nvSpPr>
          <p:cNvPr id="31" name="Text 29"/>
          <p:cNvSpPr/>
          <p:nvPr/>
        </p:nvSpPr>
        <p:spPr>
          <a:xfrm>
            <a:off x="7909560" y="5715000"/>
            <a:ext cx="3474720" cy="457200"/>
          </a:xfrm>
          <a:prstGeom prst="rect">
            <a:avLst/>
          </a:prstGeom>
          <a:noFill/>
          <a:ln/>
        </p:spPr>
        <p:txBody>
          <a:bodyPr wrap="square" lIns="0" tIns="0" rIns="0" bIns="0" rtlCol="0" anchor="ctr"/>
          <a:lstStyle/>
          <a:p>
            <a:pPr marL="0" indent="0">
              <a:lnSpc>
                <a:spcPct val="115000"/>
              </a:lnSpc>
              <a:buNone/>
            </a:pPr>
            <a:r>
              <a:rPr lang="en-US" sz="900" i="1" dirty="0">
                <a:solidFill>
                  <a:srgbClr val="F0A93A"/>
                </a:solidFill>
                <a:latin typeface="Calibri" pitchFamily="34" charset="0"/>
                <a:ea typeface="Calibri" pitchFamily="34" charset="-122"/>
                <a:cs typeface="Calibri" pitchFamily="34" charset="-120"/>
              </a:rPr>
              <a:t>Client-measured latency ships today; a Prometheus/Grafana server-side telemetry pipeline is planned for Round 2.</a:t>
            </a:r>
            <a:endParaRPr lang="en-US" sz="900" dirty="0"/>
          </a:p>
        </p:txBody>
      </p:sp>
      <p:sp>
        <p:nvSpPr>
          <p:cNvPr id="32" name="Text 30"/>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33" name="Text 31"/>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Audit &amp; Telemetry   ·   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TECHNICAL DETAILS  ·  INNOVATION &amp; DIFFERENTIATOR</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300" b="1" dirty="0">
                <a:solidFill>
                  <a:srgbClr val="FFFFFF"/>
                </a:solidFill>
                <a:latin typeface="Calibri" pitchFamily="34" charset="0"/>
                <a:ea typeface="Calibri" pitchFamily="34" charset="-122"/>
                <a:cs typeface="Calibri" pitchFamily="34" charset="-120"/>
              </a:rPr>
              <a:t>Verifiable Execution: Agents That Cannot Lie About What They Did</a:t>
            </a:r>
            <a:endParaRPr lang="en-US" sz="2300" dirty="0"/>
          </a:p>
        </p:txBody>
      </p:sp>
      <p:sp>
        <p:nvSpPr>
          <p:cNvPr id="5" name="Shape 3"/>
          <p:cNvSpPr/>
          <p:nvPr/>
        </p:nvSpPr>
        <p:spPr>
          <a:xfrm>
            <a:off x="548640" y="1783080"/>
            <a:ext cx="11064240" cy="1965960"/>
          </a:xfrm>
          <a:prstGeom prst="roundRect">
            <a:avLst>
              <a:gd name="adj" fmla="val 4651"/>
            </a:avLst>
          </a:prstGeom>
          <a:solidFill>
            <a:srgbClr val="121B3F"/>
          </a:solidFill>
          <a:ln w="12700">
            <a:solidFill>
              <a:srgbClr val="263569"/>
            </a:solidFill>
            <a:prstDash val="solid"/>
          </a:ln>
        </p:spPr>
      </p:sp>
      <p:sp>
        <p:nvSpPr>
          <p:cNvPr id="6" name="Text 4"/>
          <p:cNvSpPr/>
          <p:nvPr/>
        </p:nvSpPr>
        <p:spPr>
          <a:xfrm>
            <a:off x="822960" y="1938528"/>
            <a:ext cx="1042416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NEAR AI Cloud Runtime</a:t>
            </a:r>
            <a:endParaRPr lang="en-US" sz="1500" dirty="0"/>
          </a:p>
        </p:txBody>
      </p:sp>
      <p:sp>
        <p:nvSpPr>
          <p:cNvPr id="7" name="Text 5"/>
          <p:cNvSpPr/>
          <p:nvPr/>
        </p:nvSpPr>
        <p:spPr>
          <a:xfrm>
            <a:off x="822960" y="2331720"/>
            <a:ext cx="10424160" cy="1280160"/>
          </a:xfrm>
          <a:prstGeom prst="rect">
            <a:avLst/>
          </a:prstGeom>
          <a:noFill/>
          <a:ln/>
        </p:spPr>
        <p:txBody>
          <a:bodyPr wrap="square" lIns="0" tIns="0" rIns="0" bIns="0" rtlCol="0" anchor="ctr"/>
          <a:lstStyle/>
          <a:p>
            <a:pPr marL="0" indent="0">
              <a:lnSpc>
                <a:spcPct val="128000"/>
              </a:lnSpc>
              <a:buNone/>
            </a:pPr>
            <a:r>
              <a:rPr lang="en-US" sz="1200" dirty="0">
                <a:solidFill>
                  <a:srgbClr val="9AA6C9"/>
                </a:solidFill>
                <a:latin typeface="Calibri" pitchFamily="34" charset="0"/>
                <a:ea typeface="Calibri" pitchFamily="34" charset="-122"/>
                <a:cs typeface="Calibri" pitchFamily="34" charset="-120"/>
              </a:rPr>
              <a:t>Agents' LLM reasoning calls run through NEAR AI Cloud, hosted inside Intel TDX confidential VMs + NVIDIA GPU TEE — hardware-secured, encrypted enclaves. Every inference call returns a hardware-signed attestation report, independently verifiable against NVIDIA and Intel's own attestation services — no vendor claim required. Model weights and inference data stay hidden from host operators, confirmed directly in NEAR AI's own technical docs.</a:t>
            </a:r>
            <a:endParaRPr lang="en-US" sz="1200" dirty="0"/>
          </a:p>
        </p:txBody>
      </p:sp>
      <p:sp>
        <p:nvSpPr>
          <p:cNvPr id="8" name="Shape 6"/>
          <p:cNvSpPr/>
          <p:nvPr/>
        </p:nvSpPr>
        <p:spPr>
          <a:xfrm>
            <a:off x="548640" y="3931920"/>
            <a:ext cx="5394960" cy="2286000"/>
          </a:xfrm>
          <a:prstGeom prst="roundRect">
            <a:avLst>
              <a:gd name="adj" fmla="val 4000"/>
            </a:avLst>
          </a:prstGeom>
          <a:solidFill>
            <a:srgbClr val="1B3A2C"/>
          </a:solidFill>
          <a:ln w="12700">
            <a:solidFill>
              <a:srgbClr val="263569"/>
            </a:solidFill>
            <a:prstDash val="solid"/>
          </a:ln>
        </p:spPr>
      </p:sp>
      <p:sp>
        <p:nvSpPr>
          <p:cNvPr id="9" name="Text 7"/>
          <p:cNvSpPr/>
          <p:nvPr/>
        </p:nvSpPr>
        <p:spPr>
          <a:xfrm>
            <a:off x="822960" y="4096512"/>
            <a:ext cx="2743200" cy="274320"/>
          </a:xfrm>
          <a:prstGeom prst="rect">
            <a:avLst/>
          </a:prstGeom>
          <a:noFill/>
          <a:ln/>
        </p:spPr>
        <p:txBody>
          <a:bodyPr wrap="square" lIns="0" tIns="0" rIns="0" bIns="0" rtlCol="0" anchor="ctr"/>
          <a:lstStyle/>
          <a:p>
            <a:pPr marL="0" indent="0">
              <a:buNone/>
            </a:pPr>
            <a:r>
              <a:rPr lang="en-US" sz="1100" b="1" kern="0" spc="150" dirty="0">
                <a:solidFill>
                  <a:srgbClr val="34C77B"/>
                </a:solidFill>
                <a:latin typeface="Calibri" pitchFamily="34" charset="0"/>
                <a:ea typeface="Calibri" pitchFamily="34" charset="-122"/>
                <a:cs typeface="Calibri" pitchFamily="34" charset="-120"/>
              </a:rPr>
              <a:t>PROVEN</a:t>
            </a:r>
            <a:endParaRPr lang="en-US" sz="1100" dirty="0"/>
          </a:p>
        </p:txBody>
      </p:sp>
      <p:sp>
        <p:nvSpPr>
          <p:cNvPr id="10" name="Text 8"/>
          <p:cNvSpPr/>
          <p:nvPr/>
        </p:nvSpPr>
        <p:spPr>
          <a:xfrm>
            <a:off x="822960" y="4434840"/>
            <a:ext cx="4846320" cy="1645920"/>
          </a:xfrm>
          <a:prstGeom prst="rect">
            <a:avLst/>
          </a:prstGeom>
          <a:noFill/>
          <a:ln/>
        </p:spPr>
        <p:txBody>
          <a:bodyPr wrap="square" lIns="0" tIns="0" rIns="0" bIns="0" rtlCol="0" anchor="ctr"/>
          <a:lstStyle/>
          <a:p>
            <a:pPr marL="0" indent="0">
              <a:lnSpc>
                <a:spcPct val="128000"/>
              </a:lnSpc>
              <a:buNone/>
            </a:pPr>
            <a:r>
              <a:rPr lang="en-US" sz="1150" dirty="0">
                <a:solidFill>
                  <a:srgbClr val="FFFFFF"/>
                </a:solidFill>
                <a:latin typeface="Calibri" pitchFamily="34" charset="0"/>
                <a:ea typeface="Calibri" pitchFamily="34" charset="-122"/>
                <a:cs typeface="Calibri" pitchFamily="34" charset="-120"/>
              </a:rPr>
              <a:t>Agent reasoning calls carry a real, checkable TEE attestation. We independently validated a live, nonce-bound Intel TDX quote and NVIDIA GPU attestation against NEAR's own infrastructure — no API key or credits required.</a:t>
            </a:r>
            <a:endParaRPr lang="en-US" sz="1150" dirty="0"/>
          </a:p>
        </p:txBody>
      </p:sp>
      <p:sp>
        <p:nvSpPr>
          <p:cNvPr id="11" name="Shape 9"/>
          <p:cNvSpPr/>
          <p:nvPr/>
        </p:nvSpPr>
        <p:spPr>
          <a:xfrm>
            <a:off x="6217920" y="3931920"/>
            <a:ext cx="5394960" cy="2286000"/>
          </a:xfrm>
          <a:prstGeom prst="roundRect">
            <a:avLst>
              <a:gd name="adj" fmla="val 4000"/>
            </a:avLst>
          </a:prstGeom>
          <a:solidFill>
            <a:srgbClr val="3A2C1B"/>
          </a:solidFill>
          <a:ln w="12700">
            <a:solidFill>
              <a:srgbClr val="263569"/>
            </a:solidFill>
            <a:prstDash val="solid"/>
          </a:ln>
        </p:spPr>
      </p:sp>
      <p:sp>
        <p:nvSpPr>
          <p:cNvPr id="12" name="Text 10"/>
          <p:cNvSpPr/>
          <p:nvPr/>
        </p:nvSpPr>
        <p:spPr>
          <a:xfrm>
            <a:off x="6492240" y="4096512"/>
            <a:ext cx="3200400" cy="274320"/>
          </a:xfrm>
          <a:prstGeom prst="rect">
            <a:avLst/>
          </a:prstGeom>
          <a:noFill/>
          <a:ln/>
        </p:spPr>
        <p:txBody>
          <a:bodyPr wrap="square" lIns="0" tIns="0" rIns="0" bIns="0" rtlCol="0" anchor="ctr"/>
          <a:lstStyle/>
          <a:p>
            <a:pPr marL="0" indent="0">
              <a:buNone/>
            </a:pPr>
            <a:r>
              <a:rPr lang="en-US" sz="1100" b="1" kern="0" spc="150" dirty="0">
                <a:solidFill>
                  <a:srgbClr val="F0A93A"/>
                </a:solidFill>
                <a:latin typeface="Calibri" pitchFamily="34" charset="0"/>
                <a:ea typeface="Calibri" pitchFamily="34" charset="-122"/>
                <a:cs typeface="Calibri" pitchFamily="34" charset="-120"/>
              </a:rPr>
              <a:t>HONESTLY SCOPED</a:t>
            </a:r>
            <a:endParaRPr lang="en-US" sz="1100" dirty="0"/>
          </a:p>
        </p:txBody>
      </p:sp>
      <p:sp>
        <p:nvSpPr>
          <p:cNvPr id="13" name="Text 11"/>
          <p:cNvSpPr/>
          <p:nvPr/>
        </p:nvSpPr>
        <p:spPr>
          <a:xfrm>
            <a:off x="6492240" y="4434840"/>
            <a:ext cx="4846320" cy="1645920"/>
          </a:xfrm>
          <a:prstGeom prst="rect">
            <a:avLst/>
          </a:prstGeom>
          <a:noFill/>
          <a:ln/>
        </p:spPr>
        <p:txBody>
          <a:bodyPr wrap="square" lIns="0" tIns="0" rIns="0" bIns="0" rtlCol="0" anchor="ctr"/>
          <a:lstStyle/>
          <a:p>
            <a:pPr marL="0" indent="0">
              <a:lnSpc>
                <a:spcPct val="128000"/>
              </a:lnSpc>
              <a:buNone/>
            </a:pPr>
            <a:r>
              <a:rPr lang="en-US" sz="1150" dirty="0">
                <a:solidFill>
                  <a:srgbClr val="FFFFFF"/>
                </a:solidFill>
                <a:latin typeface="Calibri" pitchFamily="34" charset="0"/>
                <a:ea typeface="Calibri" pitchFamily="34" charset="-122"/>
                <a:cs typeface="Calibri" pitchFamily="34" charset="-120"/>
              </a:rPr>
              <a:t>Agent-runtime TEE hosting isn't a documented NEAR AI product today. Rather than repeat an unverified “runs in a TEE” claim, the orchestration layer is secured by Aegis's own credentialing instead — a distinction we can show a judge exactly, not blur.</a:t>
            </a:r>
            <a:endParaRPr lang="en-US" sz="1150" dirty="0"/>
          </a:p>
        </p:txBody>
      </p:sp>
      <p:sp>
        <p:nvSpPr>
          <p:cNvPr id="14" name="Text 12"/>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15" name="Text 13"/>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NEAR AI Integration   ·   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TECHNICAL DETAILS  ·  WIREFRAME</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Aegis Operator Console — Layout Wireframe</a:t>
            </a:r>
            <a:endParaRPr lang="en-US" sz="2700" dirty="0"/>
          </a:p>
        </p:txBody>
      </p:sp>
      <p:sp>
        <p:nvSpPr>
          <p:cNvPr id="5" name="Text 3"/>
          <p:cNvSpPr/>
          <p:nvPr/>
        </p:nvSpPr>
        <p:spPr>
          <a:xfrm>
            <a:off x="548640" y="1417320"/>
            <a:ext cx="10972800" cy="365760"/>
          </a:xfrm>
          <a:prstGeom prst="rect">
            <a:avLst/>
          </a:prstGeom>
          <a:noFill/>
          <a:ln/>
        </p:spPr>
        <p:txBody>
          <a:bodyPr wrap="square" lIns="0" tIns="0" rIns="0" bIns="0" rtlCol="0" anchor="ctr"/>
          <a:lstStyle/>
          <a:p>
            <a:pPr marL="0" indent="0">
              <a:buNone/>
            </a:pPr>
            <a:r>
              <a:rPr lang="en-US" sz="1200" dirty="0">
                <a:solidFill>
                  <a:srgbClr val="9AA6C9"/>
                </a:solidFill>
                <a:latin typeface="Calibri" pitchFamily="34" charset="0"/>
                <a:ea typeface="Calibri" pitchFamily="34" charset="-122"/>
                <a:cs typeface="Calibri" pitchFamily="34" charset="-120"/>
              </a:rPr>
              <a:t>Low-fidelity structural wireframe of the console's seven sections — the live, populated version appears as real screenshots on the Round 1 Evidence slide.</a:t>
            </a:r>
            <a:endParaRPr lang="en-US" sz="1200" dirty="0"/>
          </a:p>
        </p:txBody>
      </p:sp>
      <p:sp>
        <p:nvSpPr>
          <p:cNvPr id="6" name="Shape 4"/>
          <p:cNvSpPr/>
          <p:nvPr/>
        </p:nvSpPr>
        <p:spPr>
          <a:xfrm>
            <a:off x="548640" y="1920240"/>
            <a:ext cx="11064240" cy="4572000"/>
          </a:xfrm>
          <a:prstGeom prst="roundRect">
            <a:avLst>
              <a:gd name="adj" fmla="val 1200"/>
            </a:avLst>
          </a:prstGeom>
          <a:solidFill>
            <a:srgbClr val="0D1330"/>
          </a:solidFill>
          <a:ln w="15875">
            <a:solidFill>
              <a:srgbClr val="263569"/>
            </a:solidFill>
            <a:prstDash val="solid"/>
          </a:ln>
        </p:spPr>
      </p:sp>
      <p:sp>
        <p:nvSpPr>
          <p:cNvPr id="7" name="Shape 5"/>
          <p:cNvSpPr/>
          <p:nvPr/>
        </p:nvSpPr>
        <p:spPr>
          <a:xfrm>
            <a:off x="685800" y="2057400"/>
            <a:ext cx="10789920" cy="457200"/>
          </a:xfrm>
          <a:prstGeom prst="rect">
            <a:avLst/>
          </a:prstGeom>
          <a:solidFill>
            <a:srgbClr val="17224C"/>
          </a:solidFill>
          <a:ln w="12700">
            <a:solidFill>
              <a:srgbClr val="263569"/>
            </a:solidFill>
            <a:prstDash val="dash"/>
          </a:ln>
        </p:spPr>
      </p:sp>
      <p:sp>
        <p:nvSpPr>
          <p:cNvPr id="8" name="Text 6"/>
          <p:cNvSpPr/>
          <p:nvPr/>
        </p:nvSpPr>
        <p:spPr>
          <a:xfrm>
            <a:off x="868680" y="2057400"/>
            <a:ext cx="10424160" cy="457200"/>
          </a:xfrm>
          <a:prstGeom prst="rect">
            <a:avLst/>
          </a:prstGeom>
          <a:noFill/>
          <a:ln/>
        </p:spPr>
        <p:txBody>
          <a:bodyPr wrap="square" lIns="0" tIns="0" rIns="0" bIns="0" rtlCol="0" anchor="ctr"/>
          <a:lstStyle/>
          <a:p>
            <a:pPr marL="0" indent="0">
              <a:buNone/>
            </a:pPr>
            <a:r>
              <a:rPr lang="en-US" sz="1050" dirty="0">
                <a:solidFill>
                  <a:srgbClr val="CADCFC"/>
                </a:solidFill>
                <a:latin typeface="Courier New" pitchFamily="34" charset="0"/>
                <a:ea typeface="Courier New" pitchFamily="34" charset="-122"/>
                <a:cs typeface="Courier New" pitchFamily="34" charset="-120"/>
              </a:rPr>
              <a:t>1 · FLEET STATUS BAR — live agent count, role, connection state</a:t>
            </a:r>
            <a:endParaRPr lang="en-US" sz="1050" dirty="0"/>
          </a:p>
        </p:txBody>
      </p:sp>
      <p:sp>
        <p:nvSpPr>
          <p:cNvPr id="9" name="Shape 7"/>
          <p:cNvSpPr/>
          <p:nvPr/>
        </p:nvSpPr>
        <p:spPr>
          <a:xfrm>
            <a:off x="685800" y="2651760"/>
            <a:ext cx="4474159" cy="1965960"/>
          </a:xfrm>
          <a:prstGeom prst="rect">
            <a:avLst/>
          </a:prstGeom>
          <a:solidFill>
            <a:srgbClr val="17224C"/>
          </a:solidFill>
          <a:ln w="12700">
            <a:solidFill>
              <a:srgbClr val="263569"/>
            </a:solidFill>
            <a:prstDash val="dash"/>
          </a:ln>
        </p:spPr>
      </p:sp>
      <p:sp>
        <p:nvSpPr>
          <p:cNvPr id="10" name="Text 8"/>
          <p:cNvSpPr/>
          <p:nvPr/>
        </p:nvSpPr>
        <p:spPr>
          <a:xfrm>
            <a:off x="868680" y="2834640"/>
            <a:ext cx="4108399" cy="1554480"/>
          </a:xfrm>
          <a:prstGeom prst="rect">
            <a:avLst/>
          </a:prstGeom>
          <a:noFill/>
          <a:ln/>
        </p:spPr>
        <p:txBody>
          <a:bodyPr wrap="square" lIns="0" tIns="0" rIns="0" bIns="0" rtlCol="0" anchor="ctr"/>
          <a:lstStyle/>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2 · LIVE DECISION FEED</a:t>
            </a:r>
            <a:endParaRPr lang="en-US" sz="1050" dirty="0"/>
          </a:p>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Allow / deny stream over WebSocket, newest on top</a:t>
            </a:r>
            <a:endParaRPr lang="en-US" sz="1050" dirty="0"/>
          </a:p>
        </p:txBody>
      </p:sp>
      <p:sp>
        <p:nvSpPr>
          <p:cNvPr id="11" name="Shape 9"/>
          <p:cNvSpPr/>
          <p:nvPr/>
        </p:nvSpPr>
        <p:spPr>
          <a:xfrm>
            <a:off x="5297119" y="2651760"/>
            <a:ext cx="6041441" cy="914400"/>
          </a:xfrm>
          <a:prstGeom prst="rect">
            <a:avLst/>
          </a:prstGeom>
          <a:solidFill>
            <a:srgbClr val="17224C"/>
          </a:solidFill>
          <a:ln w="12700">
            <a:solidFill>
              <a:srgbClr val="263569"/>
            </a:solidFill>
            <a:prstDash val="dash"/>
          </a:ln>
        </p:spPr>
      </p:sp>
      <p:sp>
        <p:nvSpPr>
          <p:cNvPr id="12" name="Text 10"/>
          <p:cNvSpPr/>
          <p:nvPr/>
        </p:nvSpPr>
        <p:spPr>
          <a:xfrm>
            <a:off x="5479999" y="2651760"/>
            <a:ext cx="5675681" cy="914400"/>
          </a:xfrm>
          <a:prstGeom prst="rect">
            <a:avLst/>
          </a:prstGeom>
          <a:noFill/>
          <a:ln/>
        </p:spPr>
        <p:txBody>
          <a:bodyPr wrap="square" lIns="0" tIns="0" rIns="0" bIns="0" rtlCol="0" anchor="ctr"/>
          <a:lstStyle/>
          <a:p>
            <a:pPr marL="0" indent="0">
              <a:buNone/>
            </a:pPr>
            <a:r>
              <a:rPr lang="en-US" sz="1050" dirty="0">
                <a:solidFill>
                  <a:srgbClr val="CADCFC"/>
                </a:solidFill>
                <a:latin typeface="Courier New" pitchFamily="34" charset="0"/>
                <a:ea typeface="Courier New" pitchFamily="34" charset="-122"/>
                <a:cs typeface="Courier New" pitchFamily="34" charset="-120"/>
              </a:rPr>
              <a:t>3 · POLICY VIEWER — active RBAC rules per role</a:t>
            </a:r>
            <a:endParaRPr lang="en-US" sz="1050" dirty="0"/>
          </a:p>
        </p:txBody>
      </p:sp>
      <p:sp>
        <p:nvSpPr>
          <p:cNvPr id="13" name="Shape 11"/>
          <p:cNvSpPr/>
          <p:nvPr/>
        </p:nvSpPr>
        <p:spPr>
          <a:xfrm>
            <a:off x="5297119" y="3703320"/>
            <a:ext cx="6041441" cy="914400"/>
          </a:xfrm>
          <a:prstGeom prst="rect">
            <a:avLst/>
          </a:prstGeom>
          <a:solidFill>
            <a:srgbClr val="17224C"/>
          </a:solidFill>
          <a:ln w="12700">
            <a:solidFill>
              <a:srgbClr val="263569"/>
            </a:solidFill>
            <a:prstDash val="dash"/>
          </a:ln>
        </p:spPr>
      </p:sp>
      <p:sp>
        <p:nvSpPr>
          <p:cNvPr id="14" name="Text 12"/>
          <p:cNvSpPr/>
          <p:nvPr/>
        </p:nvSpPr>
        <p:spPr>
          <a:xfrm>
            <a:off x="5479999" y="3703320"/>
            <a:ext cx="5675681" cy="914400"/>
          </a:xfrm>
          <a:prstGeom prst="rect">
            <a:avLst/>
          </a:prstGeom>
          <a:noFill/>
          <a:ln/>
        </p:spPr>
        <p:txBody>
          <a:bodyPr wrap="square" lIns="0" tIns="0" rIns="0" bIns="0" rtlCol="0" anchor="ctr"/>
          <a:lstStyle/>
          <a:p>
            <a:pPr marL="0" indent="0">
              <a:buNone/>
            </a:pPr>
            <a:r>
              <a:rPr lang="en-US" sz="1050" dirty="0">
                <a:solidFill>
                  <a:srgbClr val="CADCFC"/>
                </a:solidFill>
                <a:latin typeface="Courier New" pitchFamily="34" charset="0"/>
                <a:ea typeface="Courier New" pitchFamily="34" charset="-122"/>
                <a:cs typeface="Courier New" pitchFamily="34" charset="-120"/>
              </a:rPr>
              <a:t>4 · SPEND-CAP EDITOR — hot-reloadable per-agent budgets</a:t>
            </a:r>
            <a:endParaRPr lang="en-US" sz="1050" dirty="0"/>
          </a:p>
        </p:txBody>
      </p:sp>
      <p:sp>
        <p:nvSpPr>
          <p:cNvPr id="15" name="Shape 13"/>
          <p:cNvSpPr/>
          <p:nvPr/>
        </p:nvSpPr>
        <p:spPr>
          <a:xfrm>
            <a:off x="685800" y="4754880"/>
            <a:ext cx="3505200" cy="1600200"/>
          </a:xfrm>
          <a:prstGeom prst="rect">
            <a:avLst/>
          </a:prstGeom>
          <a:solidFill>
            <a:srgbClr val="17224C"/>
          </a:solidFill>
          <a:ln w="12700">
            <a:solidFill>
              <a:srgbClr val="263569"/>
            </a:solidFill>
            <a:prstDash val="dash"/>
          </a:ln>
        </p:spPr>
      </p:sp>
      <p:sp>
        <p:nvSpPr>
          <p:cNvPr id="16" name="Text 14"/>
          <p:cNvSpPr/>
          <p:nvPr/>
        </p:nvSpPr>
        <p:spPr>
          <a:xfrm>
            <a:off x="868680" y="4754880"/>
            <a:ext cx="3139440" cy="1600200"/>
          </a:xfrm>
          <a:prstGeom prst="rect">
            <a:avLst/>
          </a:prstGeom>
          <a:noFill/>
          <a:ln/>
        </p:spPr>
        <p:txBody>
          <a:bodyPr wrap="square" lIns="0" tIns="0" rIns="0" bIns="0" rtlCol="0" anchor="ctr"/>
          <a:lstStyle/>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5 · KILL SWITCH</a:t>
            </a:r>
            <a:endParaRPr lang="en-US" sz="1050" dirty="0"/>
          </a:p>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Single-agent revoke</a:t>
            </a:r>
            <a:endParaRPr lang="en-US" sz="1050" dirty="0"/>
          </a:p>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 fleet emergency stop</a:t>
            </a:r>
            <a:endParaRPr lang="en-US" sz="1050" dirty="0"/>
          </a:p>
        </p:txBody>
      </p:sp>
      <p:sp>
        <p:nvSpPr>
          <p:cNvPr id="17" name="Shape 15"/>
          <p:cNvSpPr/>
          <p:nvPr/>
        </p:nvSpPr>
        <p:spPr>
          <a:xfrm>
            <a:off x="4328160" y="4754880"/>
            <a:ext cx="3505200" cy="1600200"/>
          </a:xfrm>
          <a:prstGeom prst="rect">
            <a:avLst/>
          </a:prstGeom>
          <a:solidFill>
            <a:srgbClr val="17224C"/>
          </a:solidFill>
          <a:ln w="12700">
            <a:solidFill>
              <a:srgbClr val="263569"/>
            </a:solidFill>
            <a:prstDash val="dash"/>
          </a:ln>
        </p:spPr>
      </p:sp>
      <p:sp>
        <p:nvSpPr>
          <p:cNvPr id="18" name="Text 16"/>
          <p:cNvSpPr/>
          <p:nvPr/>
        </p:nvSpPr>
        <p:spPr>
          <a:xfrm>
            <a:off x="4511040" y="4754880"/>
            <a:ext cx="3139440" cy="1600200"/>
          </a:xfrm>
          <a:prstGeom prst="rect">
            <a:avLst/>
          </a:prstGeom>
          <a:noFill/>
          <a:ln/>
        </p:spPr>
        <p:txBody>
          <a:bodyPr wrap="square" lIns="0" tIns="0" rIns="0" bIns="0" rtlCol="0" anchor="ctr"/>
          <a:lstStyle/>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6 · LATENCY PANEL</a:t>
            </a:r>
            <a:endParaRPr lang="en-US" sz="1050" dirty="0"/>
          </a:p>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Client-measured</a:t>
            </a:r>
            <a:endParaRPr lang="en-US" sz="1050" dirty="0"/>
          </a:p>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round-trip times</a:t>
            </a:r>
            <a:endParaRPr lang="en-US" sz="1050" dirty="0"/>
          </a:p>
        </p:txBody>
      </p:sp>
      <p:sp>
        <p:nvSpPr>
          <p:cNvPr id="19" name="Shape 17"/>
          <p:cNvSpPr/>
          <p:nvPr/>
        </p:nvSpPr>
        <p:spPr>
          <a:xfrm>
            <a:off x="7970520" y="4754880"/>
            <a:ext cx="3505200" cy="1600200"/>
          </a:xfrm>
          <a:prstGeom prst="rect">
            <a:avLst/>
          </a:prstGeom>
          <a:solidFill>
            <a:srgbClr val="17224C"/>
          </a:solidFill>
          <a:ln w="12700">
            <a:solidFill>
              <a:srgbClr val="263569"/>
            </a:solidFill>
            <a:prstDash val="dash"/>
          </a:ln>
        </p:spPr>
      </p:sp>
      <p:sp>
        <p:nvSpPr>
          <p:cNvPr id="20" name="Text 18"/>
          <p:cNvSpPr/>
          <p:nvPr/>
        </p:nvSpPr>
        <p:spPr>
          <a:xfrm>
            <a:off x="8153400" y="4754880"/>
            <a:ext cx="3139440" cy="1600200"/>
          </a:xfrm>
          <a:prstGeom prst="rect">
            <a:avLst/>
          </a:prstGeom>
          <a:noFill/>
          <a:ln/>
        </p:spPr>
        <p:txBody>
          <a:bodyPr wrap="square" lIns="0" tIns="0" rIns="0" bIns="0" rtlCol="0" anchor="ctr"/>
          <a:lstStyle/>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7 · LEDGER INTEGRITY</a:t>
            </a:r>
            <a:endParaRPr lang="en-US" sz="1050" dirty="0"/>
          </a:p>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Hash-chain verify</a:t>
            </a:r>
            <a:endParaRPr lang="en-US" sz="1050" dirty="0"/>
          </a:p>
          <a:p>
            <a:pPr marL="0" indent="0">
              <a:lnSpc>
                <a:spcPct val="130000"/>
              </a:lnSpc>
              <a:buNone/>
            </a:pPr>
            <a:r>
              <a:rPr lang="en-US" sz="1050" dirty="0">
                <a:solidFill>
                  <a:srgbClr val="CADCFC"/>
                </a:solidFill>
                <a:latin typeface="Courier New" pitchFamily="34" charset="0"/>
                <a:ea typeface="Courier New" pitchFamily="34" charset="-122"/>
                <a:cs typeface="Courier New" pitchFamily="34" charset="-120"/>
              </a:rPr>
              <a:t>status, one click</a:t>
            </a:r>
            <a:endParaRPr lang="en-US" sz="1050" dirty="0"/>
          </a:p>
        </p:txBody>
      </p:sp>
      <p:sp>
        <p:nvSpPr>
          <p:cNvPr id="21" name="Text 19"/>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22" name="Text 20"/>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Wireframe   ·   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TECHNICAL DETAILS  ·  ASSUMPTIONS, CONSTRAINTS &amp; SCALABILITY</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Built to Scale Out, Not to Be Redesigned</a:t>
            </a:r>
            <a:endParaRPr lang="en-US" sz="2700" dirty="0"/>
          </a:p>
        </p:txBody>
      </p:sp>
      <p:sp>
        <p:nvSpPr>
          <p:cNvPr id="5" name="Shape 3"/>
          <p:cNvSpPr/>
          <p:nvPr/>
        </p:nvSpPr>
        <p:spPr>
          <a:xfrm>
            <a:off x="548640" y="1737360"/>
            <a:ext cx="5394960" cy="4434840"/>
          </a:xfrm>
          <a:prstGeom prst="roundRect">
            <a:avLst>
              <a:gd name="adj" fmla="val 2062"/>
            </a:avLst>
          </a:prstGeom>
          <a:solidFill>
            <a:srgbClr val="121B3F"/>
          </a:solidFill>
          <a:ln w="12700">
            <a:solidFill>
              <a:srgbClr val="263569"/>
            </a:solidFill>
            <a:prstDash val="solid"/>
          </a:ln>
        </p:spPr>
      </p:sp>
      <p:sp>
        <p:nvSpPr>
          <p:cNvPr id="6" name="Text 4"/>
          <p:cNvSpPr/>
          <p:nvPr/>
        </p:nvSpPr>
        <p:spPr>
          <a:xfrm>
            <a:off x="822960" y="1920240"/>
            <a:ext cx="4846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Assumptions &amp; Constraints</a:t>
            </a:r>
            <a:endParaRPr lang="en-US" sz="1500" dirty="0"/>
          </a:p>
        </p:txBody>
      </p:sp>
      <p:sp>
        <p:nvSpPr>
          <p:cNvPr id="7" name="Shape 5"/>
          <p:cNvSpPr/>
          <p:nvPr/>
        </p:nvSpPr>
        <p:spPr>
          <a:xfrm>
            <a:off x="822960" y="2395728"/>
            <a:ext cx="237744" cy="237744"/>
          </a:xfrm>
          <a:prstGeom prst="ellipse">
            <a:avLst/>
          </a:prstGeom>
          <a:solidFill>
            <a:srgbClr val="0E1638"/>
          </a:solidFill>
          <a:ln/>
        </p:spPr>
      </p:sp>
      <p:sp>
        <p:nvSpPr>
          <p:cNvPr id="8" name="Text 6"/>
          <p:cNvSpPr/>
          <p:nvPr/>
        </p:nvSpPr>
        <p:spPr>
          <a:xfrm>
            <a:off x="822960" y="2395728"/>
            <a:ext cx="237744" cy="237744"/>
          </a:xfrm>
          <a:prstGeom prst="rect">
            <a:avLst/>
          </a:prstGeom>
          <a:noFill/>
          <a:ln/>
        </p:spPr>
        <p:txBody>
          <a:bodyPr wrap="square" lIns="0" tIns="0" rIns="0" bIns="0" rtlCol="0" anchor="ctr"/>
          <a:lstStyle/>
          <a:p>
            <a:pPr marL="0" indent="0" algn="ctr">
              <a:buNone/>
            </a:pPr>
            <a:r>
              <a:rPr lang="en-US" sz="1000" b="1" dirty="0">
                <a:solidFill>
                  <a:srgbClr val="5B8DFF"/>
                </a:solidFill>
                <a:latin typeface="Calibri" pitchFamily="34" charset="0"/>
                <a:ea typeface="Calibri" pitchFamily="34" charset="-122"/>
                <a:cs typeface="Calibri" pitchFamily="34" charset="-120"/>
              </a:rPr>
              <a:t>●</a:t>
            </a:r>
            <a:endParaRPr lang="en-US" sz="1000" dirty="0"/>
          </a:p>
        </p:txBody>
      </p:sp>
      <p:sp>
        <p:nvSpPr>
          <p:cNvPr id="9" name="Text 7"/>
          <p:cNvSpPr/>
          <p:nvPr/>
        </p:nvSpPr>
        <p:spPr>
          <a:xfrm>
            <a:off x="1170432" y="2340864"/>
            <a:ext cx="4617720" cy="868680"/>
          </a:xfrm>
          <a:prstGeom prst="rect">
            <a:avLst/>
          </a:prstGeom>
          <a:noFill/>
          <a:ln/>
        </p:spPr>
        <p:txBody>
          <a:bodyPr wrap="square" lIns="0" tIns="0" rIns="0" bIns="0" rtlCol="0" anchor="ctr"/>
          <a:lstStyle/>
          <a:p>
            <a:pPr marL="0" indent="0">
              <a:lnSpc>
                <a:spcPct val="120000"/>
              </a:lnSpc>
              <a:buNone/>
            </a:pPr>
            <a:r>
              <a:rPr lang="en-US" sz="1070" dirty="0">
                <a:solidFill>
                  <a:srgbClr val="9AA6C9"/>
                </a:solidFill>
                <a:latin typeface="Calibri" pitchFamily="34" charset="0"/>
                <a:ea typeface="Calibri" pitchFamily="34" charset="-122"/>
                <a:cs typeface="Calibri" pitchFamily="34" charset="-120"/>
              </a:rPr>
              <a:t>Latency risk: enforcement targets &lt;10ms p95 overhead — validated with a load-test harness in Round 2, not yet independently measured end-to-end.</a:t>
            </a:r>
            <a:endParaRPr lang="en-US" sz="1070" dirty="0"/>
          </a:p>
        </p:txBody>
      </p:sp>
      <p:sp>
        <p:nvSpPr>
          <p:cNvPr id="10" name="Shape 8"/>
          <p:cNvSpPr/>
          <p:nvPr/>
        </p:nvSpPr>
        <p:spPr>
          <a:xfrm>
            <a:off x="822960" y="3291840"/>
            <a:ext cx="237744" cy="237744"/>
          </a:xfrm>
          <a:prstGeom prst="ellipse">
            <a:avLst/>
          </a:prstGeom>
          <a:solidFill>
            <a:srgbClr val="0E1638"/>
          </a:solidFill>
          <a:ln/>
        </p:spPr>
      </p:sp>
      <p:sp>
        <p:nvSpPr>
          <p:cNvPr id="11" name="Text 9"/>
          <p:cNvSpPr/>
          <p:nvPr/>
        </p:nvSpPr>
        <p:spPr>
          <a:xfrm>
            <a:off x="822960" y="3291840"/>
            <a:ext cx="237744" cy="237744"/>
          </a:xfrm>
          <a:prstGeom prst="rect">
            <a:avLst/>
          </a:prstGeom>
          <a:noFill/>
          <a:ln/>
        </p:spPr>
        <p:txBody>
          <a:bodyPr wrap="square" lIns="0" tIns="0" rIns="0" bIns="0" rtlCol="0" anchor="ctr"/>
          <a:lstStyle/>
          <a:p>
            <a:pPr marL="0" indent="0" algn="ctr">
              <a:buNone/>
            </a:pPr>
            <a:r>
              <a:rPr lang="en-US" sz="1000" b="1" dirty="0">
                <a:solidFill>
                  <a:srgbClr val="5B8DFF"/>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1170432" y="3236976"/>
            <a:ext cx="4617720" cy="868680"/>
          </a:xfrm>
          <a:prstGeom prst="rect">
            <a:avLst/>
          </a:prstGeom>
          <a:noFill/>
          <a:ln/>
        </p:spPr>
        <p:txBody>
          <a:bodyPr wrap="square" lIns="0" tIns="0" rIns="0" bIns="0" rtlCol="0" anchor="ctr"/>
          <a:lstStyle/>
          <a:p>
            <a:pPr marL="0" indent="0">
              <a:lnSpc>
                <a:spcPct val="120000"/>
              </a:lnSpc>
              <a:buNone/>
            </a:pPr>
            <a:r>
              <a:rPr lang="en-US" sz="1070" dirty="0">
                <a:solidFill>
                  <a:srgbClr val="9AA6C9"/>
                </a:solidFill>
                <a:latin typeface="Calibri" pitchFamily="34" charset="0"/>
                <a:ea typeface="Calibri" pitchFamily="34" charset="-122"/>
                <a:cs typeface="Calibri" pitchFamily="34" charset="-120"/>
              </a:rPr>
              <a:t>Demo reliability: every service (OPA, Redis, Postgres, Gateway, Console) runs locally via Docker Compose — no dependence on cloud uptime during judging.</a:t>
            </a:r>
            <a:endParaRPr lang="en-US" sz="1070" dirty="0"/>
          </a:p>
        </p:txBody>
      </p:sp>
      <p:sp>
        <p:nvSpPr>
          <p:cNvPr id="13" name="Shape 11"/>
          <p:cNvSpPr/>
          <p:nvPr/>
        </p:nvSpPr>
        <p:spPr>
          <a:xfrm>
            <a:off x="822960" y="4187952"/>
            <a:ext cx="237744" cy="237744"/>
          </a:xfrm>
          <a:prstGeom prst="ellipse">
            <a:avLst/>
          </a:prstGeom>
          <a:solidFill>
            <a:srgbClr val="0E1638"/>
          </a:solidFill>
          <a:ln/>
        </p:spPr>
      </p:sp>
      <p:sp>
        <p:nvSpPr>
          <p:cNvPr id="14" name="Text 12"/>
          <p:cNvSpPr/>
          <p:nvPr/>
        </p:nvSpPr>
        <p:spPr>
          <a:xfrm>
            <a:off x="822960" y="4187952"/>
            <a:ext cx="237744" cy="237744"/>
          </a:xfrm>
          <a:prstGeom prst="rect">
            <a:avLst/>
          </a:prstGeom>
          <a:noFill/>
          <a:ln/>
        </p:spPr>
        <p:txBody>
          <a:bodyPr wrap="square" lIns="0" tIns="0" rIns="0" bIns="0" rtlCol="0" anchor="ctr"/>
          <a:lstStyle/>
          <a:p>
            <a:pPr marL="0" indent="0" algn="ctr">
              <a:buNone/>
            </a:pPr>
            <a:r>
              <a:rPr lang="en-US" sz="1000" b="1" dirty="0">
                <a:solidFill>
                  <a:srgbClr val="5B8DFF"/>
                </a:solidFill>
                <a:latin typeface="Calibri" pitchFamily="34" charset="0"/>
                <a:ea typeface="Calibri" pitchFamily="34" charset="-122"/>
                <a:cs typeface="Calibri" pitchFamily="34" charset="-120"/>
              </a:rPr>
              <a:t>●</a:t>
            </a:r>
            <a:endParaRPr lang="en-US" sz="1000" dirty="0"/>
          </a:p>
        </p:txBody>
      </p:sp>
      <p:sp>
        <p:nvSpPr>
          <p:cNvPr id="15" name="Text 13"/>
          <p:cNvSpPr/>
          <p:nvPr/>
        </p:nvSpPr>
        <p:spPr>
          <a:xfrm>
            <a:off x="1170432" y="4133088"/>
            <a:ext cx="4617720" cy="868680"/>
          </a:xfrm>
          <a:prstGeom prst="rect">
            <a:avLst/>
          </a:prstGeom>
          <a:noFill/>
          <a:ln/>
        </p:spPr>
        <p:txBody>
          <a:bodyPr wrap="square" lIns="0" tIns="0" rIns="0" bIns="0" rtlCol="0" anchor="ctr"/>
          <a:lstStyle/>
          <a:p>
            <a:pPr marL="0" indent="0">
              <a:lnSpc>
                <a:spcPct val="120000"/>
              </a:lnSpc>
              <a:buNone/>
            </a:pPr>
            <a:r>
              <a:rPr lang="en-US" sz="1070" dirty="0">
                <a:solidFill>
                  <a:srgbClr val="9AA6C9"/>
                </a:solidFill>
                <a:latin typeface="Calibri" pitchFamily="34" charset="0"/>
                <a:ea typeface="Calibri" pitchFamily="34" charset="-122"/>
                <a:cs typeface="Calibri" pitchFamily="34" charset="-120"/>
              </a:rPr>
              <a:t>NEAR AI dependency: isolated behind an agent-runner interface, so agents run locally with identical policy behavior if sandbox access is constrained.</a:t>
            </a:r>
            <a:endParaRPr lang="en-US" sz="1070" dirty="0"/>
          </a:p>
        </p:txBody>
      </p:sp>
      <p:sp>
        <p:nvSpPr>
          <p:cNvPr id="16" name="Shape 14"/>
          <p:cNvSpPr/>
          <p:nvPr/>
        </p:nvSpPr>
        <p:spPr>
          <a:xfrm>
            <a:off x="822960" y="5084064"/>
            <a:ext cx="237744" cy="237744"/>
          </a:xfrm>
          <a:prstGeom prst="ellipse">
            <a:avLst/>
          </a:prstGeom>
          <a:solidFill>
            <a:srgbClr val="0E1638"/>
          </a:solidFill>
          <a:ln/>
        </p:spPr>
      </p:sp>
      <p:sp>
        <p:nvSpPr>
          <p:cNvPr id="17" name="Text 15"/>
          <p:cNvSpPr/>
          <p:nvPr/>
        </p:nvSpPr>
        <p:spPr>
          <a:xfrm>
            <a:off x="822960" y="5084064"/>
            <a:ext cx="237744" cy="237744"/>
          </a:xfrm>
          <a:prstGeom prst="rect">
            <a:avLst/>
          </a:prstGeom>
          <a:noFill/>
          <a:ln/>
        </p:spPr>
        <p:txBody>
          <a:bodyPr wrap="square" lIns="0" tIns="0" rIns="0" bIns="0" rtlCol="0" anchor="ctr"/>
          <a:lstStyle/>
          <a:p>
            <a:pPr marL="0" indent="0" algn="ctr">
              <a:buNone/>
            </a:pPr>
            <a:r>
              <a:rPr lang="en-US" sz="1000" b="1" dirty="0">
                <a:solidFill>
                  <a:srgbClr val="5B8DFF"/>
                </a:solidFill>
                <a:latin typeface="Calibri" pitchFamily="34" charset="0"/>
                <a:ea typeface="Calibri" pitchFamily="34" charset="-122"/>
                <a:cs typeface="Calibri" pitchFamily="34" charset="-120"/>
              </a:rPr>
              <a:t>●</a:t>
            </a:r>
            <a:endParaRPr lang="en-US" sz="1000" dirty="0"/>
          </a:p>
        </p:txBody>
      </p:sp>
      <p:sp>
        <p:nvSpPr>
          <p:cNvPr id="18" name="Text 16"/>
          <p:cNvSpPr/>
          <p:nvPr/>
        </p:nvSpPr>
        <p:spPr>
          <a:xfrm>
            <a:off x="1170432" y="5029200"/>
            <a:ext cx="4617720" cy="868680"/>
          </a:xfrm>
          <a:prstGeom prst="rect">
            <a:avLst/>
          </a:prstGeom>
          <a:noFill/>
          <a:ln/>
        </p:spPr>
        <p:txBody>
          <a:bodyPr wrap="square" lIns="0" tIns="0" rIns="0" bIns="0" rtlCol="0" anchor="ctr"/>
          <a:lstStyle/>
          <a:p>
            <a:pPr marL="0" indent="0">
              <a:lnSpc>
                <a:spcPct val="120000"/>
              </a:lnSpc>
              <a:buNone/>
            </a:pPr>
            <a:r>
              <a:rPr lang="en-US" sz="1070" dirty="0">
                <a:solidFill>
                  <a:srgbClr val="9AA6C9"/>
                </a:solidFill>
                <a:latin typeface="Calibri" pitchFamily="34" charset="0"/>
                <a:ea typeface="Calibri" pitchFamily="34" charset="-122"/>
                <a:cs typeface="Calibri" pitchFamily="34" charset="-120"/>
              </a:rPr>
              <a:t>Agent-side authentication on /agent-action is not yet enforced today — only operator endpoints (revoke, restore, cap changes) are key-protected.</a:t>
            </a:r>
            <a:endParaRPr lang="en-US" sz="1070" dirty="0"/>
          </a:p>
        </p:txBody>
      </p:sp>
      <p:sp>
        <p:nvSpPr>
          <p:cNvPr id="19" name="Shape 17"/>
          <p:cNvSpPr/>
          <p:nvPr/>
        </p:nvSpPr>
        <p:spPr>
          <a:xfrm>
            <a:off x="6217920" y="1737360"/>
            <a:ext cx="5394960" cy="4434840"/>
          </a:xfrm>
          <a:prstGeom prst="roundRect">
            <a:avLst>
              <a:gd name="adj" fmla="val 2062"/>
            </a:avLst>
          </a:prstGeom>
          <a:solidFill>
            <a:srgbClr val="17224C"/>
          </a:solidFill>
          <a:ln w="12700">
            <a:solidFill>
              <a:srgbClr val="263569"/>
            </a:solidFill>
            <a:prstDash val="solid"/>
          </a:ln>
        </p:spPr>
      </p:sp>
      <p:sp>
        <p:nvSpPr>
          <p:cNvPr id="20" name="Text 18"/>
          <p:cNvSpPr/>
          <p:nvPr/>
        </p:nvSpPr>
        <p:spPr>
          <a:xfrm>
            <a:off x="6492240" y="1920240"/>
            <a:ext cx="484632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Scalability</a:t>
            </a:r>
            <a:endParaRPr lang="en-US" sz="1500" dirty="0"/>
          </a:p>
        </p:txBody>
      </p:sp>
      <p:sp>
        <p:nvSpPr>
          <p:cNvPr id="21" name="Text 19"/>
          <p:cNvSpPr/>
          <p:nvPr/>
        </p:nvSpPr>
        <p:spPr>
          <a:xfrm>
            <a:off x="6492240" y="2331720"/>
            <a:ext cx="4846320" cy="777240"/>
          </a:xfrm>
          <a:prstGeom prst="rect">
            <a:avLst/>
          </a:prstGeom>
          <a:noFill/>
          <a:ln/>
        </p:spPr>
        <p:txBody>
          <a:bodyPr wrap="square" lIns="0" tIns="0" rIns="0" bIns="0"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The gateway is stateless — all fleet, spend, and ledger state lives in Redis and PostgreSQL — so scaling out means running more gateway replicas behind a load balancer, not a redesign.</a:t>
            </a:r>
            <a:endParaRPr lang="en-US" sz="1150" dirty="0"/>
          </a:p>
        </p:txBody>
      </p:sp>
      <p:sp>
        <p:nvSpPr>
          <p:cNvPr id="22" name="Text 20"/>
          <p:cNvSpPr/>
          <p:nvPr/>
        </p:nvSpPr>
        <p:spPr>
          <a:xfrm>
            <a:off x="6492240" y="3200400"/>
            <a:ext cx="4846320" cy="777240"/>
          </a:xfrm>
          <a:prstGeom prst="rect">
            <a:avLst/>
          </a:prstGeom>
          <a:noFill/>
          <a:ln/>
        </p:spPr>
        <p:txBody>
          <a:bodyPr wrap="square" lIns="0" tIns="0" rIns="0" bIns="0" rtlCol="0" anchor="ctr"/>
          <a:lstStyle/>
          <a:p>
            <a:pPr marL="0" indent="0">
              <a:lnSpc>
                <a:spcPct val="125000"/>
              </a:lnSpc>
              <a:buNone/>
            </a:pPr>
            <a:r>
              <a:rPr lang="en-US" sz="1150" dirty="0">
                <a:solidFill>
                  <a:srgbClr val="9AA6C9"/>
                </a:solidFill>
                <a:latin typeface="Calibri" pitchFamily="34" charset="0"/>
                <a:ea typeface="Calibri" pitchFamily="34" charset="-122"/>
                <a:cs typeface="Calibri" pitchFamily="34" charset="-120"/>
              </a:rPr>
              <a:t>The kill-switch fan-out is already built for this: events relay through Redis Pub/Sub rather than being pushed in-process, so any replica can serve any operator console.</a:t>
            </a:r>
            <a:endParaRPr lang="en-US" sz="1150" dirty="0"/>
          </a:p>
        </p:txBody>
      </p:sp>
      <p:sp>
        <p:nvSpPr>
          <p:cNvPr id="23" name="Text 21"/>
          <p:cNvSpPr/>
          <p:nvPr/>
        </p:nvSpPr>
        <p:spPr>
          <a:xfrm>
            <a:off x="6492240" y="4069080"/>
            <a:ext cx="4846320" cy="1005840"/>
          </a:xfrm>
          <a:prstGeom prst="rect">
            <a:avLst/>
          </a:prstGeom>
          <a:noFill/>
          <a:ln/>
        </p:spPr>
        <p:txBody>
          <a:bodyPr wrap="square" lIns="0" tIns="0" rIns="0" bIns="0" rtlCol="0" anchor="ctr"/>
          <a:lstStyle/>
          <a:p>
            <a:pPr marL="0" indent="0">
              <a:lnSpc>
                <a:spcPct val="125000"/>
              </a:lnSpc>
              <a:buNone/>
            </a:pPr>
            <a:r>
              <a:rPr lang="en-US" sz="1150" dirty="0">
                <a:solidFill>
                  <a:srgbClr val="9AA6C9"/>
                </a:solidFill>
                <a:latin typeface="Calibri" pitchFamily="34" charset="0"/>
                <a:ea typeface="Calibri" pitchFamily="34" charset="-122"/>
                <a:cs typeface="Calibri" pitchFamily="34" charset="-120"/>
              </a:rPr>
              <a:t>Redis and PostgreSQL scale independently via standard clustering and read-replica patterns as fleet size grows — directly relevant to a bank onboarding agent fleets one business line at a time rather than all at once.</a:t>
            </a:r>
            <a:endParaRPr lang="en-US" sz="1150" dirty="0"/>
          </a:p>
        </p:txBody>
      </p:sp>
      <p:sp>
        <p:nvSpPr>
          <p:cNvPr id="24" name="Shape 22"/>
          <p:cNvSpPr/>
          <p:nvPr/>
        </p:nvSpPr>
        <p:spPr>
          <a:xfrm>
            <a:off x="6492240" y="5257800"/>
            <a:ext cx="4572000" cy="457200"/>
          </a:xfrm>
          <a:prstGeom prst="roundRect">
            <a:avLst>
              <a:gd name="adj" fmla="val 50000"/>
            </a:avLst>
          </a:prstGeom>
          <a:solidFill>
            <a:srgbClr val="1B3A2C"/>
          </a:solidFill>
          <a:ln/>
        </p:spPr>
      </p:sp>
      <p:sp>
        <p:nvSpPr>
          <p:cNvPr id="25" name="Text 23"/>
          <p:cNvSpPr/>
          <p:nvPr/>
        </p:nvSpPr>
        <p:spPr>
          <a:xfrm>
            <a:off x="6492240" y="5257800"/>
            <a:ext cx="4572000" cy="457200"/>
          </a:xfrm>
          <a:prstGeom prst="rect">
            <a:avLst/>
          </a:prstGeom>
          <a:noFill/>
          <a:ln/>
        </p:spPr>
        <p:txBody>
          <a:bodyPr wrap="square" lIns="0" tIns="0" rIns="0" bIns="0" rtlCol="0" anchor="ctr"/>
          <a:lstStyle/>
          <a:p>
            <a:pPr marL="0" indent="0" algn="ctr">
              <a:buNone/>
            </a:pPr>
            <a:r>
              <a:rPr lang="en-US" sz="1050" b="1" dirty="0">
                <a:solidFill>
                  <a:srgbClr val="34C77B"/>
                </a:solidFill>
                <a:latin typeface="Calibri" pitchFamily="34" charset="0"/>
                <a:ea typeface="Calibri" pitchFamily="34" charset="-122"/>
                <a:cs typeface="Calibri" pitchFamily="34" charset="-120"/>
              </a:rPr>
              <a:t>STATELESS GATEWAY  ·  SCALE BY REPLICA, NOT REDESIGN</a:t>
            </a:r>
            <a:endParaRPr lang="en-US" sz="1050" dirty="0"/>
          </a:p>
        </p:txBody>
      </p:sp>
      <p:sp>
        <p:nvSpPr>
          <p:cNvPr id="26" name="Text 2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27" name="Text 25"/>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Assumptions &amp; Scalability   ·   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SOLUTION OVERVIEW  ·  SUCCESS METRICS</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How We'll Know AegisAgent Is Working</a:t>
            </a:r>
            <a:endParaRPr lang="en-US" sz="2700" dirty="0"/>
          </a:p>
        </p:txBody>
      </p:sp>
      <p:sp>
        <p:nvSpPr>
          <p:cNvPr id="5" name="Text 3"/>
          <p:cNvSpPr/>
          <p:nvPr/>
        </p:nvSpPr>
        <p:spPr>
          <a:xfrm>
            <a:off x="548640" y="1508760"/>
            <a:ext cx="7315200" cy="274320"/>
          </a:xfrm>
          <a:prstGeom prst="rect">
            <a:avLst/>
          </a:prstGeom>
          <a:noFill/>
          <a:ln/>
        </p:spPr>
        <p:txBody>
          <a:bodyPr wrap="square" lIns="0" tIns="0" rIns="0" bIns="0" rtlCol="0" anchor="ctr"/>
          <a:lstStyle/>
          <a:p>
            <a:pPr marL="0" indent="0">
              <a:buNone/>
            </a:pPr>
            <a:r>
              <a:rPr lang="en-US" sz="1200" b="1" kern="0" spc="100" dirty="0">
                <a:solidFill>
                  <a:srgbClr val="34C77B"/>
                </a:solidFill>
                <a:latin typeface="Calibri" pitchFamily="34" charset="0"/>
                <a:ea typeface="Calibri" pitchFamily="34" charset="-122"/>
                <a:cs typeface="Calibri" pitchFamily="34" charset="-120"/>
              </a:rPr>
              <a:t>PROVEN TODAY — measured against the live Round 1 stack</a:t>
            </a:r>
            <a:endParaRPr lang="en-US" sz="1200" dirty="0"/>
          </a:p>
        </p:txBody>
      </p:sp>
      <p:sp>
        <p:nvSpPr>
          <p:cNvPr id="6" name="Shape 4"/>
          <p:cNvSpPr/>
          <p:nvPr/>
        </p:nvSpPr>
        <p:spPr>
          <a:xfrm>
            <a:off x="548640" y="1874520"/>
            <a:ext cx="2121408" cy="1600200"/>
          </a:xfrm>
          <a:prstGeom prst="roundRect">
            <a:avLst>
              <a:gd name="adj" fmla="val 5714"/>
            </a:avLst>
          </a:prstGeom>
          <a:solidFill>
            <a:srgbClr val="1B3A2C"/>
          </a:solidFill>
          <a:ln w="12700">
            <a:solidFill>
              <a:srgbClr val="263569"/>
            </a:solidFill>
            <a:prstDash val="solid"/>
          </a:ln>
        </p:spPr>
      </p:sp>
      <p:sp>
        <p:nvSpPr>
          <p:cNvPr id="7" name="Text 5"/>
          <p:cNvSpPr/>
          <p:nvPr/>
        </p:nvSpPr>
        <p:spPr>
          <a:xfrm>
            <a:off x="685800" y="2011680"/>
            <a:ext cx="1847088" cy="502920"/>
          </a:xfrm>
          <a:prstGeom prst="rect">
            <a:avLst/>
          </a:prstGeom>
          <a:noFill/>
          <a:ln/>
        </p:spPr>
        <p:txBody>
          <a:bodyPr wrap="square" lIns="0" tIns="0" rIns="0" bIns="0" rtlCol="0" anchor="ctr"/>
          <a:lstStyle/>
          <a:p>
            <a:pPr marL="0" indent="0">
              <a:buNone/>
            </a:pPr>
            <a:r>
              <a:rPr lang="en-US" sz="1900" b="1" dirty="0">
                <a:solidFill>
                  <a:srgbClr val="34C77B"/>
                </a:solidFill>
                <a:latin typeface="Calibri" pitchFamily="34" charset="0"/>
                <a:ea typeface="Calibri" pitchFamily="34" charset="-122"/>
                <a:cs typeface="Calibri" pitchFamily="34" charset="-120"/>
              </a:rPr>
              <a:t>4 / 4</a:t>
            </a:r>
            <a:endParaRPr lang="en-US" sz="1900" dirty="0"/>
          </a:p>
        </p:txBody>
      </p:sp>
      <p:sp>
        <p:nvSpPr>
          <p:cNvPr id="8" name="Text 6"/>
          <p:cNvSpPr/>
          <p:nvPr/>
        </p:nvSpPr>
        <p:spPr>
          <a:xfrm>
            <a:off x="685800" y="2542032"/>
            <a:ext cx="1847088" cy="868680"/>
          </a:xfrm>
          <a:prstGeom prst="rect">
            <a:avLst/>
          </a:prstGeom>
          <a:noFill/>
          <a:ln/>
        </p:spPr>
        <p:txBody>
          <a:bodyPr wrap="square" lIns="0" tIns="0" rIns="0" bIns="0" rtlCol="0" anchor="ctr"/>
          <a:lstStyle/>
          <a:p>
            <a:pPr marL="0" indent="0">
              <a:lnSpc>
                <a:spcPct val="118000"/>
              </a:lnSpc>
              <a:buNone/>
            </a:pPr>
            <a:r>
              <a:rPr lang="en-US" sz="930" dirty="0">
                <a:solidFill>
                  <a:srgbClr val="FFFFFF"/>
                </a:solidFill>
                <a:latin typeface="Calibri" pitchFamily="34" charset="0"/>
                <a:ea typeface="Calibri" pitchFamily="34" charset="-122"/>
                <a:cs typeface="Calibri" pitchFamily="34" charset="-120"/>
              </a:rPr>
              <a:t>Automated OPA policy tests passing (opa test), incl. deny-unknown-action</a:t>
            </a:r>
            <a:endParaRPr lang="en-US" sz="930" dirty="0"/>
          </a:p>
        </p:txBody>
      </p:sp>
      <p:sp>
        <p:nvSpPr>
          <p:cNvPr id="9" name="Shape 7"/>
          <p:cNvSpPr/>
          <p:nvPr/>
        </p:nvSpPr>
        <p:spPr>
          <a:xfrm>
            <a:off x="2798064" y="1874520"/>
            <a:ext cx="2121408" cy="1600200"/>
          </a:xfrm>
          <a:prstGeom prst="roundRect">
            <a:avLst>
              <a:gd name="adj" fmla="val 5714"/>
            </a:avLst>
          </a:prstGeom>
          <a:solidFill>
            <a:srgbClr val="1B3A2C"/>
          </a:solidFill>
          <a:ln w="12700">
            <a:solidFill>
              <a:srgbClr val="263569"/>
            </a:solidFill>
            <a:prstDash val="solid"/>
          </a:ln>
        </p:spPr>
      </p:sp>
      <p:sp>
        <p:nvSpPr>
          <p:cNvPr id="10" name="Text 8"/>
          <p:cNvSpPr/>
          <p:nvPr/>
        </p:nvSpPr>
        <p:spPr>
          <a:xfrm>
            <a:off x="2935224" y="2011680"/>
            <a:ext cx="1847088" cy="502920"/>
          </a:xfrm>
          <a:prstGeom prst="rect">
            <a:avLst/>
          </a:prstGeom>
          <a:noFill/>
          <a:ln/>
        </p:spPr>
        <p:txBody>
          <a:bodyPr wrap="square" lIns="0" tIns="0" rIns="0" bIns="0" rtlCol="0" anchor="ctr"/>
          <a:lstStyle/>
          <a:p>
            <a:pPr marL="0" indent="0">
              <a:buNone/>
            </a:pPr>
            <a:r>
              <a:rPr lang="en-US" sz="1900" b="1" dirty="0">
                <a:solidFill>
                  <a:srgbClr val="34C77B"/>
                </a:solidFill>
                <a:latin typeface="Calibri" pitchFamily="34" charset="0"/>
                <a:ea typeface="Calibri" pitchFamily="34" charset="-122"/>
                <a:cs typeface="Calibri" pitchFamily="34" charset="-120"/>
              </a:rPr>
              <a:t>87–137ms</a:t>
            </a:r>
            <a:endParaRPr lang="en-US" sz="1900" dirty="0"/>
          </a:p>
        </p:txBody>
      </p:sp>
      <p:sp>
        <p:nvSpPr>
          <p:cNvPr id="11" name="Text 9"/>
          <p:cNvSpPr/>
          <p:nvPr/>
        </p:nvSpPr>
        <p:spPr>
          <a:xfrm>
            <a:off x="2935224" y="2542032"/>
            <a:ext cx="1847088" cy="868680"/>
          </a:xfrm>
          <a:prstGeom prst="rect">
            <a:avLst/>
          </a:prstGeom>
          <a:noFill/>
          <a:ln/>
        </p:spPr>
        <p:txBody>
          <a:bodyPr wrap="square" lIns="0" tIns="0" rIns="0" bIns="0" rtlCol="0" anchor="ctr"/>
          <a:lstStyle/>
          <a:p>
            <a:pPr marL="0" indent="0">
              <a:lnSpc>
                <a:spcPct val="118000"/>
              </a:lnSpc>
              <a:buNone/>
            </a:pPr>
            <a:r>
              <a:rPr lang="en-US" sz="930" dirty="0">
                <a:solidFill>
                  <a:srgbClr val="FFFFFF"/>
                </a:solidFill>
                <a:latin typeface="Calibri" pitchFamily="34" charset="0"/>
                <a:ea typeface="Calibri" pitchFamily="34" charset="-122"/>
                <a:cs typeface="Calibri" pitchFamily="34" charset="-120"/>
              </a:rPr>
              <a:t>Full hash-chain audit re-verify across 8,039 rows</a:t>
            </a:r>
            <a:endParaRPr lang="en-US" sz="930" dirty="0"/>
          </a:p>
        </p:txBody>
      </p:sp>
      <p:sp>
        <p:nvSpPr>
          <p:cNvPr id="12" name="Shape 10"/>
          <p:cNvSpPr/>
          <p:nvPr/>
        </p:nvSpPr>
        <p:spPr>
          <a:xfrm>
            <a:off x="5047488" y="1874520"/>
            <a:ext cx="2121408" cy="1600200"/>
          </a:xfrm>
          <a:prstGeom prst="roundRect">
            <a:avLst>
              <a:gd name="adj" fmla="val 5714"/>
            </a:avLst>
          </a:prstGeom>
          <a:solidFill>
            <a:srgbClr val="1B3A2C"/>
          </a:solidFill>
          <a:ln w="12700">
            <a:solidFill>
              <a:srgbClr val="263569"/>
            </a:solidFill>
            <a:prstDash val="solid"/>
          </a:ln>
        </p:spPr>
      </p:sp>
      <p:sp>
        <p:nvSpPr>
          <p:cNvPr id="13" name="Text 11"/>
          <p:cNvSpPr/>
          <p:nvPr/>
        </p:nvSpPr>
        <p:spPr>
          <a:xfrm>
            <a:off x="5184648" y="2011680"/>
            <a:ext cx="1847088" cy="502920"/>
          </a:xfrm>
          <a:prstGeom prst="rect">
            <a:avLst/>
          </a:prstGeom>
          <a:noFill/>
          <a:ln/>
        </p:spPr>
        <p:txBody>
          <a:bodyPr wrap="square" lIns="0" tIns="0" rIns="0" bIns="0" rtlCol="0" anchor="ctr"/>
          <a:lstStyle/>
          <a:p>
            <a:pPr marL="0" indent="0">
              <a:buNone/>
            </a:pPr>
            <a:r>
              <a:rPr lang="en-US" sz="1900" b="1" dirty="0">
                <a:solidFill>
                  <a:srgbClr val="34C77B"/>
                </a:solidFill>
                <a:latin typeface="Calibri" pitchFamily="34" charset="0"/>
                <a:ea typeface="Calibri" pitchFamily="34" charset="-122"/>
                <a:cs typeface="Calibri" pitchFamily="34" charset="-120"/>
              </a:rPr>
              <a:t>100%</a:t>
            </a:r>
            <a:endParaRPr lang="en-US" sz="1900" dirty="0"/>
          </a:p>
        </p:txBody>
      </p:sp>
      <p:sp>
        <p:nvSpPr>
          <p:cNvPr id="14" name="Text 12"/>
          <p:cNvSpPr/>
          <p:nvPr/>
        </p:nvSpPr>
        <p:spPr>
          <a:xfrm>
            <a:off x="5184648" y="2542032"/>
            <a:ext cx="1847088" cy="868680"/>
          </a:xfrm>
          <a:prstGeom prst="rect">
            <a:avLst/>
          </a:prstGeom>
          <a:noFill/>
          <a:ln/>
        </p:spPr>
        <p:txBody>
          <a:bodyPr wrap="square" lIns="0" tIns="0" rIns="0" bIns="0" rtlCol="0" anchor="ctr"/>
          <a:lstStyle/>
          <a:p>
            <a:pPr marL="0" indent="0">
              <a:lnSpc>
                <a:spcPct val="118000"/>
              </a:lnSpc>
              <a:buNone/>
            </a:pPr>
            <a:r>
              <a:rPr lang="en-US" sz="930" dirty="0">
                <a:solidFill>
                  <a:srgbClr val="FFFFFF"/>
                </a:solidFill>
                <a:latin typeface="Calibri" pitchFamily="34" charset="0"/>
                <a:ea typeface="Calibri" pitchFamily="34" charset="-122"/>
                <a:cs typeface="Calibri" pitchFamily="34" charset="-120"/>
              </a:rPr>
              <a:t>Tamper-evidence: hand-edited ledger row caught on every re-verify</a:t>
            </a:r>
            <a:endParaRPr lang="en-US" sz="930" dirty="0"/>
          </a:p>
        </p:txBody>
      </p:sp>
      <p:sp>
        <p:nvSpPr>
          <p:cNvPr id="15" name="Shape 13"/>
          <p:cNvSpPr/>
          <p:nvPr/>
        </p:nvSpPr>
        <p:spPr>
          <a:xfrm>
            <a:off x="7296912" y="1874520"/>
            <a:ext cx="2121408" cy="1600200"/>
          </a:xfrm>
          <a:prstGeom prst="roundRect">
            <a:avLst>
              <a:gd name="adj" fmla="val 5714"/>
            </a:avLst>
          </a:prstGeom>
          <a:solidFill>
            <a:srgbClr val="1B3A2C"/>
          </a:solidFill>
          <a:ln w="12700">
            <a:solidFill>
              <a:srgbClr val="263569"/>
            </a:solidFill>
            <a:prstDash val="solid"/>
          </a:ln>
        </p:spPr>
      </p:sp>
      <p:sp>
        <p:nvSpPr>
          <p:cNvPr id="16" name="Text 14"/>
          <p:cNvSpPr/>
          <p:nvPr/>
        </p:nvSpPr>
        <p:spPr>
          <a:xfrm>
            <a:off x="7434072" y="2011680"/>
            <a:ext cx="1847088" cy="502920"/>
          </a:xfrm>
          <a:prstGeom prst="rect">
            <a:avLst/>
          </a:prstGeom>
          <a:noFill/>
          <a:ln/>
        </p:spPr>
        <p:txBody>
          <a:bodyPr wrap="square" lIns="0" tIns="0" rIns="0" bIns="0" rtlCol="0" anchor="ctr"/>
          <a:lstStyle/>
          <a:p>
            <a:pPr marL="0" indent="0">
              <a:buNone/>
            </a:pPr>
            <a:r>
              <a:rPr lang="en-US" sz="1900" b="1" dirty="0">
                <a:solidFill>
                  <a:srgbClr val="34C77B"/>
                </a:solidFill>
                <a:latin typeface="Calibri" pitchFamily="34" charset="0"/>
                <a:ea typeface="Calibri" pitchFamily="34" charset="-122"/>
                <a:cs typeface="Calibri" pitchFamily="34" charset="-120"/>
              </a:rPr>
              <a:t>~4.5×10⁻¹⁵</a:t>
            </a:r>
            <a:endParaRPr lang="en-US" sz="1900" dirty="0"/>
          </a:p>
        </p:txBody>
      </p:sp>
      <p:sp>
        <p:nvSpPr>
          <p:cNvPr id="17" name="Text 15"/>
          <p:cNvSpPr/>
          <p:nvPr/>
        </p:nvSpPr>
        <p:spPr>
          <a:xfrm>
            <a:off x="7434072" y="2542032"/>
            <a:ext cx="1847088" cy="868680"/>
          </a:xfrm>
          <a:prstGeom prst="rect">
            <a:avLst/>
          </a:prstGeom>
          <a:noFill/>
          <a:ln/>
        </p:spPr>
        <p:txBody>
          <a:bodyPr wrap="square" lIns="0" tIns="0" rIns="0" bIns="0" rtlCol="0" anchor="ctr"/>
          <a:lstStyle/>
          <a:p>
            <a:pPr marL="0" indent="0">
              <a:lnSpc>
                <a:spcPct val="118000"/>
              </a:lnSpc>
              <a:buNone/>
            </a:pPr>
            <a:r>
              <a:rPr lang="en-US" sz="930" dirty="0">
                <a:solidFill>
                  <a:srgbClr val="FFFFFF"/>
                </a:solidFill>
                <a:latin typeface="Calibri" pitchFamily="34" charset="0"/>
                <a:ea typeface="Calibri" pitchFamily="34" charset="-122"/>
                <a:cs typeface="Calibri" pitchFamily="34" charset="-120"/>
              </a:rPr>
              <a:t>Redis ↔ Postgres spend drift after 1,000 float-hostile transfers</a:t>
            </a:r>
            <a:endParaRPr lang="en-US" sz="930" dirty="0"/>
          </a:p>
        </p:txBody>
      </p:sp>
      <p:sp>
        <p:nvSpPr>
          <p:cNvPr id="18" name="Shape 16"/>
          <p:cNvSpPr/>
          <p:nvPr/>
        </p:nvSpPr>
        <p:spPr>
          <a:xfrm>
            <a:off x="9546336" y="1874520"/>
            <a:ext cx="2121408" cy="1600200"/>
          </a:xfrm>
          <a:prstGeom prst="roundRect">
            <a:avLst>
              <a:gd name="adj" fmla="val 5714"/>
            </a:avLst>
          </a:prstGeom>
          <a:solidFill>
            <a:srgbClr val="1B3A2C"/>
          </a:solidFill>
          <a:ln w="12700">
            <a:solidFill>
              <a:srgbClr val="263569"/>
            </a:solidFill>
            <a:prstDash val="solid"/>
          </a:ln>
        </p:spPr>
      </p:sp>
      <p:sp>
        <p:nvSpPr>
          <p:cNvPr id="19" name="Text 17"/>
          <p:cNvSpPr/>
          <p:nvPr/>
        </p:nvSpPr>
        <p:spPr>
          <a:xfrm>
            <a:off x="9683496" y="2011680"/>
            <a:ext cx="1847088" cy="502920"/>
          </a:xfrm>
          <a:prstGeom prst="rect">
            <a:avLst/>
          </a:prstGeom>
          <a:noFill/>
          <a:ln/>
        </p:spPr>
        <p:txBody>
          <a:bodyPr wrap="square" lIns="0" tIns="0" rIns="0" bIns="0" rtlCol="0" anchor="ctr"/>
          <a:lstStyle/>
          <a:p>
            <a:pPr marL="0" indent="0">
              <a:buNone/>
            </a:pPr>
            <a:r>
              <a:rPr lang="en-US" sz="1900" b="1" dirty="0">
                <a:solidFill>
                  <a:srgbClr val="34C77B"/>
                </a:solidFill>
                <a:latin typeface="Calibri" pitchFamily="34" charset="0"/>
                <a:ea typeface="Calibri" pitchFamily="34" charset="-122"/>
                <a:cs typeface="Calibri" pitchFamily="34" charset="-120"/>
              </a:rPr>
              <a:t>2 / 2</a:t>
            </a:r>
            <a:endParaRPr lang="en-US" sz="1900" dirty="0"/>
          </a:p>
        </p:txBody>
      </p:sp>
      <p:sp>
        <p:nvSpPr>
          <p:cNvPr id="20" name="Text 18"/>
          <p:cNvSpPr/>
          <p:nvPr/>
        </p:nvSpPr>
        <p:spPr>
          <a:xfrm>
            <a:off x="9683496" y="2542032"/>
            <a:ext cx="1847088" cy="868680"/>
          </a:xfrm>
          <a:prstGeom prst="rect">
            <a:avLst/>
          </a:prstGeom>
          <a:noFill/>
          <a:ln/>
        </p:spPr>
        <p:txBody>
          <a:bodyPr wrap="square" lIns="0" tIns="0" rIns="0" bIns="0" rtlCol="0" anchor="ctr"/>
          <a:lstStyle/>
          <a:p>
            <a:pPr marL="0" indent="0">
              <a:lnSpc>
                <a:spcPct val="118000"/>
              </a:lnSpc>
              <a:buNone/>
            </a:pPr>
            <a:r>
              <a:rPr lang="en-US" sz="930" dirty="0">
                <a:solidFill>
                  <a:srgbClr val="FFFFFF"/>
                </a:solidFill>
                <a:latin typeface="Calibri" pitchFamily="34" charset="0"/>
                <a:ea typeface="Calibri" pitchFamily="34" charset="-122"/>
                <a:cs typeface="Calibri" pitchFamily="34" charset="-120"/>
              </a:rPr>
              <a:t>Clean-boot demo runs completed end-to-end, twice in a row</a:t>
            </a:r>
            <a:endParaRPr lang="en-US" sz="930" dirty="0"/>
          </a:p>
        </p:txBody>
      </p:sp>
      <p:sp>
        <p:nvSpPr>
          <p:cNvPr id="21" name="Text 19"/>
          <p:cNvSpPr/>
          <p:nvPr/>
        </p:nvSpPr>
        <p:spPr>
          <a:xfrm>
            <a:off x="548640" y="3794760"/>
            <a:ext cx="8229600" cy="274320"/>
          </a:xfrm>
          <a:prstGeom prst="rect">
            <a:avLst/>
          </a:prstGeom>
          <a:noFill/>
          <a:ln/>
        </p:spPr>
        <p:txBody>
          <a:bodyPr wrap="square" lIns="0" tIns="0" rIns="0" bIns="0" rtlCol="0" anchor="ctr"/>
          <a:lstStyle/>
          <a:p>
            <a:pPr marL="0" indent="0">
              <a:buNone/>
            </a:pPr>
            <a:r>
              <a:rPr lang="en-US" sz="1200" b="1" kern="0" spc="100" dirty="0">
                <a:solidFill>
                  <a:srgbClr val="F0A93A"/>
                </a:solidFill>
                <a:latin typeface="Calibri" pitchFamily="34" charset="0"/>
                <a:ea typeface="Calibri" pitchFamily="34" charset="-122"/>
                <a:cs typeface="Calibri" pitchFamily="34" charset="-120"/>
              </a:rPr>
              <a:t>TARGETED FOR ROUND 2 — honestly scoped, not yet independently validated</a:t>
            </a:r>
            <a:endParaRPr lang="en-US" sz="1200" dirty="0"/>
          </a:p>
        </p:txBody>
      </p:sp>
      <p:sp>
        <p:nvSpPr>
          <p:cNvPr id="22" name="Shape 20"/>
          <p:cNvSpPr/>
          <p:nvPr/>
        </p:nvSpPr>
        <p:spPr>
          <a:xfrm>
            <a:off x="548640" y="4160520"/>
            <a:ext cx="2697480" cy="1600200"/>
          </a:xfrm>
          <a:prstGeom prst="roundRect">
            <a:avLst>
              <a:gd name="adj" fmla="val 5714"/>
            </a:avLst>
          </a:prstGeom>
          <a:solidFill>
            <a:srgbClr val="3A2C1B"/>
          </a:solidFill>
          <a:ln w="12700">
            <a:solidFill>
              <a:srgbClr val="263569"/>
            </a:solidFill>
            <a:prstDash val="solid"/>
          </a:ln>
        </p:spPr>
      </p:sp>
      <p:sp>
        <p:nvSpPr>
          <p:cNvPr id="23" name="Text 21"/>
          <p:cNvSpPr/>
          <p:nvPr/>
        </p:nvSpPr>
        <p:spPr>
          <a:xfrm>
            <a:off x="685800" y="4297680"/>
            <a:ext cx="2423160" cy="502920"/>
          </a:xfrm>
          <a:prstGeom prst="rect">
            <a:avLst/>
          </a:prstGeom>
          <a:noFill/>
          <a:ln/>
        </p:spPr>
        <p:txBody>
          <a:bodyPr wrap="square" lIns="0" tIns="0" rIns="0" bIns="0" rtlCol="0" anchor="ctr"/>
          <a:lstStyle/>
          <a:p>
            <a:pPr marL="0" indent="0">
              <a:buNone/>
            </a:pPr>
            <a:r>
              <a:rPr lang="en-US" sz="1900" b="1" dirty="0">
                <a:solidFill>
                  <a:srgbClr val="F0A93A"/>
                </a:solidFill>
                <a:latin typeface="Calibri" pitchFamily="34" charset="0"/>
                <a:ea typeface="Calibri" pitchFamily="34" charset="-122"/>
                <a:cs typeface="Calibri" pitchFamily="34" charset="-120"/>
              </a:rPr>
              <a:t>&lt;10ms p95</a:t>
            </a:r>
            <a:endParaRPr lang="en-US" sz="1900" dirty="0"/>
          </a:p>
        </p:txBody>
      </p:sp>
      <p:sp>
        <p:nvSpPr>
          <p:cNvPr id="24" name="Text 22"/>
          <p:cNvSpPr/>
          <p:nvPr/>
        </p:nvSpPr>
        <p:spPr>
          <a:xfrm>
            <a:off x="685800" y="4828032"/>
            <a:ext cx="2423160" cy="868680"/>
          </a:xfrm>
          <a:prstGeom prst="rect">
            <a:avLst/>
          </a:prstGeom>
          <a:noFill/>
          <a:ln/>
        </p:spPr>
        <p:txBody>
          <a:bodyPr wrap="square" lIns="0" tIns="0" rIns="0" bIns="0" rtlCol="0" anchor="ctr"/>
          <a:lstStyle/>
          <a:p>
            <a:pPr marL="0" indent="0">
              <a:lnSpc>
                <a:spcPct val="118000"/>
              </a:lnSpc>
              <a:buNone/>
            </a:pPr>
            <a:r>
              <a:rPr lang="en-US" sz="950" dirty="0">
                <a:solidFill>
                  <a:srgbClr val="FFFFFF"/>
                </a:solidFill>
                <a:latin typeface="Calibri" pitchFamily="34" charset="0"/>
                <a:ea typeface="Calibri" pitchFamily="34" charset="-122"/>
                <a:cs typeface="Calibri" pitchFamily="34" charset="-120"/>
              </a:rPr>
              <a:t>Gateway policy + budget enforcement overhead under load</a:t>
            </a:r>
            <a:endParaRPr lang="en-US" sz="950" dirty="0"/>
          </a:p>
        </p:txBody>
      </p:sp>
      <p:sp>
        <p:nvSpPr>
          <p:cNvPr id="25" name="Shape 23"/>
          <p:cNvSpPr/>
          <p:nvPr/>
        </p:nvSpPr>
        <p:spPr>
          <a:xfrm>
            <a:off x="3419856" y="4160520"/>
            <a:ext cx="2697480" cy="1600200"/>
          </a:xfrm>
          <a:prstGeom prst="roundRect">
            <a:avLst>
              <a:gd name="adj" fmla="val 5714"/>
            </a:avLst>
          </a:prstGeom>
          <a:solidFill>
            <a:srgbClr val="3A2C1B"/>
          </a:solidFill>
          <a:ln w="12700">
            <a:solidFill>
              <a:srgbClr val="263569"/>
            </a:solidFill>
            <a:prstDash val="solid"/>
          </a:ln>
        </p:spPr>
      </p:sp>
      <p:sp>
        <p:nvSpPr>
          <p:cNvPr id="26" name="Text 24"/>
          <p:cNvSpPr/>
          <p:nvPr/>
        </p:nvSpPr>
        <p:spPr>
          <a:xfrm>
            <a:off x="3557016" y="4297680"/>
            <a:ext cx="2423160" cy="502920"/>
          </a:xfrm>
          <a:prstGeom prst="rect">
            <a:avLst/>
          </a:prstGeom>
          <a:noFill/>
          <a:ln/>
        </p:spPr>
        <p:txBody>
          <a:bodyPr wrap="square" lIns="0" tIns="0" rIns="0" bIns="0" rtlCol="0" anchor="ctr"/>
          <a:lstStyle/>
          <a:p>
            <a:pPr marL="0" indent="0">
              <a:buNone/>
            </a:pPr>
            <a:r>
              <a:rPr lang="en-US" sz="1900" b="1" dirty="0">
                <a:solidFill>
                  <a:srgbClr val="F0A93A"/>
                </a:solidFill>
                <a:latin typeface="Calibri" pitchFamily="34" charset="0"/>
                <a:ea typeface="Calibri" pitchFamily="34" charset="-122"/>
                <a:cs typeface="Calibri" pitchFamily="34" charset="-120"/>
              </a:rPr>
              <a:t>&lt;250ms</a:t>
            </a:r>
            <a:endParaRPr lang="en-US" sz="1900" dirty="0"/>
          </a:p>
        </p:txBody>
      </p:sp>
      <p:sp>
        <p:nvSpPr>
          <p:cNvPr id="27" name="Text 25"/>
          <p:cNvSpPr/>
          <p:nvPr/>
        </p:nvSpPr>
        <p:spPr>
          <a:xfrm>
            <a:off x="3557016" y="4828032"/>
            <a:ext cx="2423160" cy="868680"/>
          </a:xfrm>
          <a:prstGeom prst="rect">
            <a:avLst/>
          </a:prstGeom>
          <a:noFill/>
          <a:ln/>
        </p:spPr>
        <p:txBody>
          <a:bodyPr wrap="square" lIns="0" tIns="0" rIns="0" bIns="0" rtlCol="0" anchor="ctr"/>
          <a:lstStyle/>
          <a:p>
            <a:pPr marL="0" indent="0">
              <a:lnSpc>
                <a:spcPct val="118000"/>
              </a:lnSpc>
              <a:buNone/>
            </a:pPr>
            <a:r>
              <a:rPr lang="en-US" sz="950" dirty="0">
                <a:solidFill>
                  <a:srgbClr val="FFFFFF"/>
                </a:solidFill>
                <a:latin typeface="Calibri" pitchFamily="34" charset="0"/>
                <a:ea typeface="Calibri" pitchFamily="34" charset="-122"/>
                <a:cs typeface="Calibri" pitchFamily="34" charset="-120"/>
              </a:rPr>
              <a:t>Fleet-wide kill-switch propagation to every connection</a:t>
            </a:r>
            <a:endParaRPr lang="en-US" sz="950" dirty="0"/>
          </a:p>
        </p:txBody>
      </p:sp>
      <p:sp>
        <p:nvSpPr>
          <p:cNvPr id="28" name="Shape 26"/>
          <p:cNvSpPr/>
          <p:nvPr/>
        </p:nvSpPr>
        <p:spPr>
          <a:xfrm>
            <a:off x="6291072" y="4160520"/>
            <a:ext cx="2697480" cy="1600200"/>
          </a:xfrm>
          <a:prstGeom prst="roundRect">
            <a:avLst>
              <a:gd name="adj" fmla="val 5714"/>
            </a:avLst>
          </a:prstGeom>
          <a:solidFill>
            <a:srgbClr val="3A2C1B"/>
          </a:solidFill>
          <a:ln w="12700">
            <a:solidFill>
              <a:srgbClr val="263569"/>
            </a:solidFill>
            <a:prstDash val="solid"/>
          </a:ln>
        </p:spPr>
      </p:sp>
      <p:sp>
        <p:nvSpPr>
          <p:cNvPr id="29" name="Text 27"/>
          <p:cNvSpPr/>
          <p:nvPr/>
        </p:nvSpPr>
        <p:spPr>
          <a:xfrm>
            <a:off x="6428232" y="4297680"/>
            <a:ext cx="2423160" cy="502920"/>
          </a:xfrm>
          <a:prstGeom prst="rect">
            <a:avLst/>
          </a:prstGeom>
          <a:noFill/>
          <a:ln/>
        </p:spPr>
        <p:txBody>
          <a:bodyPr wrap="square" lIns="0" tIns="0" rIns="0" bIns="0" rtlCol="0" anchor="ctr"/>
          <a:lstStyle/>
          <a:p>
            <a:pPr marL="0" indent="0">
              <a:buNone/>
            </a:pPr>
            <a:r>
              <a:rPr lang="en-US" sz="1900" b="1" dirty="0">
                <a:solidFill>
                  <a:srgbClr val="F0A93A"/>
                </a:solidFill>
                <a:latin typeface="Calibri" pitchFamily="34" charset="0"/>
                <a:ea typeface="Calibri" pitchFamily="34" charset="-122"/>
                <a:cs typeface="Calibri" pitchFamily="34" charset="-120"/>
              </a:rPr>
              <a:t>0</a:t>
            </a:r>
            <a:endParaRPr lang="en-US" sz="1900" dirty="0"/>
          </a:p>
        </p:txBody>
      </p:sp>
      <p:sp>
        <p:nvSpPr>
          <p:cNvPr id="30" name="Text 28"/>
          <p:cNvSpPr/>
          <p:nvPr/>
        </p:nvSpPr>
        <p:spPr>
          <a:xfrm>
            <a:off x="6428232" y="4828032"/>
            <a:ext cx="2423160" cy="868680"/>
          </a:xfrm>
          <a:prstGeom prst="rect">
            <a:avLst/>
          </a:prstGeom>
          <a:noFill/>
          <a:ln/>
        </p:spPr>
        <p:txBody>
          <a:bodyPr wrap="square" lIns="0" tIns="0" rIns="0" bIns="0" rtlCol="0" anchor="ctr"/>
          <a:lstStyle/>
          <a:p>
            <a:pPr marL="0" indent="0">
              <a:lnSpc>
                <a:spcPct val="118000"/>
              </a:lnSpc>
              <a:buNone/>
            </a:pPr>
            <a:r>
              <a:rPr lang="en-US" sz="950" dirty="0">
                <a:solidFill>
                  <a:srgbClr val="FFFFFF"/>
                </a:solidFill>
                <a:latin typeface="Calibri" pitchFamily="34" charset="0"/>
                <a:ea typeface="Calibri" pitchFamily="34" charset="-122"/>
                <a:cs typeface="Calibri" pitchFamily="34" charset="-120"/>
              </a:rPr>
              <a:t>Adversarial breaches by the scripted rogue agent, under chaos testing</a:t>
            </a:r>
            <a:endParaRPr lang="en-US" sz="950" dirty="0"/>
          </a:p>
        </p:txBody>
      </p:sp>
      <p:sp>
        <p:nvSpPr>
          <p:cNvPr id="31" name="Shape 29"/>
          <p:cNvSpPr/>
          <p:nvPr/>
        </p:nvSpPr>
        <p:spPr>
          <a:xfrm>
            <a:off x="9162288" y="4160520"/>
            <a:ext cx="2697480" cy="1600200"/>
          </a:xfrm>
          <a:prstGeom prst="roundRect">
            <a:avLst>
              <a:gd name="adj" fmla="val 5714"/>
            </a:avLst>
          </a:prstGeom>
          <a:solidFill>
            <a:srgbClr val="3A2C1B"/>
          </a:solidFill>
          <a:ln w="12700">
            <a:solidFill>
              <a:srgbClr val="263569"/>
            </a:solidFill>
            <a:prstDash val="solid"/>
          </a:ln>
        </p:spPr>
      </p:sp>
      <p:sp>
        <p:nvSpPr>
          <p:cNvPr id="32" name="Text 30"/>
          <p:cNvSpPr/>
          <p:nvPr/>
        </p:nvSpPr>
        <p:spPr>
          <a:xfrm>
            <a:off x="9299448" y="4297680"/>
            <a:ext cx="2423160" cy="502920"/>
          </a:xfrm>
          <a:prstGeom prst="rect">
            <a:avLst/>
          </a:prstGeom>
          <a:noFill/>
          <a:ln/>
        </p:spPr>
        <p:txBody>
          <a:bodyPr wrap="square" lIns="0" tIns="0" rIns="0" bIns="0" rtlCol="0" anchor="ctr"/>
          <a:lstStyle/>
          <a:p>
            <a:pPr marL="0" indent="0">
              <a:buNone/>
            </a:pPr>
            <a:r>
              <a:rPr lang="en-US" sz="1900" b="1" dirty="0">
                <a:solidFill>
                  <a:srgbClr val="F0A93A"/>
                </a:solidFill>
                <a:latin typeface="Calibri" pitchFamily="34" charset="0"/>
                <a:ea typeface="Calibri" pitchFamily="34" charset="-122"/>
                <a:cs typeface="Calibri" pitchFamily="34" charset="-120"/>
              </a:rPr>
              <a:t>100%</a:t>
            </a:r>
            <a:endParaRPr lang="en-US" sz="1900" dirty="0"/>
          </a:p>
        </p:txBody>
      </p:sp>
      <p:sp>
        <p:nvSpPr>
          <p:cNvPr id="33" name="Text 31"/>
          <p:cNvSpPr/>
          <p:nvPr/>
        </p:nvSpPr>
        <p:spPr>
          <a:xfrm>
            <a:off x="9299448" y="4828032"/>
            <a:ext cx="2423160" cy="868680"/>
          </a:xfrm>
          <a:prstGeom prst="rect">
            <a:avLst/>
          </a:prstGeom>
          <a:noFill/>
          <a:ln/>
        </p:spPr>
        <p:txBody>
          <a:bodyPr wrap="square" lIns="0" tIns="0" rIns="0" bIns="0" rtlCol="0" anchor="ctr"/>
          <a:lstStyle/>
          <a:p>
            <a:pPr marL="0" indent="0">
              <a:lnSpc>
                <a:spcPct val="118000"/>
              </a:lnSpc>
              <a:buNone/>
            </a:pPr>
            <a:r>
              <a:rPr lang="en-US" sz="950" dirty="0">
                <a:solidFill>
                  <a:srgbClr val="FFFFFF"/>
                </a:solidFill>
                <a:latin typeface="Calibri" pitchFamily="34" charset="0"/>
                <a:ea typeface="Calibri" pitchFamily="34" charset="-122"/>
                <a:cs typeface="Calibri" pitchFamily="34" charset="-120"/>
              </a:rPr>
              <a:t>OPA/Redis fail-closed behavior under simulated outage</a:t>
            </a:r>
            <a:endParaRPr lang="en-US" sz="950" dirty="0"/>
          </a:p>
        </p:txBody>
      </p:sp>
      <p:sp>
        <p:nvSpPr>
          <p:cNvPr id="34" name="Text 32"/>
          <p:cNvSpPr/>
          <p:nvPr/>
        </p:nvSpPr>
        <p:spPr>
          <a:xfrm>
            <a:off x="548640" y="5989320"/>
            <a:ext cx="11064240" cy="365760"/>
          </a:xfrm>
          <a:prstGeom prst="rect">
            <a:avLst/>
          </a:prstGeom>
          <a:noFill/>
          <a:ln/>
        </p:spPr>
        <p:txBody>
          <a:bodyPr wrap="square" lIns="0" tIns="0" rIns="0" bIns="0" rtlCol="0" anchor="ctr"/>
          <a:lstStyle/>
          <a:p>
            <a:pPr marL="0" indent="0">
              <a:buNone/>
            </a:pPr>
            <a:r>
              <a:rPr lang="en-US" sz="1000" i="1" dirty="0">
                <a:solidFill>
                  <a:srgbClr val="9AA6C9"/>
                </a:solidFill>
                <a:latin typeface="Calibri" pitchFamily="34" charset="0"/>
                <a:ea typeface="Calibri" pitchFamily="34" charset="-122"/>
                <a:cs typeface="Calibri" pitchFamily="34" charset="-120"/>
              </a:rPr>
              <a:t>Every “proven” number above was independently re-verified against the live system while preparing this submission — not assumed.</a:t>
            </a:r>
            <a:endParaRPr lang="en-US" sz="1000" dirty="0"/>
          </a:p>
        </p:txBody>
      </p:sp>
      <p:sp>
        <p:nvSpPr>
          <p:cNvPr id="35" name="Text 3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36" name="Text 34"/>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Success Metrics   ·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OPTIONAL  ·  PROTOTYPE SCREENSHOTS &amp; DEMO IMAGES</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700" b="1" dirty="0">
                <a:solidFill>
                  <a:srgbClr val="FFFFFF"/>
                </a:solidFill>
                <a:latin typeface="Calibri" pitchFamily="34" charset="0"/>
                <a:ea typeface="Calibri" pitchFamily="34" charset="-122"/>
                <a:cs typeface="Calibri" pitchFamily="34" charset="-120"/>
              </a:rPr>
              <a:t>Not Just a Slide Idea — Already Running</a:t>
            </a:r>
            <a:endParaRPr lang="en-US" sz="2700" dirty="0"/>
          </a:p>
        </p:txBody>
      </p:sp>
      <p:sp>
        <p:nvSpPr>
          <p:cNvPr id="5" name="Text 3"/>
          <p:cNvSpPr/>
          <p:nvPr/>
        </p:nvSpPr>
        <p:spPr>
          <a:xfrm>
            <a:off x="548640" y="1417320"/>
            <a:ext cx="10972800" cy="41148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Round 1 doesn't require a working prototype. We built one anyway, and ran this exact five-step sequence twice from a clean boot — real screens below, not mockups.</a:t>
            </a:r>
            <a:endParaRPr lang="en-US" sz="1150" dirty="0"/>
          </a:p>
        </p:txBody>
      </p:sp>
      <p:pic>
        <p:nvPicPr>
          <p:cNvPr id="6" name="Image 0" descr="/home/claude/assets/01-normal-operation-wealth-hft-allowed.png"/>
          <p:cNvPicPr>
            <a:picLocks noChangeAspect="1"/>
          </p:cNvPicPr>
          <p:nvPr/>
        </p:nvPicPr>
        <p:blipFill>
          <a:blip r:embed="rId3"/>
          <a:srcRect/>
          <a:stretch/>
        </p:blipFill>
        <p:spPr>
          <a:xfrm>
            <a:off x="548640" y="1965960"/>
            <a:ext cx="3566160" cy="1965960"/>
          </a:xfrm>
          <a:prstGeom prst="rect">
            <a:avLst/>
          </a:prstGeom>
        </p:spPr>
      </p:pic>
      <p:sp>
        <p:nvSpPr>
          <p:cNvPr id="7" name="Shape 4"/>
          <p:cNvSpPr/>
          <p:nvPr/>
        </p:nvSpPr>
        <p:spPr>
          <a:xfrm>
            <a:off x="548640" y="1965960"/>
            <a:ext cx="3566160" cy="1965960"/>
          </a:xfrm>
          <a:prstGeom prst="rect">
            <a:avLst/>
          </a:prstGeom>
          <a:ln w="12700">
            <a:solidFill>
              <a:srgbClr val="263569"/>
            </a:solidFill>
            <a:prstDash val="solid"/>
          </a:ln>
        </p:spPr>
      </p:sp>
      <p:sp>
        <p:nvSpPr>
          <p:cNvPr id="8" name="Text 5"/>
          <p:cNvSpPr/>
          <p:nvPr/>
        </p:nvSpPr>
        <p:spPr>
          <a:xfrm>
            <a:off x="548640" y="3986784"/>
            <a:ext cx="3566160" cy="457200"/>
          </a:xfrm>
          <a:prstGeom prst="rect">
            <a:avLst/>
          </a:prstGeom>
          <a:noFill/>
          <a:ln/>
        </p:spPr>
        <p:txBody>
          <a:bodyPr wrap="square" lIns="0" tIns="0" rIns="0" bIns="0" rtlCol="0" anchor="ctr"/>
          <a:lstStyle/>
          <a:p>
            <a:pPr marL="0" indent="0">
              <a:lnSpc>
                <a:spcPct val="115000"/>
              </a:lnSpc>
              <a:buNone/>
            </a:pPr>
            <a:r>
              <a:rPr lang="en-US" sz="1000" dirty="0">
                <a:solidFill>
                  <a:srgbClr val="9AA6C9"/>
                </a:solidFill>
                <a:latin typeface="Calibri" pitchFamily="34" charset="0"/>
                <a:ea typeface="Calibri" pitchFamily="34" charset="-122"/>
                <a:cs typeface="Calibri" pitchFamily="34" charset="-120"/>
              </a:rPr>
              <a:t>1 · Wealth Advisory + HFT executing allowed actions</a:t>
            </a:r>
            <a:endParaRPr lang="en-US" sz="1000" dirty="0"/>
          </a:p>
        </p:txBody>
      </p:sp>
      <p:pic>
        <p:nvPicPr>
          <p:cNvPr id="9" name="Image 1" descr="/home/claude/assets/02-rogue-agent-denied.png"/>
          <p:cNvPicPr>
            <a:picLocks noChangeAspect="1"/>
          </p:cNvPicPr>
          <p:nvPr/>
        </p:nvPicPr>
        <p:blipFill>
          <a:blip r:embed="rId4"/>
          <a:srcRect/>
          <a:stretch/>
        </p:blipFill>
        <p:spPr>
          <a:xfrm>
            <a:off x="4297680" y="1965960"/>
            <a:ext cx="3566160" cy="1965960"/>
          </a:xfrm>
          <a:prstGeom prst="rect">
            <a:avLst/>
          </a:prstGeom>
        </p:spPr>
      </p:pic>
      <p:sp>
        <p:nvSpPr>
          <p:cNvPr id="10" name="Shape 6"/>
          <p:cNvSpPr/>
          <p:nvPr/>
        </p:nvSpPr>
        <p:spPr>
          <a:xfrm>
            <a:off x="4297680" y="1965960"/>
            <a:ext cx="3566160" cy="1965960"/>
          </a:xfrm>
          <a:prstGeom prst="rect">
            <a:avLst/>
          </a:prstGeom>
          <a:ln w="12700">
            <a:solidFill>
              <a:srgbClr val="263569"/>
            </a:solidFill>
            <a:prstDash val="solid"/>
          </a:ln>
        </p:spPr>
      </p:sp>
      <p:sp>
        <p:nvSpPr>
          <p:cNvPr id="11" name="Text 7"/>
          <p:cNvSpPr/>
          <p:nvPr/>
        </p:nvSpPr>
        <p:spPr>
          <a:xfrm>
            <a:off x="4297680" y="3986784"/>
            <a:ext cx="3566160" cy="457200"/>
          </a:xfrm>
          <a:prstGeom prst="rect">
            <a:avLst/>
          </a:prstGeom>
          <a:noFill/>
          <a:ln/>
        </p:spPr>
        <p:txBody>
          <a:bodyPr wrap="square" lIns="0" tIns="0" rIns="0" bIns="0" rtlCol="0" anchor="ctr"/>
          <a:lstStyle/>
          <a:p>
            <a:pPr marL="0" indent="0">
              <a:lnSpc>
                <a:spcPct val="115000"/>
              </a:lnSpc>
              <a:buNone/>
            </a:pPr>
            <a:r>
              <a:rPr lang="en-US" sz="1000" dirty="0">
                <a:solidFill>
                  <a:srgbClr val="9AA6C9"/>
                </a:solidFill>
                <a:latin typeface="Calibri" pitchFamily="34" charset="0"/>
                <a:ea typeface="Calibri" pitchFamily="34" charset="-122"/>
                <a:cs typeface="Calibri" pitchFamily="34" charset="-120"/>
              </a:rPr>
              <a:t>2 · Rogue agent DENY, live, with its policy reason</a:t>
            </a:r>
            <a:endParaRPr lang="en-US" sz="1000" dirty="0"/>
          </a:p>
        </p:txBody>
      </p:sp>
      <p:pic>
        <p:nvPicPr>
          <p:cNvPr id="12" name="Image 2" descr="/home/claude/assets/03-cap-tightened-next-request-denied.png"/>
          <p:cNvPicPr>
            <a:picLocks noChangeAspect="1"/>
          </p:cNvPicPr>
          <p:nvPr/>
        </p:nvPicPr>
        <p:blipFill>
          <a:blip r:embed="rId5"/>
          <a:srcRect/>
          <a:stretch/>
        </p:blipFill>
        <p:spPr>
          <a:xfrm>
            <a:off x="8046720" y="1965960"/>
            <a:ext cx="3566160" cy="1965960"/>
          </a:xfrm>
          <a:prstGeom prst="rect">
            <a:avLst/>
          </a:prstGeom>
        </p:spPr>
      </p:pic>
      <p:sp>
        <p:nvSpPr>
          <p:cNvPr id="13" name="Shape 8"/>
          <p:cNvSpPr/>
          <p:nvPr/>
        </p:nvSpPr>
        <p:spPr>
          <a:xfrm>
            <a:off x="8046720" y="1965960"/>
            <a:ext cx="3566160" cy="1965960"/>
          </a:xfrm>
          <a:prstGeom prst="rect">
            <a:avLst/>
          </a:prstGeom>
          <a:ln w="12700">
            <a:solidFill>
              <a:srgbClr val="263569"/>
            </a:solidFill>
            <a:prstDash val="solid"/>
          </a:ln>
        </p:spPr>
      </p:sp>
      <p:sp>
        <p:nvSpPr>
          <p:cNvPr id="14" name="Text 9"/>
          <p:cNvSpPr/>
          <p:nvPr/>
        </p:nvSpPr>
        <p:spPr>
          <a:xfrm>
            <a:off x="8046720" y="3986784"/>
            <a:ext cx="3566160" cy="457200"/>
          </a:xfrm>
          <a:prstGeom prst="rect">
            <a:avLst/>
          </a:prstGeom>
          <a:noFill/>
          <a:ln/>
        </p:spPr>
        <p:txBody>
          <a:bodyPr wrap="square" lIns="0" tIns="0" rIns="0" bIns="0" rtlCol="0" anchor="ctr"/>
          <a:lstStyle/>
          <a:p>
            <a:pPr marL="0" indent="0">
              <a:lnSpc>
                <a:spcPct val="115000"/>
              </a:lnSpc>
              <a:buNone/>
            </a:pPr>
            <a:r>
              <a:rPr lang="en-US" sz="1000" dirty="0">
                <a:solidFill>
                  <a:srgbClr val="9AA6C9"/>
                </a:solidFill>
                <a:latin typeface="Calibri" pitchFamily="34" charset="0"/>
                <a:ea typeface="Calibri" pitchFamily="34" charset="-122"/>
                <a:cs typeface="Calibri" pitchFamily="34" charset="-120"/>
              </a:rPr>
              <a:t>3 · Cap tightened mid-session — next request denied</a:t>
            </a:r>
            <a:endParaRPr lang="en-US" sz="1000" dirty="0"/>
          </a:p>
        </p:txBody>
      </p:sp>
      <p:pic>
        <p:nvPicPr>
          <p:cNvPr id="15" name="Image 3" descr="/home/claude/assets/04-emergency-stop-all-agents-halted.png"/>
          <p:cNvPicPr>
            <a:picLocks noChangeAspect="1"/>
          </p:cNvPicPr>
          <p:nvPr/>
        </p:nvPicPr>
        <p:blipFill>
          <a:blip r:embed="rId6"/>
          <a:srcRect/>
          <a:stretch/>
        </p:blipFill>
        <p:spPr>
          <a:xfrm>
            <a:off x="2438248" y="4526280"/>
            <a:ext cx="3566160" cy="1965960"/>
          </a:xfrm>
          <a:prstGeom prst="rect">
            <a:avLst/>
          </a:prstGeom>
        </p:spPr>
      </p:pic>
      <p:sp>
        <p:nvSpPr>
          <p:cNvPr id="16" name="Shape 10"/>
          <p:cNvSpPr/>
          <p:nvPr/>
        </p:nvSpPr>
        <p:spPr>
          <a:xfrm>
            <a:off x="2438248" y="4526280"/>
            <a:ext cx="3566160" cy="1965960"/>
          </a:xfrm>
          <a:prstGeom prst="rect">
            <a:avLst/>
          </a:prstGeom>
          <a:ln w="12700">
            <a:solidFill>
              <a:srgbClr val="263569"/>
            </a:solidFill>
            <a:prstDash val="solid"/>
          </a:ln>
        </p:spPr>
      </p:sp>
      <p:sp>
        <p:nvSpPr>
          <p:cNvPr id="17" name="Text 11"/>
          <p:cNvSpPr/>
          <p:nvPr/>
        </p:nvSpPr>
        <p:spPr>
          <a:xfrm>
            <a:off x="2438248" y="6547104"/>
            <a:ext cx="3566160" cy="457200"/>
          </a:xfrm>
          <a:prstGeom prst="rect">
            <a:avLst/>
          </a:prstGeom>
          <a:noFill/>
          <a:ln/>
        </p:spPr>
        <p:txBody>
          <a:bodyPr wrap="square" lIns="0" tIns="0" rIns="0" bIns="0" rtlCol="0" anchor="ctr"/>
          <a:lstStyle/>
          <a:p>
            <a:pPr marL="0" indent="0">
              <a:lnSpc>
                <a:spcPct val="115000"/>
              </a:lnSpc>
              <a:buNone/>
            </a:pPr>
            <a:r>
              <a:rPr lang="en-US" sz="1000" dirty="0">
                <a:solidFill>
                  <a:srgbClr val="9AA6C9"/>
                </a:solidFill>
                <a:latin typeface="Calibri" pitchFamily="34" charset="0"/>
                <a:ea typeface="Calibri" pitchFamily="34" charset="-122"/>
                <a:cs typeface="Calibri" pitchFamily="34" charset="-120"/>
              </a:rPr>
              <a:t>4 · Fleet-wide emergency stop — every agent halted</a:t>
            </a:r>
            <a:endParaRPr lang="en-US" sz="1000" dirty="0"/>
          </a:p>
        </p:txBody>
      </p:sp>
      <p:pic>
        <p:nvPicPr>
          <p:cNvPr id="18" name="Image 4" descr="/home/claude/assets/05-audit-tamper-detected.png"/>
          <p:cNvPicPr>
            <a:picLocks noChangeAspect="1"/>
          </p:cNvPicPr>
          <p:nvPr/>
        </p:nvPicPr>
        <p:blipFill>
          <a:blip r:embed="rId7"/>
          <a:srcRect/>
          <a:stretch/>
        </p:blipFill>
        <p:spPr>
          <a:xfrm>
            <a:off x="6187288" y="4526280"/>
            <a:ext cx="3566160" cy="1965960"/>
          </a:xfrm>
          <a:prstGeom prst="rect">
            <a:avLst/>
          </a:prstGeom>
        </p:spPr>
      </p:pic>
      <p:sp>
        <p:nvSpPr>
          <p:cNvPr id="19" name="Shape 12"/>
          <p:cNvSpPr/>
          <p:nvPr/>
        </p:nvSpPr>
        <p:spPr>
          <a:xfrm>
            <a:off x="6187288" y="4526280"/>
            <a:ext cx="3566160" cy="1965960"/>
          </a:xfrm>
          <a:prstGeom prst="rect">
            <a:avLst/>
          </a:prstGeom>
          <a:ln w="12700">
            <a:solidFill>
              <a:srgbClr val="263569"/>
            </a:solidFill>
            <a:prstDash val="solid"/>
          </a:ln>
        </p:spPr>
      </p:sp>
      <p:sp>
        <p:nvSpPr>
          <p:cNvPr id="20" name="Text 13"/>
          <p:cNvSpPr/>
          <p:nvPr/>
        </p:nvSpPr>
        <p:spPr>
          <a:xfrm>
            <a:off x="6187288" y="6547104"/>
            <a:ext cx="3566160" cy="457200"/>
          </a:xfrm>
          <a:prstGeom prst="rect">
            <a:avLst/>
          </a:prstGeom>
          <a:noFill/>
          <a:ln/>
        </p:spPr>
        <p:txBody>
          <a:bodyPr wrap="square" lIns="0" tIns="0" rIns="0" bIns="0" rtlCol="0" anchor="ctr"/>
          <a:lstStyle/>
          <a:p>
            <a:pPr marL="0" indent="0">
              <a:lnSpc>
                <a:spcPct val="115000"/>
              </a:lnSpc>
              <a:buNone/>
            </a:pPr>
            <a:r>
              <a:rPr lang="en-US" sz="1000" dirty="0">
                <a:solidFill>
                  <a:srgbClr val="9AA6C9"/>
                </a:solidFill>
                <a:latin typeface="Calibri" pitchFamily="34" charset="0"/>
                <a:ea typeface="Calibri" pitchFamily="34" charset="-122"/>
                <a:cs typeface="Calibri" pitchFamily="34" charset="-120"/>
              </a:rPr>
              <a:t>5 · Audit tamper attempt caught by hash-chain check</a:t>
            </a:r>
            <a:endParaRPr lang="en-US" sz="1000" dirty="0"/>
          </a:p>
        </p:txBody>
      </p:sp>
      <p:sp>
        <p:nvSpPr>
          <p:cNvPr id="21" name="Text 14"/>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22" name="Text 15"/>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Round 1 Evidence   ·   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SOLUTION OVERVIEW  ·  IMPLEMENTATION APPROACH</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500" b="1" dirty="0">
                <a:solidFill>
                  <a:srgbClr val="FFFFFF"/>
                </a:solidFill>
                <a:latin typeface="Calibri" pitchFamily="34" charset="0"/>
                <a:ea typeface="Calibri" pitchFamily="34" charset="-122"/>
                <a:cs typeface="Calibri" pitchFamily="34" charset="-120"/>
              </a:rPr>
              <a:t>Three Builders, Two Rounds, One Working Kill Switch</a:t>
            </a:r>
            <a:endParaRPr lang="en-US" sz="2500" dirty="0"/>
          </a:p>
        </p:txBody>
      </p:sp>
      <p:sp>
        <p:nvSpPr>
          <p:cNvPr id="5" name="Shape 3"/>
          <p:cNvSpPr/>
          <p:nvPr/>
        </p:nvSpPr>
        <p:spPr>
          <a:xfrm>
            <a:off x="548640" y="1737360"/>
            <a:ext cx="3611880" cy="2377440"/>
          </a:xfrm>
          <a:prstGeom prst="roundRect">
            <a:avLst>
              <a:gd name="adj" fmla="val 3846"/>
            </a:avLst>
          </a:prstGeom>
          <a:solidFill>
            <a:srgbClr val="121B3F"/>
          </a:solidFill>
          <a:ln w="12700">
            <a:solidFill>
              <a:srgbClr val="263569"/>
            </a:solidFill>
            <a:prstDash val="solid"/>
          </a:ln>
        </p:spPr>
      </p:sp>
      <p:sp>
        <p:nvSpPr>
          <p:cNvPr id="6" name="Shape 4"/>
          <p:cNvSpPr/>
          <p:nvPr/>
        </p:nvSpPr>
        <p:spPr>
          <a:xfrm>
            <a:off x="777240" y="1920240"/>
            <a:ext cx="548640" cy="548640"/>
          </a:xfrm>
          <a:prstGeom prst="ellipse">
            <a:avLst/>
          </a:prstGeom>
          <a:solidFill>
            <a:srgbClr val="1B2B5C"/>
          </a:solidFill>
          <a:ln/>
        </p:spPr>
      </p:sp>
      <p:sp>
        <p:nvSpPr>
          <p:cNvPr id="7" name="Text 5"/>
          <p:cNvSpPr/>
          <p:nvPr/>
        </p:nvSpPr>
        <p:spPr>
          <a:xfrm>
            <a:off x="777240" y="1920240"/>
            <a:ext cx="548640" cy="548640"/>
          </a:xfrm>
          <a:prstGeom prst="rect">
            <a:avLst/>
          </a:prstGeom>
          <a:noFill/>
          <a:ln/>
        </p:spPr>
        <p:txBody>
          <a:bodyPr wrap="square" lIns="0" tIns="0" rIns="0" bIns="0" rtlCol="0" anchor="ctr"/>
          <a:lstStyle/>
          <a:p>
            <a:pPr marL="0" indent="0" algn="ctr">
              <a:buNone/>
            </a:pPr>
            <a:r>
              <a:rPr lang="en-US" sz="1800" b="1" dirty="0">
                <a:solidFill>
                  <a:srgbClr val="5B8DFF"/>
                </a:solidFill>
                <a:latin typeface="Calibri" pitchFamily="34" charset="0"/>
                <a:ea typeface="Calibri" pitchFamily="34" charset="-122"/>
                <a:cs typeface="Calibri" pitchFamily="34" charset="-120"/>
              </a:rPr>
              <a:t>DU</a:t>
            </a:r>
            <a:endParaRPr lang="en-US" sz="1800" dirty="0"/>
          </a:p>
        </p:txBody>
      </p:sp>
      <p:sp>
        <p:nvSpPr>
          <p:cNvPr id="8" name="Text 6"/>
          <p:cNvSpPr/>
          <p:nvPr/>
        </p:nvSpPr>
        <p:spPr>
          <a:xfrm>
            <a:off x="1463040" y="1956816"/>
            <a:ext cx="251460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Dev Upadhyay</a:t>
            </a:r>
            <a:endParaRPr lang="en-US" sz="1350" dirty="0"/>
          </a:p>
        </p:txBody>
      </p:sp>
      <p:sp>
        <p:nvSpPr>
          <p:cNvPr id="9" name="Text 7"/>
          <p:cNvSpPr/>
          <p:nvPr/>
        </p:nvSpPr>
        <p:spPr>
          <a:xfrm>
            <a:off x="1463040" y="2249424"/>
            <a:ext cx="2514600" cy="228600"/>
          </a:xfrm>
          <a:prstGeom prst="rect">
            <a:avLst/>
          </a:prstGeom>
          <a:noFill/>
          <a:ln/>
        </p:spPr>
        <p:txBody>
          <a:bodyPr wrap="square" lIns="0" tIns="0" rIns="0" bIns="0" rtlCol="0" anchor="ctr"/>
          <a:lstStyle/>
          <a:p>
            <a:pPr marL="0" indent="0">
              <a:buNone/>
            </a:pPr>
            <a:r>
              <a:rPr lang="en-US" sz="950" dirty="0">
                <a:solidFill>
                  <a:srgbClr val="5B8DFF"/>
                </a:solidFill>
                <a:latin typeface="Calibri" pitchFamily="34" charset="0"/>
                <a:ea typeface="Calibri" pitchFamily="34" charset="-122"/>
                <a:cs typeface="Calibri" pitchFamily="34" charset="-120"/>
              </a:rPr>
              <a:t>Team Lead</a:t>
            </a:r>
            <a:endParaRPr lang="en-US" sz="950" dirty="0"/>
          </a:p>
        </p:txBody>
      </p:sp>
      <p:sp>
        <p:nvSpPr>
          <p:cNvPr id="10" name="Text 8"/>
          <p:cNvSpPr/>
          <p:nvPr/>
        </p:nvSpPr>
        <p:spPr>
          <a:xfrm>
            <a:off x="777240" y="2606040"/>
            <a:ext cx="3154680" cy="502920"/>
          </a:xfrm>
          <a:prstGeom prst="rect">
            <a:avLst/>
          </a:prstGeom>
          <a:noFill/>
          <a:ln/>
        </p:spPr>
        <p:txBody>
          <a:bodyPr wrap="square" lIns="0" tIns="0" rIns="0" bIns="0" rtlCol="0" anchor="ctr"/>
          <a:lstStyle/>
          <a:p>
            <a:pPr marL="0" indent="0">
              <a:lnSpc>
                <a:spcPct val="115000"/>
              </a:lnSpc>
              <a:buNone/>
            </a:pPr>
            <a:r>
              <a:rPr lang="en-US" sz="1030" b="1" dirty="0">
                <a:solidFill>
                  <a:srgbClr val="CADCFC"/>
                </a:solidFill>
                <a:latin typeface="Calibri" pitchFamily="34" charset="0"/>
                <a:ea typeface="Calibri" pitchFamily="34" charset="-122"/>
                <a:cs typeface="Calibri" pitchFamily="34" charset="-120"/>
              </a:rPr>
              <a:t>Backend, Safety Middleware &amp; Policy Lead</a:t>
            </a:r>
            <a:endParaRPr lang="en-US" sz="1030" dirty="0"/>
          </a:p>
        </p:txBody>
      </p:sp>
      <p:sp>
        <p:nvSpPr>
          <p:cNvPr id="11" name="Text 9"/>
          <p:cNvSpPr/>
          <p:nvPr/>
        </p:nvSpPr>
        <p:spPr>
          <a:xfrm>
            <a:off x="777240" y="3127248"/>
            <a:ext cx="3154680" cy="914400"/>
          </a:xfrm>
          <a:prstGeom prst="rect">
            <a:avLst/>
          </a:prstGeom>
          <a:noFill/>
          <a:ln/>
        </p:spPr>
        <p:txBody>
          <a:bodyPr wrap="square" lIns="0" tIns="0" rIns="0" bIns="0" rtlCol="0" anchor="ctr"/>
          <a:lstStyle/>
          <a:p>
            <a:pPr marL="0" indent="0">
              <a:lnSpc>
                <a:spcPct val="120000"/>
              </a:lnSpc>
              <a:buNone/>
            </a:pPr>
            <a:r>
              <a:rPr lang="en-US" sz="970" dirty="0">
                <a:solidFill>
                  <a:srgbClr val="9AA6C9"/>
                </a:solidFill>
                <a:latin typeface="Calibri" pitchFamily="34" charset="0"/>
                <a:ea typeface="Calibri" pitchFamily="34" charset="-122"/>
                <a:cs typeface="Calibri" pitchFamily="34" charset="-120"/>
              </a:rPr>
              <a:t>Aegis Gateway proxy, OPA/Rego policies, Redis spend-cap engine, WebSocket kill-switch API</a:t>
            </a:r>
            <a:endParaRPr lang="en-US" sz="970" dirty="0"/>
          </a:p>
        </p:txBody>
      </p:sp>
      <p:sp>
        <p:nvSpPr>
          <p:cNvPr id="12" name="Shape 10"/>
          <p:cNvSpPr/>
          <p:nvPr/>
        </p:nvSpPr>
        <p:spPr>
          <a:xfrm>
            <a:off x="4343400" y="1737360"/>
            <a:ext cx="3611880" cy="2377440"/>
          </a:xfrm>
          <a:prstGeom prst="roundRect">
            <a:avLst>
              <a:gd name="adj" fmla="val 3846"/>
            </a:avLst>
          </a:prstGeom>
          <a:solidFill>
            <a:srgbClr val="121B3F"/>
          </a:solidFill>
          <a:ln w="12700">
            <a:solidFill>
              <a:srgbClr val="263569"/>
            </a:solidFill>
            <a:prstDash val="solid"/>
          </a:ln>
        </p:spPr>
      </p:sp>
      <p:sp>
        <p:nvSpPr>
          <p:cNvPr id="13" name="Shape 11"/>
          <p:cNvSpPr/>
          <p:nvPr/>
        </p:nvSpPr>
        <p:spPr>
          <a:xfrm>
            <a:off x="4572000" y="1920240"/>
            <a:ext cx="548640" cy="548640"/>
          </a:xfrm>
          <a:prstGeom prst="ellipse">
            <a:avLst/>
          </a:prstGeom>
          <a:solidFill>
            <a:srgbClr val="1B2B5C"/>
          </a:solidFill>
          <a:ln/>
        </p:spPr>
      </p:sp>
      <p:sp>
        <p:nvSpPr>
          <p:cNvPr id="14" name="Text 12"/>
          <p:cNvSpPr/>
          <p:nvPr/>
        </p:nvSpPr>
        <p:spPr>
          <a:xfrm>
            <a:off x="4572000" y="1920240"/>
            <a:ext cx="548640" cy="548640"/>
          </a:xfrm>
          <a:prstGeom prst="rect">
            <a:avLst/>
          </a:prstGeom>
          <a:noFill/>
          <a:ln/>
        </p:spPr>
        <p:txBody>
          <a:bodyPr wrap="square" lIns="0" tIns="0" rIns="0" bIns="0" rtlCol="0" anchor="ctr"/>
          <a:lstStyle/>
          <a:p>
            <a:pPr marL="0" indent="0" algn="ctr">
              <a:buNone/>
            </a:pPr>
            <a:r>
              <a:rPr lang="en-US" sz="1800" b="1" dirty="0">
                <a:solidFill>
                  <a:srgbClr val="5B8DFF"/>
                </a:solidFill>
                <a:latin typeface="Calibri" pitchFamily="34" charset="0"/>
                <a:ea typeface="Calibri" pitchFamily="34" charset="-122"/>
                <a:cs typeface="Calibri" pitchFamily="34" charset="-120"/>
              </a:rPr>
              <a:t>NK</a:t>
            </a:r>
            <a:endParaRPr lang="en-US" sz="1800" dirty="0"/>
          </a:p>
        </p:txBody>
      </p:sp>
      <p:sp>
        <p:nvSpPr>
          <p:cNvPr id="15" name="Text 13"/>
          <p:cNvSpPr/>
          <p:nvPr/>
        </p:nvSpPr>
        <p:spPr>
          <a:xfrm>
            <a:off x="5257800" y="1956816"/>
            <a:ext cx="251460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Niti Kanoongo</a:t>
            </a:r>
            <a:endParaRPr lang="en-US" sz="1350" dirty="0"/>
          </a:p>
        </p:txBody>
      </p:sp>
      <p:sp>
        <p:nvSpPr>
          <p:cNvPr id="16" name="Text 14"/>
          <p:cNvSpPr/>
          <p:nvPr/>
        </p:nvSpPr>
        <p:spPr>
          <a:xfrm>
            <a:off x="5257800" y="2249424"/>
            <a:ext cx="2514600" cy="228600"/>
          </a:xfrm>
          <a:prstGeom prst="rect">
            <a:avLst/>
          </a:prstGeom>
          <a:noFill/>
          <a:ln/>
        </p:spPr>
        <p:txBody>
          <a:bodyPr wrap="square" lIns="0" tIns="0" rIns="0" bIns="0" rtlCol="0" anchor="ctr"/>
          <a:lstStyle/>
          <a:p>
            <a:pPr marL="0" indent="0">
              <a:buNone/>
            </a:pPr>
            <a:endParaRPr lang="en-US" sz="950" dirty="0"/>
          </a:p>
        </p:txBody>
      </p:sp>
      <p:sp>
        <p:nvSpPr>
          <p:cNvPr id="17" name="Text 15"/>
          <p:cNvSpPr/>
          <p:nvPr/>
        </p:nvSpPr>
        <p:spPr>
          <a:xfrm>
            <a:off x="4572000" y="2606040"/>
            <a:ext cx="3154680" cy="502920"/>
          </a:xfrm>
          <a:prstGeom prst="rect">
            <a:avLst/>
          </a:prstGeom>
          <a:noFill/>
          <a:ln/>
        </p:spPr>
        <p:txBody>
          <a:bodyPr wrap="square" lIns="0" tIns="0" rIns="0" bIns="0" rtlCol="0" anchor="ctr"/>
          <a:lstStyle/>
          <a:p>
            <a:pPr marL="0" indent="0">
              <a:lnSpc>
                <a:spcPct val="115000"/>
              </a:lnSpc>
              <a:buNone/>
            </a:pPr>
            <a:r>
              <a:rPr lang="en-US" sz="1030" b="1" dirty="0">
                <a:solidFill>
                  <a:srgbClr val="CADCFC"/>
                </a:solidFill>
                <a:latin typeface="Calibri" pitchFamily="34" charset="0"/>
                <a:ea typeface="Calibri" pitchFamily="34" charset="-122"/>
                <a:cs typeface="Calibri" pitchFamily="34" charset="-120"/>
              </a:rPr>
              <a:t>Decentralized AI Integration &amp; Fleet Lead</a:t>
            </a:r>
            <a:endParaRPr lang="en-US" sz="1030" dirty="0"/>
          </a:p>
        </p:txBody>
      </p:sp>
      <p:sp>
        <p:nvSpPr>
          <p:cNvPr id="18" name="Text 16"/>
          <p:cNvSpPr/>
          <p:nvPr/>
        </p:nvSpPr>
        <p:spPr>
          <a:xfrm>
            <a:off x="4572000" y="3127248"/>
            <a:ext cx="3154680" cy="914400"/>
          </a:xfrm>
          <a:prstGeom prst="rect">
            <a:avLst/>
          </a:prstGeom>
          <a:noFill/>
          <a:ln/>
        </p:spPr>
        <p:txBody>
          <a:bodyPr wrap="square" lIns="0" tIns="0" rIns="0" bIns="0" rtlCol="0" anchor="ctr"/>
          <a:lstStyle/>
          <a:p>
            <a:pPr marL="0" indent="0">
              <a:lnSpc>
                <a:spcPct val="120000"/>
              </a:lnSpc>
              <a:buNone/>
            </a:pPr>
            <a:r>
              <a:rPr lang="en-US" sz="970" dirty="0">
                <a:solidFill>
                  <a:srgbClr val="9AA6C9"/>
                </a:solidFill>
                <a:latin typeface="Calibri" pitchFamily="34" charset="0"/>
                <a:ea typeface="Calibri" pitchFamily="34" charset="-122"/>
                <a:cs typeface="Calibri" pitchFamily="34" charset="-120"/>
              </a:rPr>
              <a:t>3 agents' reasoning calls wired to NEAR AI Cloud's attested inference API; orchestration layer clearly labeled where mocked</a:t>
            </a:r>
            <a:endParaRPr lang="en-US" sz="970" dirty="0"/>
          </a:p>
        </p:txBody>
      </p:sp>
      <p:sp>
        <p:nvSpPr>
          <p:cNvPr id="19" name="Shape 17"/>
          <p:cNvSpPr/>
          <p:nvPr/>
        </p:nvSpPr>
        <p:spPr>
          <a:xfrm>
            <a:off x="8138160" y="1737360"/>
            <a:ext cx="3611880" cy="2377440"/>
          </a:xfrm>
          <a:prstGeom prst="roundRect">
            <a:avLst>
              <a:gd name="adj" fmla="val 3846"/>
            </a:avLst>
          </a:prstGeom>
          <a:solidFill>
            <a:srgbClr val="121B3F"/>
          </a:solidFill>
          <a:ln w="12700">
            <a:solidFill>
              <a:srgbClr val="263569"/>
            </a:solidFill>
            <a:prstDash val="solid"/>
          </a:ln>
        </p:spPr>
      </p:sp>
      <p:sp>
        <p:nvSpPr>
          <p:cNvPr id="20" name="Shape 18"/>
          <p:cNvSpPr/>
          <p:nvPr/>
        </p:nvSpPr>
        <p:spPr>
          <a:xfrm>
            <a:off x="8366760" y="1920240"/>
            <a:ext cx="548640" cy="548640"/>
          </a:xfrm>
          <a:prstGeom prst="ellipse">
            <a:avLst/>
          </a:prstGeom>
          <a:solidFill>
            <a:srgbClr val="1B2B5C"/>
          </a:solidFill>
          <a:ln/>
        </p:spPr>
      </p:sp>
      <p:sp>
        <p:nvSpPr>
          <p:cNvPr id="21" name="Text 19"/>
          <p:cNvSpPr/>
          <p:nvPr/>
        </p:nvSpPr>
        <p:spPr>
          <a:xfrm>
            <a:off x="8366760" y="1920240"/>
            <a:ext cx="548640" cy="548640"/>
          </a:xfrm>
          <a:prstGeom prst="rect">
            <a:avLst/>
          </a:prstGeom>
          <a:noFill/>
          <a:ln/>
        </p:spPr>
        <p:txBody>
          <a:bodyPr wrap="square" lIns="0" tIns="0" rIns="0" bIns="0" rtlCol="0" anchor="ctr"/>
          <a:lstStyle/>
          <a:p>
            <a:pPr marL="0" indent="0" algn="ctr">
              <a:buNone/>
            </a:pPr>
            <a:r>
              <a:rPr lang="en-US" sz="1800" b="1" dirty="0">
                <a:solidFill>
                  <a:srgbClr val="5B8DFF"/>
                </a:solidFill>
                <a:latin typeface="Calibri" pitchFamily="34" charset="0"/>
                <a:ea typeface="Calibri" pitchFamily="34" charset="-122"/>
                <a:cs typeface="Calibri" pitchFamily="34" charset="-120"/>
              </a:rPr>
              <a:t>SS</a:t>
            </a:r>
            <a:endParaRPr lang="en-US" sz="1800" dirty="0"/>
          </a:p>
        </p:txBody>
      </p:sp>
      <p:sp>
        <p:nvSpPr>
          <p:cNvPr id="22" name="Text 20"/>
          <p:cNvSpPr/>
          <p:nvPr/>
        </p:nvSpPr>
        <p:spPr>
          <a:xfrm>
            <a:off x="9052560" y="1956816"/>
            <a:ext cx="2514600" cy="3200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Smit Shah</a:t>
            </a:r>
            <a:endParaRPr lang="en-US" sz="1350" dirty="0"/>
          </a:p>
        </p:txBody>
      </p:sp>
      <p:sp>
        <p:nvSpPr>
          <p:cNvPr id="23" name="Text 21"/>
          <p:cNvSpPr/>
          <p:nvPr/>
        </p:nvSpPr>
        <p:spPr>
          <a:xfrm>
            <a:off x="9052560" y="2249424"/>
            <a:ext cx="2514600" cy="228600"/>
          </a:xfrm>
          <a:prstGeom prst="rect">
            <a:avLst/>
          </a:prstGeom>
          <a:noFill/>
          <a:ln/>
        </p:spPr>
        <p:txBody>
          <a:bodyPr wrap="square" lIns="0" tIns="0" rIns="0" bIns="0" rtlCol="0" anchor="ctr"/>
          <a:lstStyle/>
          <a:p>
            <a:pPr marL="0" indent="0">
              <a:buNone/>
            </a:pPr>
            <a:endParaRPr lang="en-US" sz="950" dirty="0"/>
          </a:p>
        </p:txBody>
      </p:sp>
      <p:sp>
        <p:nvSpPr>
          <p:cNvPr id="24" name="Text 22"/>
          <p:cNvSpPr/>
          <p:nvPr/>
        </p:nvSpPr>
        <p:spPr>
          <a:xfrm>
            <a:off x="8366760" y="2606040"/>
            <a:ext cx="3154680" cy="502920"/>
          </a:xfrm>
          <a:prstGeom prst="rect">
            <a:avLst/>
          </a:prstGeom>
          <a:noFill/>
          <a:ln/>
        </p:spPr>
        <p:txBody>
          <a:bodyPr wrap="square" lIns="0" tIns="0" rIns="0" bIns="0" rtlCol="0" anchor="ctr"/>
          <a:lstStyle/>
          <a:p>
            <a:pPr marL="0" indent="0">
              <a:lnSpc>
                <a:spcPct val="115000"/>
              </a:lnSpc>
              <a:buNone/>
            </a:pPr>
            <a:r>
              <a:rPr lang="en-US" sz="1030" b="1" dirty="0">
                <a:solidFill>
                  <a:srgbClr val="CADCFC"/>
                </a:solidFill>
                <a:latin typeface="Calibri" pitchFamily="34" charset="0"/>
                <a:ea typeface="Calibri" pitchFamily="34" charset="-122"/>
                <a:cs typeface="Calibri" pitchFamily="34" charset="-120"/>
              </a:rPr>
              <a:t>Frontend, Telemetry &amp; Audit Lead</a:t>
            </a:r>
            <a:endParaRPr lang="en-US" sz="1030" dirty="0"/>
          </a:p>
        </p:txBody>
      </p:sp>
      <p:sp>
        <p:nvSpPr>
          <p:cNvPr id="25" name="Text 23"/>
          <p:cNvSpPr/>
          <p:nvPr/>
        </p:nvSpPr>
        <p:spPr>
          <a:xfrm>
            <a:off x="8366760" y="3127248"/>
            <a:ext cx="3154680" cy="914400"/>
          </a:xfrm>
          <a:prstGeom prst="rect">
            <a:avLst/>
          </a:prstGeom>
          <a:noFill/>
          <a:ln/>
        </p:spPr>
        <p:txBody>
          <a:bodyPr wrap="square" lIns="0" tIns="0" rIns="0" bIns="0" rtlCol="0" anchor="ctr"/>
          <a:lstStyle/>
          <a:p>
            <a:pPr marL="0" indent="0">
              <a:lnSpc>
                <a:spcPct val="120000"/>
              </a:lnSpc>
              <a:buNone/>
            </a:pPr>
            <a:r>
              <a:rPr lang="en-US" sz="970" dirty="0">
                <a:solidFill>
                  <a:srgbClr val="9AA6C9"/>
                </a:solidFill>
                <a:latin typeface="Calibri" pitchFamily="34" charset="0"/>
                <a:ea typeface="Calibri" pitchFamily="34" charset="-122"/>
                <a:cs typeface="Calibri" pitchFamily="34" charset="-120"/>
              </a:rPr>
              <a:t>Operator console, live decision feed, policy editor, kill-switch UI, latency dashboards</a:t>
            </a:r>
            <a:endParaRPr lang="en-US" sz="970" dirty="0"/>
          </a:p>
        </p:txBody>
      </p:sp>
      <p:sp>
        <p:nvSpPr>
          <p:cNvPr id="26" name="Shape 24"/>
          <p:cNvSpPr/>
          <p:nvPr/>
        </p:nvSpPr>
        <p:spPr>
          <a:xfrm>
            <a:off x="548640" y="4343400"/>
            <a:ext cx="11064240" cy="1828800"/>
          </a:xfrm>
          <a:prstGeom prst="roundRect">
            <a:avLst>
              <a:gd name="adj" fmla="val 5000"/>
            </a:avLst>
          </a:prstGeom>
          <a:solidFill>
            <a:srgbClr val="17224C"/>
          </a:solidFill>
          <a:ln w="12700">
            <a:solidFill>
              <a:srgbClr val="263569"/>
            </a:solidFill>
            <a:prstDash val="solid"/>
          </a:ln>
        </p:spPr>
      </p:sp>
      <p:sp>
        <p:nvSpPr>
          <p:cNvPr id="27" name="Text 25"/>
          <p:cNvSpPr/>
          <p:nvPr/>
        </p:nvSpPr>
        <p:spPr>
          <a:xfrm>
            <a:off x="822960" y="4498848"/>
            <a:ext cx="5486400" cy="274320"/>
          </a:xfrm>
          <a:prstGeom prst="rect">
            <a:avLst/>
          </a:prstGeom>
          <a:noFill/>
          <a:ln/>
        </p:spPr>
        <p:txBody>
          <a:bodyPr wrap="square" lIns="0" tIns="0" rIns="0" bIns="0" rtlCol="0" anchor="ctr"/>
          <a:lstStyle/>
          <a:p>
            <a:pPr marL="0" indent="0">
              <a:buNone/>
            </a:pPr>
            <a:r>
              <a:rPr lang="en-US" sz="1150" b="1" kern="0" spc="100" dirty="0">
                <a:solidFill>
                  <a:srgbClr val="5B8DFF"/>
                </a:solidFill>
                <a:latin typeface="Calibri" pitchFamily="34" charset="0"/>
                <a:ea typeface="Calibri" pitchFamily="34" charset="-122"/>
                <a:cs typeface="Calibri" pitchFamily="34" charset="-120"/>
              </a:rPr>
              <a:t>ROUND 1 → ROUND 2 TIMELINE</a:t>
            </a:r>
            <a:endParaRPr lang="en-US" sz="1150" dirty="0"/>
          </a:p>
        </p:txBody>
      </p:sp>
      <p:sp>
        <p:nvSpPr>
          <p:cNvPr id="28" name="Shape 26"/>
          <p:cNvSpPr/>
          <p:nvPr/>
        </p:nvSpPr>
        <p:spPr>
          <a:xfrm>
            <a:off x="1051560" y="5349240"/>
            <a:ext cx="10104120" cy="0"/>
          </a:xfrm>
          <a:prstGeom prst="line">
            <a:avLst/>
          </a:prstGeom>
          <a:noFill/>
          <a:ln w="19050">
            <a:solidFill>
              <a:srgbClr val="263569"/>
            </a:solidFill>
            <a:prstDash val="solid"/>
          </a:ln>
        </p:spPr>
      </p:sp>
      <p:sp>
        <p:nvSpPr>
          <p:cNvPr id="29" name="Shape 27"/>
          <p:cNvSpPr/>
          <p:nvPr/>
        </p:nvSpPr>
        <p:spPr>
          <a:xfrm>
            <a:off x="914400" y="5285232"/>
            <a:ext cx="128016" cy="128016"/>
          </a:xfrm>
          <a:prstGeom prst="ellipse">
            <a:avLst/>
          </a:prstGeom>
          <a:solidFill>
            <a:srgbClr val="5B8DFF"/>
          </a:solidFill>
          <a:ln/>
        </p:spPr>
      </p:sp>
      <p:sp>
        <p:nvSpPr>
          <p:cNvPr id="30" name="Text 28"/>
          <p:cNvSpPr/>
          <p:nvPr/>
        </p:nvSpPr>
        <p:spPr>
          <a:xfrm>
            <a:off x="914400" y="5285232"/>
            <a:ext cx="128016" cy="128016"/>
          </a:xfrm>
          <a:prstGeom prst="rect">
            <a:avLst/>
          </a:prstGeom>
          <a:noFill/>
          <a:ln/>
        </p:spPr>
        <p:txBody>
          <a:bodyPr wrap="square" lIns="0" tIns="0" rIns="0" bIns="0" rtlCol="0" anchor="ctr"/>
          <a:lstStyle/>
          <a:p>
            <a:pPr marL="0" indent="0" algn="ctr">
              <a:buNone/>
            </a:pPr>
            <a:endParaRPr lang="en-US" sz="100" dirty="0"/>
          </a:p>
        </p:txBody>
      </p:sp>
      <p:sp>
        <p:nvSpPr>
          <p:cNvPr id="31" name="Text 29"/>
          <p:cNvSpPr/>
          <p:nvPr/>
        </p:nvSpPr>
        <p:spPr>
          <a:xfrm>
            <a:off x="365760" y="4892040"/>
            <a:ext cx="173736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Jul 13</a:t>
            </a:r>
            <a:endParaRPr lang="en-US" sz="1250" dirty="0"/>
          </a:p>
        </p:txBody>
      </p:sp>
      <p:sp>
        <p:nvSpPr>
          <p:cNvPr id="32" name="Text 30"/>
          <p:cNvSpPr/>
          <p:nvPr/>
        </p:nvSpPr>
        <p:spPr>
          <a:xfrm>
            <a:off x="91440" y="5486400"/>
            <a:ext cx="2286000" cy="502920"/>
          </a:xfrm>
          <a:prstGeom prst="rect">
            <a:avLst/>
          </a:prstGeom>
          <a:noFill/>
          <a:ln/>
        </p:spPr>
        <p:txBody>
          <a:bodyPr wrap="square" lIns="0" tIns="0" rIns="0" bIns="0" rtlCol="0" anchor="ctr"/>
          <a:lstStyle/>
          <a:p>
            <a:pPr marL="0" indent="0" algn="ctr">
              <a:lnSpc>
                <a:spcPct val="115000"/>
              </a:lnSpc>
              <a:buNone/>
            </a:pPr>
            <a:r>
              <a:rPr lang="en-US" sz="950" dirty="0">
                <a:solidFill>
                  <a:srgbClr val="9AA6C9"/>
                </a:solidFill>
                <a:latin typeface="Calibri" pitchFamily="34" charset="0"/>
                <a:ea typeface="Calibri" pitchFamily="34" charset="-122"/>
                <a:cs typeface="Calibri" pitchFamily="34" charset="-120"/>
              </a:rPr>
              <a:t>Kickoff &amp; Architecture</a:t>
            </a:r>
            <a:endParaRPr lang="en-US" sz="950" dirty="0"/>
          </a:p>
        </p:txBody>
      </p:sp>
      <p:sp>
        <p:nvSpPr>
          <p:cNvPr id="33" name="Shape 31"/>
          <p:cNvSpPr/>
          <p:nvPr/>
        </p:nvSpPr>
        <p:spPr>
          <a:xfrm>
            <a:off x="3566160" y="5285232"/>
            <a:ext cx="128016" cy="128016"/>
          </a:xfrm>
          <a:prstGeom prst="ellipse">
            <a:avLst/>
          </a:prstGeom>
          <a:solidFill>
            <a:srgbClr val="5B8DFF"/>
          </a:solidFill>
          <a:ln/>
        </p:spPr>
      </p:sp>
      <p:sp>
        <p:nvSpPr>
          <p:cNvPr id="34" name="Text 32"/>
          <p:cNvSpPr/>
          <p:nvPr/>
        </p:nvSpPr>
        <p:spPr>
          <a:xfrm>
            <a:off x="3566160" y="5285232"/>
            <a:ext cx="128016" cy="128016"/>
          </a:xfrm>
          <a:prstGeom prst="rect">
            <a:avLst/>
          </a:prstGeom>
          <a:noFill/>
          <a:ln/>
        </p:spPr>
        <p:txBody>
          <a:bodyPr wrap="square" lIns="0" tIns="0" rIns="0" bIns="0" rtlCol="0" anchor="ctr"/>
          <a:lstStyle/>
          <a:p>
            <a:pPr marL="0" indent="0" algn="ctr">
              <a:buNone/>
            </a:pPr>
            <a:endParaRPr lang="en-US" sz="100" dirty="0"/>
          </a:p>
        </p:txBody>
      </p:sp>
      <p:sp>
        <p:nvSpPr>
          <p:cNvPr id="35" name="Text 33"/>
          <p:cNvSpPr/>
          <p:nvPr/>
        </p:nvSpPr>
        <p:spPr>
          <a:xfrm>
            <a:off x="3017520" y="4892040"/>
            <a:ext cx="173736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Jul 27</a:t>
            </a:r>
            <a:endParaRPr lang="en-US" sz="1250" dirty="0"/>
          </a:p>
        </p:txBody>
      </p:sp>
      <p:sp>
        <p:nvSpPr>
          <p:cNvPr id="36" name="Text 34"/>
          <p:cNvSpPr/>
          <p:nvPr/>
        </p:nvSpPr>
        <p:spPr>
          <a:xfrm>
            <a:off x="2743200" y="5486400"/>
            <a:ext cx="2286000" cy="502920"/>
          </a:xfrm>
          <a:prstGeom prst="rect">
            <a:avLst/>
          </a:prstGeom>
          <a:noFill/>
          <a:ln/>
        </p:spPr>
        <p:txBody>
          <a:bodyPr wrap="square" lIns="0" tIns="0" rIns="0" bIns="0" rtlCol="0" anchor="ctr"/>
          <a:lstStyle/>
          <a:p>
            <a:pPr marL="0" indent="0" algn="ctr">
              <a:lnSpc>
                <a:spcPct val="115000"/>
              </a:lnSpc>
              <a:buNone/>
            </a:pPr>
            <a:r>
              <a:rPr lang="en-US" sz="950" dirty="0">
                <a:solidFill>
                  <a:srgbClr val="9AA6C9"/>
                </a:solidFill>
                <a:latin typeface="Calibri" pitchFamily="34" charset="0"/>
                <a:ea typeface="Calibri" pitchFamily="34" charset="-122"/>
                <a:cs typeface="Calibri" pitchFamily="34" charset="-120"/>
              </a:rPr>
              <a:t>Round 1 Submission</a:t>
            </a:r>
            <a:endParaRPr lang="en-US" sz="950" dirty="0"/>
          </a:p>
        </p:txBody>
      </p:sp>
      <p:sp>
        <p:nvSpPr>
          <p:cNvPr id="37" name="Shape 35"/>
          <p:cNvSpPr/>
          <p:nvPr/>
        </p:nvSpPr>
        <p:spPr>
          <a:xfrm>
            <a:off x="6217920" y="5285232"/>
            <a:ext cx="128016" cy="128016"/>
          </a:xfrm>
          <a:prstGeom prst="ellipse">
            <a:avLst/>
          </a:prstGeom>
          <a:solidFill>
            <a:srgbClr val="5B8DFF"/>
          </a:solidFill>
          <a:ln/>
        </p:spPr>
      </p:sp>
      <p:sp>
        <p:nvSpPr>
          <p:cNvPr id="38" name="Text 36"/>
          <p:cNvSpPr/>
          <p:nvPr/>
        </p:nvSpPr>
        <p:spPr>
          <a:xfrm>
            <a:off x="6217920" y="5285232"/>
            <a:ext cx="128016" cy="128016"/>
          </a:xfrm>
          <a:prstGeom prst="rect">
            <a:avLst/>
          </a:prstGeom>
          <a:noFill/>
          <a:ln/>
        </p:spPr>
        <p:txBody>
          <a:bodyPr wrap="square" lIns="0" tIns="0" rIns="0" bIns="0" rtlCol="0" anchor="ctr"/>
          <a:lstStyle/>
          <a:p>
            <a:pPr marL="0" indent="0" algn="ctr">
              <a:buNone/>
            </a:pPr>
            <a:endParaRPr lang="en-US" sz="100" dirty="0"/>
          </a:p>
        </p:txBody>
      </p:sp>
      <p:sp>
        <p:nvSpPr>
          <p:cNvPr id="39" name="Text 37"/>
          <p:cNvSpPr/>
          <p:nvPr/>
        </p:nvSpPr>
        <p:spPr>
          <a:xfrm>
            <a:off x="5669280" y="4892040"/>
            <a:ext cx="173736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Aug 7</a:t>
            </a:r>
            <a:endParaRPr lang="en-US" sz="1250" dirty="0"/>
          </a:p>
        </p:txBody>
      </p:sp>
      <p:sp>
        <p:nvSpPr>
          <p:cNvPr id="40" name="Text 38"/>
          <p:cNvSpPr/>
          <p:nvPr/>
        </p:nvSpPr>
        <p:spPr>
          <a:xfrm>
            <a:off x="5394960" y="5486400"/>
            <a:ext cx="2286000" cy="502920"/>
          </a:xfrm>
          <a:prstGeom prst="rect">
            <a:avLst/>
          </a:prstGeom>
          <a:noFill/>
          <a:ln/>
        </p:spPr>
        <p:txBody>
          <a:bodyPr wrap="square" lIns="0" tIns="0" rIns="0" bIns="0" rtlCol="0" anchor="ctr"/>
          <a:lstStyle/>
          <a:p>
            <a:pPr marL="0" indent="0" algn="ctr">
              <a:lnSpc>
                <a:spcPct val="115000"/>
              </a:lnSpc>
              <a:buNone/>
            </a:pPr>
            <a:r>
              <a:rPr lang="en-US" sz="950" dirty="0">
                <a:solidFill>
                  <a:srgbClr val="9AA6C9"/>
                </a:solidFill>
                <a:latin typeface="Calibri" pitchFamily="34" charset="0"/>
                <a:ea typeface="Calibri" pitchFamily="34" charset="-122"/>
                <a:cs typeface="Calibri" pitchFamily="34" charset="-120"/>
              </a:rPr>
              <a:t>Prototype Sprint Begins</a:t>
            </a:r>
            <a:endParaRPr lang="en-US" sz="950" dirty="0"/>
          </a:p>
        </p:txBody>
      </p:sp>
      <p:sp>
        <p:nvSpPr>
          <p:cNvPr id="41" name="Shape 39"/>
          <p:cNvSpPr/>
          <p:nvPr/>
        </p:nvSpPr>
        <p:spPr>
          <a:xfrm>
            <a:off x="8869680" y="5285232"/>
            <a:ext cx="128016" cy="128016"/>
          </a:xfrm>
          <a:prstGeom prst="ellipse">
            <a:avLst/>
          </a:prstGeom>
          <a:solidFill>
            <a:srgbClr val="5B8DFF"/>
          </a:solidFill>
          <a:ln/>
        </p:spPr>
      </p:sp>
      <p:sp>
        <p:nvSpPr>
          <p:cNvPr id="42" name="Text 40"/>
          <p:cNvSpPr/>
          <p:nvPr/>
        </p:nvSpPr>
        <p:spPr>
          <a:xfrm>
            <a:off x="8869680" y="5285232"/>
            <a:ext cx="128016" cy="128016"/>
          </a:xfrm>
          <a:prstGeom prst="rect">
            <a:avLst/>
          </a:prstGeom>
          <a:noFill/>
          <a:ln/>
        </p:spPr>
        <p:txBody>
          <a:bodyPr wrap="square" lIns="0" tIns="0" rIns="0" bIns="0" rtlCol="0" anchor="ctr"/>
          <a:lstStyle/>
          <a:p>
            <a:pPr marL="0" indent="0" algn="ctr">
              <a:buNone/>
            </a:pPr>
            <a:endParaRPr lang="en-US" sz="100" dirty="0"/>
          </a:p>
        </p:txBody>
      </p:sp>
      <p:sp>
        <p:nvSpPr>
          <p:cNvPr id="43" name="Text 41"/>
          <p:cNvSpPr/>
          <p:nvPr/>
        </p:nvSpPr>
        <p:spPr>
          <a:xfrm>
            <a:off x="8321040" y="4892040"/>
            <a:ext cx="1737360" cy="320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Aug 21</a:t>
            </a:r>
            <a:endParaRPr lang="en-US" sz="1250" dirty="0"/>
          </a:p>
        </p:txBody>
      </p:sp>
      <p:sp>
        <p:nvSpPr>
          <p:cNvPr id="44" name="Text 42"/>
          <p:cNvSpPr/>
          <p:nvPr/>
        </p:nvSpPr>
        <p:spPr>
          <a:xfrm>
            <a:off x="8046720" y="5486400"/>
            <a:ext cx="2286000" cy="502920"/>
          </a:xfrm>
          <a:prstGeom prst="rect">
            <a:avLst/>
          </a:prstGeom>
          <a:noFill/>
          <a:ln/>
        </p:spPr>
        <p:txBody>
          <a:bodyPr wrap="square" lIns="0" tIns="0" rIns="0" bIns="0" rtlCol="0" anchor="ctr"/>
          <a:lstStyle/>
          <a:p>
            <a:pPr marL="0" indent="0" algn="ctr">
              <a:lnSpc>
                <a:spcPct val="115000"/>
              </a:lnSpc>
              <a:buNone/>
            </a:pPr>
            <a:r>
              <a:rPr lang="en-US" sz="950" dirty="0">
                <a:solidFill>
                  <a:srgbClr val="9AA6C9"/>
                </a:solidFill>
                <a:latin typeface="Calibri" pitchFamily="34" charset="0"/>
                <a:ea typeface="Calibri" pitchFamily="34" charset="-122"/>
                <a:cs typeface="Calibri" pitchFamily="34" charset="-120"/>
              </a:rPr>
              <a:t>Round 2 — Live Demo</a:t>
            </a:r>
            <a:endParaRPr lang="en-US" sz="950" dirty="0"/>
          </a:p>
        </p:txBody>
      </p:sp>
      <p:sp>
        <p:nvSpPr>
          <p:cNvPr id="45" name="Text 43"/>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46" name="Text 44"/>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Team &amp; Roadmap   ·   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128"/>
        </a:solidFill>
        <a:effectLst/>
      </p:bgPr>
    </p:bg>
    <p:spTree>
      <p:nvGrpSpPr>
        <p:cNvPr id="1" name=""/>
        <p:cNvGrpSpPr/>
        <p:nvPr/>
      </p:nvGrpSpPr>
      <p:grpSpPr>
        <a:xfrm>
          <a:off x="0" y="0"/>
          <a:ext cx="0" cy="0"/>
          <a:chOff x="0" y="0"/>
          <a:chExt cx="0" cy="0"/>
        </a:xfrm>
      </p:grpSpPr>
      <p:sp>
        <p:nvSpPr>
          <p:cNvPr id="2" name="Shape 0"/>
          <p:cNvSpPr/>
          <p:nvPr/>
        </p:nvSpPr>
        <p:spPr>
          <a:xfrm>
            <a:off x="548640" y="384048"/>
            <a:ext cx="128016" cy="128016"/>
          </a:xfrm>
          <a:prstGeom prst="rect">
            <a:avLst/>
          </a:prstGeom>
          <a:solidFill>
            <a:srgbClr val="2E6BF2"/>
          </a:solidFill>
          <a:ln/>
        </p:spPr>
      </p:sp>
      <p:sp>
        <p:nvSpPr>
          <p:cNvPr id="3" name="Text 1"/>
          <p:cNvSpPr/>
          <p:nvPr/>
        </p:nvSpPr>
        <p:spPr>
          <a:xfrm>
            <a:off x="786384" y="320040"/>
            <a:ext cx="7315200" cy="274320"/>
          </a:xfrm>
          <a:prstGeom prst="rect">
            <a:avLst/>
          </a:prstGeom>
          <a:noFill/>
          <a:ln/>
        </p:spPr>
        <p:txBody>
          <a:bodyPr wrap="square" lIns="0" tIns="0" rIns="0" bIns="0" rtlCol="0" anchor="ctr"/>
          <a:lstStyle/>
          <a:p>
            <a:pPr marL="0" indent="0">
              <a:buNone/>
            </a:pPr>
            <a:r>
              <a:rPr lang="en-US" sz="1250" b="1" kern="0" spc="200" dirty="0">
                <a:solidFill>
                  <a:srgbClr val="5B8DFF"/>
                </a:solidFill>
                <a:latin typeface="Calibri" pitchFamily="34" charset="0"/>
                <a:ea typeface="Calibri" pitchFamily="34" charset="-122"/>
                <a:cs typeface="Calibri" pitchFamily="34" charset="-120"/>
              </a:rPr>
              <a:t>SOLUTION OVERVIEW  ·  EXPECTED BUSINESS &amp; SOCIETAL IMPACT</a:t>
            </a:r>
            <a:endParaRPr lang="en-US" sz="1250" dirty="0"/>
          </a:p>
        </p:txBody>
      </p:sp>
      <p:sp>
        <p:nvSpPr>
          <p:cNvPr id="4" name="Text 2"/>
          <p:cNvSpPr/>
          <p:nvPr/>
        </p:nvSpPr>
        <p:spPr>
          <a:xfrm>
            <a:off x="548640" y="658368"/>
            <a:ext cx="10607040" cy="914400"/>
          </a:xfrm>
          <a:prstGeom prst="rect">
            <a:avLst/>
          </a:prstGeom>
          <a:noFill/>
          <a:ln/>
        </p:spPr>
        <p:txBody>
          <a:bodyPr wrap="square" lIns="0" tIns="0" rIns="0" bIns="0" rtlCol="0" anchor="ctr"/>
          <a:lstStyle/>
          <a:p>
            <a:pPr marL="0" indent="0">
              <a:lnSpc>
                <a:spcPct val="102000"/>
              </a:lnSpc>
              <a:buNone/>
            </a:pPr>
            <a:r>
              <a:rPr lang="en-US" sz="2500" b="1" dirty="0">
                <a:solidFill>
                  <a:srgbClr val="FFFFFF"/>
                </a:solidFill>
                <a:latin typeface="Calibri" pitchFamily="34" charset="0"/>
                <a:ea typeface="Calibri" pitchFamily="34" charset="-122"/>
                <a:cs typeface="Calibri" pitchFamily="34" charset="-120"/>
              </a:rPr>
              <a:t>The Layer That Makes Every Other Agent Safe to Ship</a:t>
            </a:r>
            <a:endParaRPr lang="en-US" sz="2500" dirty="0"/>
          </a:p>
        </p:txBody>
      </p:sp>
      <p:sp>
        <p:nvSpPr>
          <p:cNvPr id="5" name="Shape 3"/>
          <p:cNvSpPr/>
          <p:nvPr/>
        </p:nvSpPr>
        <p:spPr>
          <a:xfrm>
            <a:off x="548640" y="1737360"/>
            <a:ext cx="2697480" cy="2606040"/>
          </a:xfrm>
          <a:prstGeom prst="roundRect">
            <a:avLst>
              <a:gd name="adj" fmla="val 3509"/>
            </a:avLst>
          </a:prstGeom>
          <a:solidFill>
            <a:srgbClr val="121B3F"/>
          </a:solidFill>
          <a:ln w="12700">
            <a:solidFill>
              <a:srgbClr val="263569"/>
            </a:solidFill>
            <a:prstDash val="solid"/>
          </a:ln>
        </p:spPr>
      </p:sp>
      <p:sp>
        <p:nvSpPr>
          <p:cNvPr id="6" name="Shape 4"/>
          <p:cNvSpPr/>
          <p:nvPr/>
        </p:nvSpPr>
        <p:spPr>
          <a:xfrm>
            <a:off x="777240" y="1965960"/>
            <a:ext cx="457200" cy="457200"/>
          </a:xfrm>
          <a:prstGeom prst="ellipse">
            <a:avLst/>
          </a:prstGeom>
          <a:solidFill>
            <a:srgbClr val="1B2B5C"/>
          </a:solidFill>
          <a:ln/>
        </p:spPr>
      </p:sp>
      <p:sp>
        <p:nvSpPr>
          <p:cNvPr id="7" name="Text 5"/>
          <p:cNvSpPr/>
          <p:nvPr/>
        </p:nvSpPr>
        <p:spPr>
          <a:xfrm>
            <a:off x="777240" y="1965960"/>
            <a:ext cx="457200" cy="457200"/>
          </a:xfrm>
          <a:prstGeom prst="rect">
            <a:avLst/>
          </a:prstGeom>
          <a:noFill/>
          <a:ln/>
        </p:spPr>
        <p:txBody>
          <a:bodyPr wrap="square" lIns="0" tIns="0" rIns="0" bIns="0" rtlCol="0" anchor="ctr"/>
          <a:lstStyle/>
          <a:p>
            <a:pPr marL="0" indent="0" algn="ctr">
              <a:buNone/>
            </a:pPr>
            <a:r>
              <a:rPr lang="en-US" sz="1800" b="1" dirty="0">
                <a:solidFill>
                  <a:srgbClr val="5B8DFF"/>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777240" y="2560320"/>
            <a:ext cx="2240280" cy="59436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Systemic Risk Containment</a:t>
            </a:r>
            <a:endParaRPr lang="en-US" sz="1300" dirty="0"/>
          </a:p>
        </p:txBody>
      </p:sp>
      <p:sp>
        <p:nvSpPr>
          <p:cNvPr id="9" name="Text 7"/>
          <p:cNvSpPr/>
          <p:nvPr/>
        </p:nvSpPr>
        <p:spPr>
          <a:xfrm>
            <a:off x="777240" y="3154680"/>
            <a:ext cx="2240280" cy="1143000"/>
          </a:xfrm>
          <a:prstGeom prst="rect">
            <a:avLst/>
          </a:prstGeom>
          <a:noFill/>
          <a:ln/>
        </p:spPr>
        <p:txBody>
          <a:bodyPr wrap="square" lIns="0" tIns="0" rIns="0" bIns="0" rtlCol="0" anchor="ctr"/>
          <a:lstStyle/>
          <a:p>
            <a:pPr marL="0" indent="0">
              <a:lnSpc>
                <a:spcPct val="122000"/>
              </a:lnSpc>
              <a:buNone/>
            </a:pPr>
            <a:r>
              <a:rPr lang="en-US" sz="1030" dirty="0">
                <a:solidFill>
                  <a:srgbClr val="9AA6C9"/>
                </a:solidFill>
                <a:latin typeface="Calibri" pitchFamily="34" charset="0"/>
                <a:ea typeface="Calibri" pitchFamily="34" charset="-122"/>
                <a:cs typeface="Calibri" pitchFamily="34" charset="-120"/>
              </a:rPr>
              <a:t>One provable emergency stop across every deployed agent — closes the “who turns it off” gap.</a:t>
            </a:r>
            <a:endParaRPr lang="en-US" sz="1030" dirty="0"/>
          </a:p>
        </p:txBody>
      </p:sp>
      <p:sp>
        <p:nvSpPr>
          <p:cNvPr id="10" name="Shape 8"/>
          <p:cNvSpPr/>
          <p:nvPr/>
        </p:nvSpPr>
        <p:spPr>
          <a:xfrm>
            <a:off x="3429000" y="1737360"/>
            <a:ext cx="2697480" cy="2606040"/>
          </a:xfrm>
          <a:prstGeom prst="roundRect">
            <a:avLst>
              <a:gd name="adj" fmla="val 3509"/>
            </a:avLst>
          </a:prstGeom>
          <a:solidFill>
            <a:srgbClr val="121B3F"/>
          </a:solidFill>
          <a:ln w="12700">
            <a:solidFill>
              <a:srgbClr val="263569"/>
            </a:solidFill>
            <a:prstDash val="solid"/>
          </a:ln>
        </p:spPr>
      </p:sp>
      <p:sp>
        <p:nvSpPr>
          <p:cNvPr id="11" name="Shape 9"/>
          <p:cNvSpPr/>
          <p:nvPr/>
        </p:nvSpPr>
        <p:spPr>
          <a:xfrm>
            <a:off x="3657600" y="1965960"/>
            <a:ext cx="457200" cy="457200"/>
          </a:xfrm>
          <a:prstGeom prst="ellipse">
            <a:avLst/>
          </a:prstGeom>
          <a:solidFill>
            <a:srgbClr val="1B2B5C"/>
          </a:solidFill>
          <a:ln/>
        </p:spPr>
      </p:sp>
      <p:sp>
        <p:nvSpPr>
          <p:cNvPr id="12" name="Text 10"/>
          <p:cNvSpPr/>
          <p:nvPr/>
        </p:nvSpPr>
        <p:spPr>
          <a:xfrm>
            <a:off x="3657600" y="1965960"/>
            <a:ext cx="457200" cy="457200"/>
          </a:xfrm>
          <a:prstGeom prst="rect">
            <a:avLst/>
          </a:prstGeom>
          <a:noFill/>
          <a:ln/>
        </p:spPr>
        <p:txBody>
          <a:bodyPr wrap="square" lIns="0" tIns="0" rIns="0" bIns="0" rtlCol="0" anchor="ctr"/>
          <a:lstStyle/>
          <a:p>
            <a:pPr marL="0" indent="0" algn="ctr">
              <a:buNone/>
            </a:pPr>
            <a:r>
              <a:rPr lang="en-US" sz="1800" b="1" dirty="0">
                <a:solidFill>
                  <a:srgbClr val="5B8DFF"/>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3657600" y="2560320"/>
            <a:ext cx="2240280" cy="59436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Audit-Ready Compliance</a:t>
            </a:r>
            <a:endParaRPr lang="en-US" sz="1300" dirty="0"/>
          </a:p>
        </p:txBody>
      </p:sp>
      <p:sp>
        <p:nvSpPr>
          <p:cNvPr id="14" name="Text 12"/>
          <p:cNvSpPr/>
          <p:nvPr/>
        </p:nvSpPr>
        <p:spPr>
          <a:xfrm>
            <a:off x="3657600" y="3154680"/>
            <a:ext cx="2240280" cy="1143000"/>
          </a:xfrm>
          <a:prstGeom prst="rect">
            <a:avLst/>
          </a:prstGeom>
          <a:noFill/>
          <a:ln/>
        </p:spPr>
        <p:txBody>
          <a:bodyPr wrap="square" lIns="0" tIns="0" rIns="0" bIns="0" rtlCol="0" anchor="ctr"/>
          <a:lstStyle/>
          <a:p>
            <a:pPr marL="0" indent="0">
              <a:lnSpc>
                <a:spcPct val="122000"/>
              </a:lnSpc>
              <a:buNone/>
            </a:pPr>
            <a:r>
              <a:rPr lang="en-US" sz="1030" dirty="0">
                <a:solidFill>
                  <a:srgbClr val="9AA6C9"/>
                </a:solidFill>
                <a:latin typeface="Calibri" pitchFamily="34" charset="0"/>
                <a:ea typeface="Calibri" pitchFamily="34" charset="-122"/>
                <a:cs typeface="Calibri" pitchFamily="34" charset="-120"/>
              </a:rPr>
              <a:t>A cryptographically verifiable log of every autonomous financial decision, regulator-ready by design.</a:t>
            </a:r>
            <a:endParaRPr lang="en-US" sz="1030" dirty="0"/>
          </a:p>
        </p:txBody>
      </p:sp>
      <p:sp>
        <p:nvSpPr>
          <p:cNvPr id="15" name="Shape 13"/>
          <p:cNvSpPr/>
          <p:nvPr/>
        </p:nvSpPr>
        <p:spPr>
          <a:xfrm>
            <a:off x="6309360" y="1737360"/>
            <a:ext cx="2697480" cy="2606040"/>
          </a:xfrm>
          <a:prstGeom prst="roundRect">
            <a:avLst>
              <a:gd name="adj" fmla="val 3509"/>
            </a:avLst>
          </a:prstGeom>
          <a:solidFill>
            <a:srgbClr val="121B3F"/>
          </a:solidFill>
          <a:ln w="12700">
            <a:solidFill>
              <a:srgbClr val="263569"/>
            </a:solidFill>
            <a:prstDash val="solid"/>
          </a:ln>
        </p:spPr>
      </p:sp>
      <p:sp>
        <p:nvSpPr>
          <p:cNvPr id="16" name="Shape 14"/>
          <p:cNvSpPr/>
          <p:nvPr/>
        </p:nvSpPr>
        <p:spPr>
          <a:xfrm>
            <a:off x="6537960" y="1965960"/>
            <a:ext cx="457200" cy="457200"/>
          </a:xfrm>
          <a:prstGeom prst="ellipse">
            <a:avLst/>
          </a:prstGeom>
          <a:solidFill>
            <a:srgbClr val="1B2B5C"/>
          </a:solidFill>
          <a:ln/>
        </p:spPr>
      </p:sp>
      <p:sp>
        <p:nvSpPr>
          <p:cNvPr id="17" name="Text 15"/>
          <p:cNvSpPr/>
          <p:nvPr/>
        </p:nvSpPr>
        <p:spPr>
          <a:xfrm>
            <a:off x="6537960" y="1965960"/>
            <a:ext cx="457200" cy="457200"/>
          </a:xfrm>
          <a:prstGeom prst="rect">
            <a:avLst/>
          </a:prstGeom>
          <a:noFill/>
          <a:ln/>
        </p:spPr>
        <p:txBody>
          <a:bodyPr wrap="square" lIns="0" tIns="0" rIns="0" bIns="0" rtlCol="0" anchor="ctr"/>
          <a:lstStyle/>
          <a:p>
            <a:pPr marL="0" indent="0" algn="ctr">
              <a:buNone/>
            </a:pPr>
            <a:r>
              <a:rPr lang="en-US" sz="1800" b="1" dirty="0">
                <a:solidFill>
                  <a:srgbClr val="5B8DFF"/>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6537960" y="2560320"/>
            <a:ext cx="2240280" cy="59436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Faster Agent Rollout</a:t>
            </a:r>
            <a:endParaRPr lang="en-US" sz="1300" dirty="0"/>
          </a:p>
        </p:txBody>
      </p:sp>
      <p:sp>
        <p:nvSpPr>
          <p:cNvPr id="19" name="Text 17"/>
          <p:cNvSpPr/>
          <p:nvPr/>
        </p:nvSpPr>
        <p:spPr>
          <a:xfrm>
            <a:off x="6537960" y="3154680"/>
            <a:ext cx="2240280" cy="1143000"/>
          </a:xfrm>
          <a:prstGeom prst="rect">
            <a:avLst/>
          </a:prstGeom>
          <a:noFill/>
          <a:ln/>
        </p:spPr>
        <p:txBody>
          <a:bodyPr wrap="square" lIns="0" tIns="0" rIns="0" bIns="0" rtlCol="0" anchor="ctr"/>
          <a:lstStyle/>
          <a:p>
            <a:pPr marL="0" indent="0">
              <a:lnSpc>
                <a:spcPct val="122000"/>
              </a:lnSpc>
              <a:buNone/>
            </a:pPr>
            <a:r>
              <a:rPr lang="en-US" sz="1030" dirty="0">
                <a:solidFill>
                  <a:srgbClr val="9AA6C9"/>
                </a:solidFill>
                <a:latin typeface="Calibri" pitchFamily="34" charset="0"/>
                <a:ea typeface="Calibri" pitchFamily="34" charset="-122"/>
                <a:cs typeface="Calibri" pitchFamily="34" charset="-120"/>
              </a:rPr>
              <a:t>New agents (servicing, disputes, benefits) inherit permissioning, budgeting, and kill-switch for free.</a:t>
            </a:r>
            <a:endParaRPr lang="en-US" sz="1030" dirty="0"/>
          </a:p>
        </p:txBody>
      </p:sp>
      <p:sp>
        <p:nvSpPr>
          <p:cNvPr id="20" name="Shape 18"/>
          <p:cNvSpPr/>
          <p:nvPr/>
        </p:nvSpPr>
        <p:spPr>
          <a:xfrm>
            <a:off x="9189720" y="1737360"/>
            <a:ext cx="2697480" cy="2606040"/>
          </a:xfrm>
          <a:prstGeom prst="roundRect">
            <a:avLst>
              <a:gd name="adj" fmla="val 3509"/>
            </a:avLst>
          </a:prstGeom>
          <a:solidFill>
            <a:srgbClr val="121B3F"/>
          </a:solidFill>
          <a:ln w="12700">
            <a:solidFill>
              <a:srgbClr val="263569"/>
            </a:solidFill>
            <a:prstDash val="solid"/>
          </a:ln>
        </p:spPr>
      </p:sp>
      <p:sp>
        <p:nvSpPr>
          <p:cNvPr id="21" name="Shape 19"/>
          <p:cNvSpPr/>
          <p:nvPr/>
        </p:nvSpPr>
        <p:spPr>
          <a:xfrm>
            <a:off x="9418320" y="1965960"/>
            <a:ext cx="457200" cy="457200"/>
          </a:xfrm>
          <a:prstGeom prst="ellipse">
            <a:avLst/>
          </a:prstGeom>
          <a:solidFill>
            <a:srgbClr val="1B2B5C"/>
          </a:solidFill>
          <a:ln/>
        </p:spPr>
      </p:sp>
      <p:sp>
        <p:nvSpPr>
          <p:cNvPr id="22" name="Text 20"/>
          <p:cNvSpPr/>
          <p:nvPr/>
        </p:nvSpPr>
        <p:spPr>
          <a:xfrm>
            <a:off x="9418320" y="1965960"/>
            <a:ext cx="457200" cy="457200"/>
          </a:xfrm>
          <a:prstGeom prst="rect">
            <a:avLst/>
          </a:prstGeom>
          <a:noFill/>
          <a:ln/>
        </p:spPr>
        <p:txBody>
          <a:bodyPr wrap="square" lIns="0" tIns="0" rIns="0" bIns="0" rtlCol="0" anchor="ctr"/>
          <a:lstStyle/>
          <a:p>
            <a:pPr marL="0" indent="0" algn="ctr">
              <a:buNone/>
            </a:pPr>
            <a:r>
              <a:rPr lang="en-US" sz="1800" b="1" dirty="0">
                <a:solidFill>
                  <a:srgbClr val="5B8DFF"/>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9418320" y="2560320"/>
            <a:ext cx="2240280" cy="594360"/>
          </a:xfrm>
          <a:prstGeom prst="rect">
            <a:avLst/>
          </a:prstGeom>
          <a:noFill/>
          <a:ln/>
        </p:spPr>
        <p:txBody>
          <a:bodyPr wrap="square" lIns="0" tIns="0" rIns="0" bIns="0" rtlCol="0" anchor="ctr"/>
          <a:lstStyle/>
          <a:p>
            <a:pPr marL="0" indent="0">
              <a:lnSpc>
                <a:spcPct val="115000"/>
              </a:lnSpc>
              <a:buNone/>
            </a:pPr>
            <a:r>
              <a:rPr lang="en-US" sz="1300" b="1" dirty="0">
                <a:solidFill>
                  <a:srgbClr val="FFFFFF"/>
                </a:solidFill>
                <a:latin typeface="Calibri" pitchFamily="34" charset="0"/>
                <a:ea typeface="Calibri" pitchFamily="34" charset="-122"/>
                <a:cs typeface="Calibri" pitchFamily="34" charset="-120"/>
              </a:rPr>
              <a:t>Quantifiable Trust</a:t>
            </a:r>
            <a:endParaRPr lang="en-US" sz="1300" dirty="0"/>
          </a:p>
        </p:txBody>
      </p:sp>
      <p:sp>
        <p:nvSpPr>
          <p:cNvPr id="24" name="Text 22"/>
          <p:cNvSpPr/>
          <p:nvPr/>
        </p:nvSpPr>
        <p:spPr>
          <a:xfrm>
            <a:off x="9418320" y="3154680"/>
            <a:ext cx="2240280" cy="1143000"/>
          </a:xfrm>
          <a:prstGeom prst="rect">
            <a:avLst/>
          </a:prstGeom>
          <a:noFill/>
          <a:ln/>
        </p:spPr>
        <p:txBody>
          <a:bodyPr wrap="square" lIns="0" tIns="0" rIns="0" bIns="0" rtlCol="0" anchor="ctr"/>
          <a:lstStyle/>
          <a:p>
            <a:pPr marL="0" indent="0">
              <a:lnSpc>
                <a:spcPct val="122000"/>
              </a:lnSpc>
              <a:buNone/>
            </a:pPr>
            <a:r>
              <a:rPr lang="en-US" sz="1030" dirty="0">
                <a:solidFill>
                  <a:srgbClr val="9AA6C9"/>
                </a:solidFill>
                <a:latin typeface="Calibri" pitchFamily="34" charset="0"/>
                <a:ea typeface="Calibri" pitchFamily="34" charset="-122"/>
                <a:cs typeface="Calibri" pitchFamily="34" charset="-120"/>
              </a:rPr>
              <a:t>Dynamic spend caps turn “trust the model” into an enforced financial control Amex risk teams already speak.</a:t>
            </a:r>
            <a:endParaRPr lang="en-US" sz="1030" dirty="0"/>
          </a:p>
        </p:txBody>
      </p:sp>
      <p:sp>
        <p:nvSpPr>
          <p:cNvPr id="25" name="Shape 23"/>
          <p:cNvSpPr/>
          <p:nvPr/>
        </p:nvSpPr>
        <p:spPr>
          <a:xfrm>
            <a:off x="548640" y="4572000"/>
            <a:ext cx="11064240" cy="1554480"/>
          </a:xfrm>
          <a:prstGeom prst="roundRect">
            <a:avLst>
              <a:gd name="adj" fmla="val 5882"/>
            </a:avLst>
          </a:prstGeom>
          <a:solidFill>
            <a:srgbClr val="0E1638"/>
          </a:solidFill>
          <a:ln w="12700">
            <a:solidFill>
              <a:srgbClr val="263569"/>
            </a:solidFill>
            <a:prstDash val="solid"/>
          </a:ln>
        </p:spPr>
      </p:sp>
      <p:sp>
        <p:nvSpPr>
          <p:cNvPr id="26" name="Text 24"/>
          <p:cNvSpPr/>
          <p:nvPr/>
        </p:nvSpPr>
        <p:spPr>
          <a:xfrm>
            <a:off x="822960" y="4754880"/>
            <a:ext cx="10424160" cy="685800"/>
          </a:xfrm>
          <a:prstGeom prst="rect">
            <a:avLst/>
          </a:prstGeom>
          <a:noFill/>
          <a:ln/>
        </p:spPr>
        <p:txBody>
          <a:bodyPr wrap="square" lIns="0" tIns="0" rIns="0" bIns="0" rtlCol="0" anchor="ctr"/>
          <a:lstStyle/>
          <a:p>
            <a:pPr marL="0" indent="0">
              <a:lnSpc>
                <a:spcPct val="125000"/>
              </a:lnSpc>
              <a:buNone/>
            </a:pPr>
            <a:r>
              <a:rPr lang="en-US" sz="1600" i="1" dirty="0">
                <a:solidFill>
                  <a:srgbClr val="FFFFFF"/>
                </a:solidFill>
                <a:latin typeface="Calibri" pitchFamily="34" charset="0"/>
                <a:ea typeface="Calibri" pitchFamily="34" charset="-122"/>
                <a:cs typeface="Calibri" pitchFamily="34" charset="-120"/>
              </a:rPr>
              <a:t>AegisAgent doesn't compete with the other challenge tracks — it's the infrastructure every one of them needs before it can go live.</a:t>
            </a:r>
            <a:endParaRPr lang="en-US" sz="1600" dirty="0"/>
          </a:p>
        </p:txBody>
      </p:sp>
      <p:sp>
        <p:nvSpPr>
          <p:cNvPr id="27" name="Text 25"/>
          <p:cNvSpPr/>
          <p:nvPr/>
        </p:nvSpPr>
        <p:spPr>
          <a:xfrm>
            <a:off x="822960" y="5486400"/>
            <a:ext cx="10424160" cy="365760"/>
          </a:xfrm>
          <a:prstGeom prst="rect">
            <a:avLst/>
          </a:prstGeom>
          <a:noFill/>
          <a:ln/>
        </p:spPr>
        <p:txBody>
          <a:bodyPr wrap="square" lIns="0" tIns="0" rIns="0" bIns="0" rtlCol="0" anchor="ctr"/>
          <a:lstStyle/>
          <a:p>
            <a:pPr marL="0" indent="0">
              <a:buNone/>
            </a:pPr>
            <a:r>
              <a:rPr lang="en-US" sz="1100" dirty="0">
                <a:solidFill>
                  <a:srgbClr val="5B8DFF"/>
                </a:solidFill>
                <a:latin typeface="Calibri" pitchFamily="34" charset="0"/>
                <a:ea typeface="Calibri" pitchFamily="34" charset="-122"/>
                <a:cs typeface="Calibri" pitchFamily="34" charset="-120"/>
              </a:rPr>
              <a:t>AegisAgent — American Express CodeStreet 2026 — The Three Stack</a:t>
            </a:r>
            <a:endParaRPr lang="en-US" sz="1100" dirty="0"/>
          </a:p>
        </p:txBody>
      </p:sp>
      <p:sp>
        <p:nvSpPr>
          <p:cNvPr id="28" name="Text 26"/>
          <p:cNvSpPr/>
          <p:nvPr/>
        </p:nvSpPr>
        <p:spPr>
          <a:xfrm>
            <a:off x="457200" y="6473952"/>
            <a:ext cx="6400800" cy="274320"/>
          </a:xfrm>
          <a:prstGeom prst="rect">
            <a:avLst/>
          </a:prstGeom>
          <a:noFill/>
          <a:ln/>
        </p:spPr>
        <p:txBody>
          <a:bodyPr wrap="square" lIns="0" tIns="0" rIns="0" bIns="0" rtlCol="0" anchor="ctr"/>
          <a:lstStyle/>
          <a:p>
            <a:pPr marL="0" indent="0" algn="l">
              <a:buNone/>
            </a:pPr>
            <a:r>
              <a:rPr lang="en-US" sz="900" dirty="0">
                <a:solidFill>
                  <a:srgbClr val="9AA6C9"/>
                </a:solidFill>
                <a:latin typeface="Calibri" pitchFamily="34" charset="0"/>
                <a:ea typeface="Calibri" pitchFamily="34" charset="-122"/>
                <a:cs typeface="Calibri" pitchFamily="34" charset="-120"/>
              </a:rPr>
              <a:t>AegisAgent — American Express CodeStreet 2026</a:t>
            </a:r>
            <a:endParaRPr lang="en-US" sz="900" dirty="0"/>
          </a:p>
        </p:txBody>
      </p:sp>
      <p:sp>
        <p:nvSpPr>
          <p:cNvPr id="29" name="Text 27"/>
          <p:cNvSpPr/>
          <p:nvPr/>
        </p:nvSpPr>
        <p:spPr>
          <a:xfrm>
            <a:off x="8991295" y="6473952"/>
            <a:ext cx="2743200" cy="274320"/>
          </a:xfrm>
          <a:prstGeom prst="rect">
            <a:avLst/>
          </a:prstGeom>
          <a:noFill/>
          <a:ln/>
        </p:spPr>
        <p:txBody>
          <a:bodyPr wrap="square" lIns="0" tIns="0" rIns="0" bIns="0" rtlCol="0" anchor="ctr"/>
          <a:lstStyle/>
          <a:p>
            <a:pPr marL="0" indent="0" algn="r">
              <a:buNone/>
            </a:pPr>
            <a:r>
              <a:rPr lang="en-US" sz="900" dirty="0">
                <a:solidFill>
                  <a:srgbClr val="9AA6C9"/>
                </a:solidFill>
                <a:latin typeface="Calibri" pitchFamily="34" charset="0"/>
                <a:ea typeface="Calibri" pitchFamily="34" charset="-122"/>
                <a:cs typeface="Calibri" pitchFamily="34" charset="-120"/>
              </a:rPr>
              <a:t>Business Value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2504</Words>
  <Application>Microsoft Office PowerPoint</Application>
  <PresentationFormat>Widescreen</PresentationFormat>
  <Paragraphs>327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Niti Kanoongo</cp:lastModifiedBy>
  <cp:revision>2</cp:revision>
  <dcterms:created xsi:type="dcterms:W3CDTF">2026-07-27T05:35:57Z</dcterms:created>
  <dcterms:modified xsi:type="dcterms:W3CDTF">2026-07-27T06:02:28Z</dcterms:modified>
</cp:coreProperties>
</file>